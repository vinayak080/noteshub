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2" r:id="rId9"/>
    <p:sldId id="263" r:id="rId10"/>
    <p:sldId id="269" r:id="rId11"/>
    <p:sldId id="264" r:id="rId12"/>
    <p:sldId id="270" r:id="rId13"/>
    <p:sldId id="271" r:id="rId14"/>
    <p:sldId id="272" r:id="rId15"/>
    <p:sldId id="265" r:id="rId16"/>
    <p:sldId id="266" r:id="rId17"/>
    <p:sldId id="267"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11EADF-B89D-451F-916C-3567639FAD1B}" type="datetimeFigureOut">
              <a:rPr lang="en-US" smtClean="0"/>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373802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11EADF-B89D-451F-916C-3567639FAD1B}" type="datetimeFigureOut">
              <a:rPr lang="en-US" smtClean="0"/>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2915675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11EADF-B89D-451F-916C-3567639FAD1B}" type="datetimeFigureOut">
              <a:rPr lang="en-US" smtClean="0"/>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944706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11EADF-B89D-451F-916C-3567639FAD1B}" type="datetimeFigureOut">
              <a:rPr lang="en-US" smtClean="0"/>
              <a:t>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1428284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11EADF-B89D-451F-916C-3567639FAD1B}" type="datetimeFigureOut">
              <a:rPr lang="en-US" smtClean="0"/>
              <a:t>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3262760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11EADF-B89D-451F-916C-3567639FAD1B}" type="datetimeFigureOut">
              <a:rPr lang="en-US" smtClean="0"/>
              <a:t>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3414968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11EADF-B89D-451F-916C-3567639FAD1B}" type="datetimeFigureOut">
              <a:rPr lang="en-US" smtClean="0"/>
              <a:t>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296061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11EADF-B89D-451F-916C-3567639FAD1B}" type="datetimeFigureOut">
              <a:rPr lang="en-US" smtClean="0"/>
              <a:t>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1052304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11EADF-B89D-451F-916C-3567639FAD1B}" type="datetimeFigureOut">
              <a:rPr lang="en-US" smtClean="0"/>
              <a:t>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3696601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11EADF-B89D-451F-916C-3567639FAD1B}" type="datetimeFigureOut">
              <a:rPr lang="en-US" smtClean="0"/>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1707522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11EADF-B89D-451F-916C-3567639FAD1B}" type="datetimeFigureOut">
              <a:rPr lang="en-US" smtClean="0"/>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62E542-01F7-4997-B83E-B61290F0E0F6}" type="slidenum">
              <a:rPr lang="en-US" smtClean="0"/>
              <a:t>‹#›</a:t>
            </a:fld>
            <a:endParaRPr lang="en-US"/>
          </a:p>
        </p:txBody>
      </p:sp>
    </p:spTree>
    <p:extLst>
      <p:ext uri="{BB962C8B-B14F-4D97-AF65-F5344CB8AC3E}">
        <p14:creationId xmlns:p14="http://schemas.microsoft.com/office/powerpoint/2010/main" val="1603563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1EADF-B89D-451F-916C-3567639FAD1B}" type="datetimeFigureOut">
              <a:rPr lang="en-US" smtClean="0"/>
              <a:t>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2E542-01F7-4997-B83E-B61290F0E0F6}" type="slidenum">
              <a:rPr lang="en-US" smtClean="0"/>
              <a:t>‹#›</a:t>
            </a:fld>
            <a:endParaRPr lang="en-US"/>
          </a:p>
        </p:txBody>
      </p:sp>
    </p:spTree>
    <p:extLst>
      <p:ext uri="{BB962C8B-B14F-4D97-AF65-F5344CB8AC3E}">
        <p14:creationId xmlns:p14="http://schemas.microsoft.com/office/powerpoint/2010/main" val="344231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javatpoint.com/java-linkedlist" TargetMode="External"/><Relationship Id="rId2" Type="http://schemas.openxmlformats.org/officeDocument/2006/relationships/hyperlink" Target="https://www.javatpoint.com/java-arraylist" TargetMode="External"/><Relationship Id="rId1" Type="http://schemas.openxmlformats.org/officeDocument/2006/relationships/slideLayout" Target="../slideLayouts/slideLayout2.xml"/><Relationship Id="rId4" Type="http://schemas.openxmlformats.org/officeDocument/2006/relationships/hyperlink" Target="https://www.javatpoint.com/java-priorityqueu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09600"/>
            <a:ext cx="7772400" cy="1470025"/>
          </a:xfrm>
        </p:spPr>
        <p:txBody>
          <a:bodyPr>
            <a:normAutofit/>
          </a:bodyPr>
          <a:lstStyle/>
          <a:p>
            <a:r>
              <a:rPr lang="en-US" sz="4800" b="1" dirty="0" smtClean="0"/>
              <a:t>Unit-2</a:t>
            </a:r>
            <a:endParaRPr lang="en-US" sz="4800" b="1" dirty="0"/>
          </a:p>
        </p:txBody>
      </p:sp>
      <p:sp>
        <p:nvSpPr>
          <p:cNvPr id="3" name="Subtitle 2"/>
          <p:cNvSpPr>
            <a:spLocks noGrp="1"/>
          </p:cNvSpPr>
          <p:nvPr>
            <p:ph type="subTitle" idx="1"/>
          </p:nvPr>
        </p:nvSpPr>
        <p:spPr>
          <a:xfrm>
            <a:off x="533400" y="2438400"/>
            <a:ext cx="8153400" cy="1752600"/>
          </a:xfrm>
        </p:spPr>
        <p:txBody>
          <a:bodyPr>
            <a:normAutofit/>
          </a:bodyPr>
          <a:lstStyle/>
          <a:p>
            <a:r>
              <a:rPr lang="en-US" sz="5400" b="1" dirty="0" smtClean="0">
                <a:solidFill>
                  <a:schemeClr val="tx1"/>
                </a:solidFill>
                <a:latin typeface="Times New Roman" pitchFamily="18" charset="0"/>
                <a:cs typeface="Times New Roman" pitchFamily="18" charset="0"/>
              </a:rPr>
              <a:t>Advanced Java Concepts </a:t>
            </a:r>
            <a:endParaRPr lang="en-US"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79847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latin typeface="Times New Roman" pitchFamily="18" charset="0"/>
                <a:cs typeface="Times New Roman" pitchFamily="18" charset="0"/>
              </a:rPr>
              <a:t>1 Introduction to Collection Framework</a:t>
            </a: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066800"/>
            <a:ext cx="8229600" cy="5059363"/>
          </a:xfrm>
        </p:spPr>
        <p:txBody>
          <a:bodyPr>
            <a:normAutofit/>
          </a:bodyPr>
          <a:lstStyle/>
          <a:p>
            <a:r>
              <a:rPr lang="en-US" sz="2800" dirty="0">
                <a:latin typeface="Times New Roman" pitchFamily="18" charset="0"/>
                <a:cs typeface="Times New Roman" pitchFamily="18" charset="0"/>
              </a:rPr>
              <a:t>The </a:t>
            </a:r>
            <a:r>
              <a:rPr lang="en-US" sz="2800" b="1" dirty="0">
                <a:latin typeface="Times New Roman" pitchFamily="18" charset="0"/>
                <a:cs typeface="Times New Roman" pitchFamily="18" charset="0"/>
              </a:rPr>
              <a:t>Collection in Java</a:t>
            </a:r>
            <a:r>
              <a:rPr lang="en-US" sz="2800" dirty="0">
                <a:latin typeface="Times New Roman" pitchFamily="18" charset="0"/>
                <a:cs typeface="Times New Roman" pitchFamily="18" charset="0"/>
              </a:rPr>
              <a:t> is a framework that provides an architecture to store and manipulate the group of objects.</a:t>
            </a:r>
          </a:p>
          <a:p>
            <a:r>
              <a:rPr lang="en-US" sz="2800" dirty="0">
                <a:latin typeface="Times New Roman" pitchFamily="18" charset="0"/>
                <a:cs typeface="Times New Roman" pitchFamily="18" charset="0"/>
              </a:rPr>
              <a:t>Java Collections can achieve all the operations that you perform on a data such as searching, sorting, insertion, manipulation, and deletion.</a:t>
            </a:r>
          </a:p>
          <a:p>
            <a:r>
              <a:rPr lang="en-US" sz="2800" dirty="0">
                <a:latin typeface="Times New Roman" pitchFamily="18" charset="0"/>
                <a:cs typeface="Times New Roman" pitchFamily="18" charset="0"/>
              </a:rPr>
              <a:t>Java Collection means a single unit of objects. Java Collection framework provides many interfaces (Set, List, Queue, </a:t>
            </a:r>
            <a:r>
              <a:rPr lang="en-US" sz="2800" dirty="0" err="1">
                <a:latin typeface="Times New Roman" pitchFamily="18" charset="0"/>
                <a:cs typeface="Times New Roman" pitchFamily="18" charset="0"/>
              </a:rPr>
              <a:t>Deque</a:t>
            </a:r>
            <a:r>
              <a:rPr lang="en-US" sz="2800" dirty="0">
                <a:latin typeface="Times New Roman" pitchFamily="18" charset="0"/>
                <a:cs typeface="Times New Roman" pitchFamily="18" charset="0"/>
              </a:rPr>
              <a:t>) and classes (</a:t>
            </a:r>
            <a:r>
              <a:rPr lang="en-US" sz="2800" dirty="0" err="1">
                <a:latin typeface="Times New Roman" pitchFamily="18" charset="0"/>
                <a:cs typeface="Times New Roman" pitchFamily="18" charset="0"/>
                <a:hlinkClick r:id="rId2"/>
              </a:rPr>
              <a:t>ArrayList</a:t>
            </a:r>
            <a:r>
              <a:rPr lang="en-US" sz="2800" dirty="0">
                <a:latin typeface="Times New Roman" pitchFamily="18" charset="0"/>
                <a:cs typeface="Times New Roman" pitchFamily="18" charset="0"/>
              </a:rPr>
              <a:t>, Vector, </a:t>
            </a:r>
            <a:r>
              <a:rPr lang="en-US" sz="2800" dirty="0" err="1">
                <a:latin typeface="Times New Roman" pitchFamily="18" charset="0"/>
                <a:cs typeface="Times New Roman" pitchFamily="18" charset="0"/>
                <a:hlinkClick r:id="rId3"/>
              </a:rPr>
              <a:t>LinkedList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hlinkClick r:id="rId4"/>
              </a:rPr>
              <a:t>PriorityQueue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HashSet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LinkedHashSet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TreeSet</a:t>
            </a:r>
            <a:r>
              <a:rPr lang="en-US" sz="2800" dirty="0">
                <a:latin typeface="Times New Roman" pitchFamily="18" charset="0"/>
                <a:cs typeface="Times New Roman" pitchFamily="18" charset="0"/>
              </a:rPr>
              <a:t>).</a:t>
            </a:r>
          </a:p>
          <a:p>
            <a:endParaRPr lang="en-US" sz="3600" b="1" dirty="0">
              <a:latin typeface="Times New Roman" pitchFamily="18" charset="0"/>
              <a:cs typeface="Times New Roman" pitchFamily="18" charset="0"/>
            </a:endParaRPr>
          </a:p>
        </p:txBody>
      </p:sp>
    </p:spTree>
    <p:extLst>
      <p:ext uri="{BB962C8B-B14F-4D97-AF65-F5344CB8AC3E}">
        <p14:creationId xmlns:p14="http://schemas.microsoft.com/office/powerpoint/2010/main" val="763647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What </a:t>
            </a:r>
            <a:r>
              <a:rPr lang="en-US" dirty="0"/>
              <a:t>is Collection in Java?</a:t>
            </a:r>
            <a:br>
              <a:rPr lang="en-US" dirty="0"/>
            </a:b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Collection represents a single unit of objects, i.e., a group.</a:t>
            </a:r>
          </a:p>
          <a:p>
            <a:endParaRPr lang="en-US" dirty="0"/>
          </a:p>
          <a:p>
            <a:r>
              <a:rPr lang="en-US" dirty="0"/>
              <a:t>What is a framework in Java?</a:t>
            </a:r>
          </a:p>
          <a:p>
            <a:r>
              <a:rPr lang="en-US" dirty="0"/>
              <a:t>A framework provides a ready-made structure of classes and interfaces for building software applications efficiently. It simplifies adding new features by offering reusable components that perform similar tasks, eliminating the need to create a framework from scratch for each new project.</a:t>
            </a:r>
          </a:p>
          <a:p>
            <a:r>
              <a:rPr lang="en-US" dirty="0"/>
              <a:t>It provides readymade architecture.</a:t>
            </a:r>
          </a:p>
          <a:p>
            <a:r>
              <a:rPr lang="en-US" dirty="0"/>
              <a:t>It represents a set of classes and interfaces.</a:t>
            </a:r>
          </a:p>
          <a:p>
            <a:r>
              <a:rPr lang="en-US" dirty="0"/>
              <a:t>It is optional.</a:t>
            </a:r>
          </a:p>
          <a:p>
            <a:endParaRPr lang="en-US" dirty="0"/>
          </a:p>
        </p:txBody>
      </p:sp>
    </p:spTree>
    <p:extLst>
      <p:ext uri="{BB962C8B-B14F-4D97-AF65-F5344CB8AC3E}">
        <p14:creationId xmlns:p14="http://schemas.microsoft.com/office/powerpoint/2010/main" val="3113677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Collection framework</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The </a:t>
            </a:r>
            <a:r>
              <a:rPr lang="en-US" dirty="0"/>
              <a:t>Collection framework represents a unified architecture for storing and manipulating a group of objects. It enhances code efficiency and readability by offering various data structures, including arrays, linked lists, trees, and hash tables, tailored to different programming needs. It has:</a:t>
            </a:r>
          </a:p>
          <a:p>
            <a:r>
              <a:rPr lang="en-US" dirty="0"/>
              <a:t>Interfaces and its implementations, i.e., classes</a:t>
            </a:r>
          </a:p>
          <a:p>
            <a:r>
              <a:rPr lang="en-US" dirty="0"/>
              <a:t>Algorithm</a:t>
            </a:r>
          </a:p>
          <a:p>
            <a:endParaRPr lang="en-US" dirty="0"/>
          </a:p>
        </p:txBody>
      </p:sp>
    </p:spTree>
    <p:extLst>
      <p:ext uri="{BB962C8B-B14F-4D97-AF65-F5344CB8AC3E}">
        <p14:creationId xmlns:p14="http://schemas.microsoft.com/office/powerpoint/2010/main" val="3661689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Collection Framework?</a:t>
            </a:r>
            <a:br>
              <a:rPr lang="en-US" b="1" dirty="0" smtClean="0"/>
            </a:br>
            <a:endParaRPr lang="en-US" b="1" dirty="0"/>
          </a:p>
        </p:txBody>
      </p:sp>
      <p:sp>
        <p:nvSpPr>
          <p:cNvPr id="3" name="Content Placeholder 2"/>
          <p:cNvSpPr>
            <a:spLocks noGrp="1"/>
          </p:cNvSpPr>
          <p:nvPr>
            <p:ph idx="1"/>
          </p:nvPr>
        </p:nvSpPr>
        <p:spPr/>
        <p:txBody>
          <a:bodyPr/>
          <a:lstStyle/>
          <a:p>
            <a:r>
              <a:rPr lang="en-US" dirty="0" smtClean="0"/>
              <a:t>Before </a:t>
            </a:r>
            <a:r>
              <a:rPr lang="en-US" dirty="0"/>
              <a:t>the Collection Framework was introduced in JDK 1.2, Java's approach to collections was using Arrays, Vectors, and Hash tables lacked a common interface. This meant each type of collection had its own set of methods, syntax, and constructors, with no standardization or correlation between them.</a:t>
            </a:r>
          </a:p>
          <a:p>
            <a:endParaRPr lang="en-US" dirty="0"/>
          </a:p>
        </p:txBody>
      </p:sp>
    </p:spTree>
    <p:extLst>
      <p:ext uri="{BB962C8B-B14F-4D97-AF65-F5344CB8AC3E}">
        <p14:creationId xmlns:p14="http://schemas.microsoft.com/office/powerpoint/2010/main" val="1736540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1143000"/>
          </a:xfrm>
        </p:spPr>
        <p:txBody>
          <a:bodyPr>
            <a:normAutofit fontScale="90000"/>
          </a:bodyPr>
          <a:lstStyle/>
          <a:p>
            <a:r>
              <a:rPr lang="en-US" dirty="0" smtClean="0"/>
              <a:t>Advantages of the Java Collection Framework</a:t>
            </a:r>
            <a:br>
              <a:rPr lang="en-US" dirty="0" smtClean="0"/>
            </a:br>
            <a:endParaRPr lang="en-US" dirty="0"/>
          </a:p>
        </p:txBody>
      </p:sp>
      <p:sp>
        <p:nvSpPr>
          <p:cNvPr id="3" name="Content Placeholder 2"/>
          <p:cNvSpPr>
            <a:spLocks noGrp="1"/>
          </p:cNvSpPr>
          <p:nvPr>
            <p:ph idx="1"/>
          </p:nvPr>
        </p:nvSpPr>
        <p:spPr>
          <a:xfrm>
            <a:off x="304800" y="1600200"/>
            <a:ext cx="8534400" cy="5943600"/>
          </a:xfrm>
        </p:spPr>
        <p:txBody>
          <a:bodyPr>
            <a:normAutofit fontScale="32500" lnSpcReduction="20000"/>
          </a:bodyPr>
          <a:lstStyle/>
          <a:p>
            <a:r>
              <a:rPr lang="en-US" sz="4900" dirty="0" smtClean="0"/>
              <a:t>The Java Collections Framework offers significant advantages that enhance development practices, code quality, and application performance:</a:t>
            </a:r>
          </a:p>
          <a:p>
            <a:r>
              <a:rPr lang="en-US" sz="4900" b="1" dirty="0" smtClean="0"/>
              <a:t>Reusability</a:t>
            </a:r>
            <a:r>
              <a:rPr lang="en-US" sz="4900" b="1" dirty="0"/>
              <a:t>:</a:t>
            </a:r>
            <a:r>
              <a:rPr lang="en-US" sz="4900" dirty="0"/>
              <a:t> The framework provides a comprehensive set of common classes and utility methods applicable across various types of collections. This feature promotes code reusability, sparing developers the need to write duplicate code for common operations.</a:t>
            </a:r>
          </a:p>
          <a:p>
            <a:r>
              <a:rPr lang="en-US" sz="4900" b="1" dirty="0"/>
              <a:t>Quality:</a:t>
            </a:r>
            <a:r>
              <a:rPr lang="en-US" sz="4900" dirty="0"/>
              <a:t> Leveraging the Java Collections Framework elevates the quality of programs. The components within the framework have been extensively tested and are widely used by a vast community of developers, ensuring reliability and stability in your applications.</a:t>
            </a:r>
          </a:p>
          <a:p>
            <a:r>
              <a:rPr lang="en-US" sz="4900" b="1" dirty="0"/>
              <a:t>Speed:</a:t>
            </a:r>
            <a:r>
              <a:rPr lang="en-US" sz="4900" dirty="0"/>
              <a:t> Developers often report an increase in development speed when using the Collections Framework. It allows them to concentrate on the core business logic of their applications rather than on implementing generic collection functionalities, thus speeding up the development process.</a:t>
            </a:r>
          </a:p>
          <a:p>
            <a:r>
              <a:rPr lang="en-US" sz="4900" b="1" dirty="0"/>
              <a:t>Maintenance:</a:t>
            </a:r>
            <a:r>
              <a:rPr lang="en-US" sz="4900" dirty="0"/>
              <a:t> The open-source nature of the Java Collections Framework, coupled with readily available API documentation, facilitates easier code maintenance. Code written using the framework can be easily understood and taken over by other developers, ensuring continuity and ease of maintenance.</a:t>
            </a:r>
          </a:p>
          <a:p>
            <a:r>
              <a:rPr lang="en-US" sz="4900" b="1" dirty="0"/>
              <a:t>Reduces Effort to Design New APIs:</a:t>
            </a:r>
            <a:r>
              <a:rPr lang="en-US" sz="4900" dirty="0"/>
              <a:t> An additional benefit is the reduced necessity for API designers and implementers to create new collection mechanisms for each new API. They can instead rely on the standard collection interfaces provided by the framework, streamlining the API development process and ensuring consistency across Java applications.</a:t>
            </a:r>
          </a:p>
          <a:p>
            <a:endParaRPr lang="en-US" dirty="0"/>
          </a:p>
        </p:txBody>
      </p:sp>
    </p:spTree>
    <p:extLst>
      <p:ext uri="{BB962C8B-B14F-4D97-AF65-F5344CB8AC3E}">
        <p14:creationId xmlns:p14="http://schemas.microsoft.com/office/powerpoint/2010/main" val="542920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304800"/>
            <a:ext cx="8306888"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969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lgn="l">
              <a:buFont typeface="Arial" pitchFamily="34" charset="0"/>
              <a:buChar char="•"/>
            </a:pPr>
            <a:r>
              <a:rPr lang="en-US" b="1" dirty="0" smtClean="0">
                <a:latin typeface="Times New Roman" pitchFamily="18" charset="0"/>
                <a:cs typeface="Times New Roman" pitchFamily="18" charset="0"/>
              </a:rPr>
              <a:t>List Interface</a:t>
            </a:r>
            <a:br>
              <a:rPr lang="en-US" b="1" dirty="0" smtClean="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458200" cy="5059363"/>
          </a:xfrm>
        </p:spPr>
        <p:txBody>
          <a:bodyPr>
            <a:normAutofit fontScale="77500" lnSpcReduction="20000"/>
          </a:bodyPr>
          <a:lstStyle/>
          <a:p>
            <a:r>
              <a:rPr lang="en-US" dirty="0" smtClean="0">
                <a:latin typeface="Times New Roman" pitchFamily="18" charset="0"/>
                <a:cs typeface="Times New Roman" pitchFamily="18" charset="0"/>
              </a:rPr>
              <a:t>List </a:t>
            </a:r>
            <a:r>
              <a:rPr lang="en-US" dirty="0">
                <a:latin typeface="Times New Roman" pitchFamily="18" charset="0"/>
                <a:cs typeface="Times New Roman" pitchFamily="18" charset="0"/>
              </a:rPr>
              <a:t>interface is the child interface of Collection interface. It inhibits a list type data structure in which we can store the ordered collection of objects. It can have duplicate values.</a:t>
            </a:r>
          </a:p>
          <a:p>
            <a:r>
              <a:rPr lang="en-US" dirty="0">
                <a:latin typeface="Times New Roman" pitchFamily="18" charset="0"/>
                <a:cs typeface="Times New Roman" pitchFamily="18" charset="0"/>
              </a:rPr>
              <a:t>List interface is implemented by the classes </a:t>
            </a:r>
            <a:r>
              <a:rPr lang="en-US" dirty="0" err="1">
                <a:latin typeface="Times New Roman" pitchFamily="18" charset="0"/>
                <a:cs typeface="Times New Roman" pitchFamily="18" charset="0"/>
              </a:rPr>
              <a:t>ArrayList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LinkedList</a:t>
            </a:r>
            <a:r>
              <a:rPr lang="en-US" dirty="0">
                <a:latin typeface="Times New Roman" pitchFamily="18" charset="0"/>
                <a:cs typeface="Times New Roman" pitchFamily="18" charset="0"/>
              </a:rPr>
              <a:t>, Vector, and Stack.</a:t>
            </a:r>
          </a:p>
          <a:p>
            <a:r>
              <a:rPr lang="en-US" dirty="0" smtClean="0"/>
              <a:t/>
            </a:r>
            <a:br>
              <a:rPr lang="en-US" dirty="0" smtClean="0"/>
            </a:br>
            <a:r>
              <a:rPr lang="en-US" dirty="0">
                <a:latin typeface="Times New Roman" pitchFamily="18" charset="0"/>
                <a:cs typeface="Times New Roman" pitchFamily="18" charset="0"/>
              </a:rPr>
              <a:t>To instantiate the List interface, we must use:</a:t>
            </a:r>
          </a:p>
          <a:p>
            <a:r>
              <a:rPr lang="en-US" dirty="0">
                <a:latin typeface="Times New Roman" pitchFamily="18" charset="0"/>
                <a:cs typeface="Times New Roman" pitchFamily="18" charset="0"/>
              </a:rPr>
              <a:t>List &lt;data-type&gt; list1= </a:t>
            </a:r>
            <a:r>
              <a:rPr lang="en-US" b="1" dirty="0">
                <a:latin typeface="Times New Roman" pitchFamily="18" charset="0"/>
                <a:cs typeface="Times New Roman" pitchFamily="18" charset="0"/>
              </a:rPr>
              <a:t>new</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ArrayList</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List &lt;data-type&gt; list2 = </a:t>
            </a:r>
            <a:r>
              <a:rPr lang="en-US" b="1" dirty="0">
                <a:latin typeface="Times New Roman" pitchFamily="18" charset="0"/>
                <a:cs typeface="Times New Roman" pitchFamily="18" charset="0"/>
              </a:rPr>
              <a:t>new</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LinkedList</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List &lt;data-type&gt; list3 = </a:t>
            </a:r>
            <a:r>
              <a:rPr lang="en-US" b="1" dirty="0">
                <a:latin typeface="Times New Roman" pitchFamily="18" charset="0"/>
                <a:cs typeface="Times New Roman" pitchFamily="18" charset="0"/>
              </a:rPr>
              <a:t>new</a:t>
            </a:r>
            <a:r>
              <a:rPr lang="en-US" dirty="0">
                <a:latin typeface="Times New Roman" pitchFamily="18" charset="0"/>
                <a:cs typeface="Times New Roman" pitchFamily="18" charset="0"/>
              </a:rPr>
              <a:t> Vector();  </a:t>
            </a:r>
          </a:p>
          <a:p>
            <a:r>
              <a:rPr lang="en-US" dirty="0">
                <a:latin typeface="Times New Roman" pitchFamily="18" charset="0"/>
                <a:cs typeface="Times New Roman" pitchFamily="18" charset="0"/>
              </a:rPr>
              <a:t>List &lt;data-type&gt; list4 = </a:t>
            </a:r>
            <a:r>
              <a:rPr lang="en-US" b="1" dirty="0">
                <a:latin typeface="Times New Roman" pitchFamily="18" charset="0"/>
                <a:cs typeface="Times New Roman" pitchFamily="18" charset="0"/>
              </a:rPr>
              <a:t>new</a:t>
            </a:r>
            <a:r>
              <a:rPr lang="en-US" dirty="0">
                <a:latin typeface="Times New Roman" pitchFamily="18" charset="0"/>
                <a:cs typeface="Times New Roman" pitchFamily="18" charset="0"/>
              </a:rPr>
              <a:t> Stack();  </a:t>
            </a:r>
          </a:p>
          <a:p>
            <a:r>
              <a:rPr lang="en-US" dirty="0">
                <a:latin typeface="Times New Roman" pitchFamily="18" charset="0"/>
                <a:cs typeface="Times New Roman" pitchFamily="18" charset="0"/>
              </a:rPr>
              <a:t>There are various methods in List interface that can be used to insert, delete, and access the elements from the list.</a:t>
            </a:r>
          </a:p>
          <a:p>
            <a:r>
              <a:rPr lang="en-US" dirty="0">
                <a:latin typeface="Times New Roman" pitchFamily="18" charset="0"/>
                <a:cs typeface="Times New Roman" pitchFamily="18" charset="0"/>
              </a:rPr>
              <a:t>The classes that implement the List interface are given below.</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56598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43000"/>
          </a:xfrm>
        </p:spPr>
        <p:txBody>
          <a:bodyPr>
            <a:normAutofit fontScale="90000"/>
          </a:bodyPr>
          <a:lstStyle/>
          <a:p>
            <a:pPr marL="571500" indent="-571500" algn="l">
              <a:buFont typeface="Arial" pitchFamily="34" charset="0"/>
              <a:buChar char="•"/>
            </a:pPr>
            <a:r>
              <a:rPr lang="en-US" sz="4000" b="1" dirty="0" err="1" smtClean="0">
                <a:latin typeface="Times New Roman" pitchFamily="18" charset="0"/>
                <a:cs typeface="Times New Roman" pitchFamily="18" charset="0"/>
              </a:rPr>
              <a:t>ArrayList</a:t>
            </a:r>
            <a:r>
              <a:rPr lang="en-US" dirty="0" smtClean="0"/>
              <a:t/>
            </a:r>
            <a:br>
              <a:rPr lang="en-US" dirty="0" smtClean="0"/>
            </a:br>
            <a:endParaRPr lang="en-US" dirty="0"/>
          </a:p>
        </p:txBody>
      </p:sp>
      <p:sp>
        <p:nvSpPr>
          <p:cNvPr id="3" name="Content Placeholder 2"/>
          <p:cNvSpPr>
            <a:spLocks noGrp="1"/>
          </p:cNvSpPr>
          <p:nvPr>
            <p:ph idx="1"/>
          </p:nvPr>
        </p:nvSpPr>
        <p:spPr>
          <a:xfrm>
            <a:off x="0" y="685800"/>
            <a:ext cx="9144000" cy="6400800"/>
          </a:xfrm>
        </p:spPr>
        <p:txBody>
          <a:bodyPr>
            <a:normAutofit fontScale="55000" lnSpcReduction="20000"/>
          </a:bodyPr>
          <a:lstStyle/>
          <a:p>
            <a:r>
              <a:rPr lang="en-US" sz="2800" dirty="0" smtClean="0">
                <a:latin typeface="Times New Roman" pitchFamily="18" charset="0"/>
                <a:cs typeface="Times New Roman" pitchFamily="18" charset="0"/>
              </a:rPr>
              <a:t>The </a:t>
            </a:r>
            <a:r>
              <a:rPr lang="en-US" sz="2800" dirty="0" err="1">
                <a:latin typeface="Times New Roman" pitchFamily="18" charset="0"/>
                <a:cs typeface="Times New Roman" pitchFamily="18" charset="0"/>
              </a:rPr>
              <a:t>ArrayList</a:t>
            </a:r>
            <a:r>
              <a:rPr lang="en-US" sz="2800" dirty="0">
                <a:latin typeface="Times New Roman" pitchFamily="18" charset="0"/>
                <a:cs typeface="Times New Roman" pitchFamily="18" charset="0"/>
              </a:rPr>
              <a:t> class implements the List interface. It uses a dynamic array to store the duplicate element of different data types. The </a:t>
            </a:r>
            <a:r>
              <a:rPr lang="en-US" sz="2800" dirty="0" err="1">
                <a:latin typeface="Times New Roman" pitchFamily="18" charset="0"/>
                <a:cs typeface="Times New Roman" pitchFamily="18" charset="0"/>
              </a:rPr>
              <a:t>ArrayList</a:t>
            </a:r>
            <a:r>
              <a:rPr lang="en-US" sz="2800" dirty="0">
                <a:latin typeface="Times New Roman" pitchFamily="18" charset="0"/>
                <a:cs typeface="Times New Roman" pitchFamily="18" charset="0"/>
              </a:rPr>
              <a:t> class maintains the insertion order and is non-synchronized. The elements stored in the </a:t>
            </a:r>
            <a:r>
              <a:rPr lang="en-US" sz="2800" dirty="0" err="1">
                <a:latin typeface="Times New Roman" pitchFamily="18" charset="0"/>
                <a:cs typeface="Times New Roman" pitchFamily="18" charset="0"/>
              </a:rPr>
              <a:t>ArrayList</a:t>
            </a:r>
            <a:r>
              <a:rPr lang="en-US" sz="2800" dirty="0">
                <a:latin typeface="Times New Roman" pitchFamily="18" charset="0"/>
                <a:cs typeface="Times New Roman" pitchFamily="18" charset="0"/>
              </a:rPr>
              <a:t> class can be randomly accessed. Consider the following example.</a:t>
            </a:r>
          </a:p>
          <a:p>
            <a:r>
              <a:rPr lang="en-US" sz="2800" b="1" dirty="0">
                <a:latin typeface="Times New Roman" pitchFamily="18" charset="0"/>
                <a:cs typeface="Times New Roman" pitchFamily="18" charset="0"/>
              </a:rPr>
              <a:t>Filename:</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TestJavaCollection1.java</a:t>
            </a:r>
          </a:p>
          <a:p>
            <a:endParaRPr lang="en-US" sz="2800" dirty="0">
              <a:latin typeface="Times New Roman" pitchFamily="18" charset="0"/>
              <a:cs typeface="Times New Roman" pitchFamily="18" charset="0"/>
            </a:endParaRPr>
          </a:p>
          <a:p>
            <a:r>
              <a:rPr lang="en-US" dirty="0"/>
              <a:t>import </a:t>
            </a:r>
            <a:r>
              <a:rPr lang="en-US" dirty="0" err="1"/>
              <a:t>java.util</a:t>
            </a:r>
            <a:r>
              <a:rPr lang="en-US" dirty="0"/>
              <a:t>.*;  </a:t>
            </a:r>
          </a:p>
          <a:p>
            <a:r>
              <a:rPr lang="en-US" b="1" dirty="0"/>
              <a:t>class</a:t>
            </a:r>
            <a:r>
              <a:rPr lang="en-US" dirty="0"/>
              <a:t> TestJavaCollection1{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err="1"/>
              <a:t>ArrayList</a:t>
            </a:r>
            <a:r>
              <a:rPr lang="en-US" dirty="0"/>
              <a:t>&lt;String&gt; list=</a:t>
            </a:r>
            <a:r>
              <a:rPr lang="en-US" b="1" dirty="0"/>
              <a:t>new</a:t>
            </a:r>
            <a:r>
              <a:rPr lang="en-US" dirty="0"/>
              <a:t> </a:t>
            </a:r>
            <a:r>
              <a:rPr lang="en-US" dirty="0" err="1"/>
              <a:t>ArrayList</a:t>
            </a:r>
            <a:r>
              <a:rPr lang="en-US" dirty="0"/>
              <a:t>&lt;String&gt;();//Creating </a:t>
            </a:r>
            <a:r>
              <a:rPr lang="en-US" dirty="0" err="1"/>
              <a:t>arraylist</a:t>
            </a:r>
            <a:r>
              <a:rPr lang="en-US" dirty="0"/>
              <a:t>  </a:t>
            </a:r>
          </a:p>
          <a:p>
            <a:r>
              <a:rPr lang="en-US" dirty="0" err="1"/>
              <a:t>list.add</a:t>
            </a:r>
            <a:r>
              <a:rPr lang="en-US" dirty="0"/>
              <a:t>("Ravi");//Adding object in </a:t>
            </a:r>
            <a:r>
              <a:rPr lang="en-US" dirty="0" err="1"/>
              <a:t>arraylist</a:t>
            </a:r>
            <a:r>
              <a:rPr lang="en-US" dirty="0"/>
              <a:t>  </a:t>
            </a:r>
          </a:p>
          <a:p>
            <a:r>
              <a:rPr lang="en-US" dirty="0" err="1"/>
              <a:t>list.add</a:t>
            </a:r>
            <a:r>
              <a:rPr lang="en-US" dirty="0"/>
              <a:t>("Vijay");  </a:t>
            </a:r>
          </a:p>
          <a:p>
            <a:r>
              <a:rPr lang="en-US" dirty="0" err="1"/>
              <a:t>list.add</a:t>
            </a:r>
            <a:r>
              <a:rPr lang="en-US" dirty="0"/>
              <a:t>("Ravi");  </a:t>
            </a:r>
          </a:p>
          <a:p>
            <a:r>
              <a:rPr lang="en-US" dirty="0" err="1"/>
              <a:t>list.add</a:t>
            </a:r>
            <a:r>
              <a:rPr lang="en-US" dirty="0"/>
              <a:t>("Ajay");  </a:t>
            </a:r>
          </a:p>
          <a:p>
            <a:r>
              <a:rPr lang="en-US" dirty="0"/>
              <a:t>//Traversing list through Iterator  </a:t>
            </a:r>
          </a:p>
          <a:p>
            <a:r>
              <a:rPr lang="en-US" dirty="0"/>
              <a:t>Iterator </a:t>
            </a:r>
            <a:r>
              <a:rPr lang="en-US" dirty="0" err="1"/>
              <a:t>itr</a:t>
            </a:r>
            <a:r>
              <a:rPr lang="en-US" dirty="0"/>
              <a:t>=</a:t>
            </a:r>
            <a:r>
              <a:rPr lang="en-US" dirty="0" err="1"/>
              <a:t>list.iterator</a:t>
            </a:r>
            <a:r>
              <a:rPr lang="en-US" dirty="0"/>
              <a:t>();  </a:t>
            </a:r>
          </a:p>
          <a:p>
            <a:r>
              <a:rPr lang="en-US" b="1" dirty="0"/>
              <a:t>while</a:t>
            </a:r>
            <a:r>
              <a:rPr lang="en-US" dirty="0"/>
              <a:t>(</a:t>
            </a:r>
            <a:r>
              <a:rPr lang="en-US" dirty="0" err="1"/>
              <a:t>itr.hasNext</a:t>
            </a:r>
            <a:r>
              <a:rPr lang="en-US" dirty="0"/>
              <a:t>()){  </a:t>
            </a:r>
          </a:p>
          <a:p>
            <a:r>
              <a:rPr lang="en-US" dirty="0" err="1"/>
              <a:t>System.out.println</a:t>
            </a:r>
            <a:r>
              <a:rPr lang="en-US" dirty="0"/>
              <a:t>(</a:t>
            </a:r>
            <a:r>
              <a:rPr lang="en-US" dirty="0" err="1"/>
              <a:t>itr.next</a:t>
            </a:r>
            <a:r>
              <a:rPr lang="en-US" dirty="0"/>
              <a:t>());  </a:t>
            </a:r>
          </a:p>
          <a:p>
            <a:r>
              <a:rPr lang="en-US" dirty="0"/>
              <a:t>}  </a:t>
            </a:r>
          </a:p>
          <a:p>
            <a:r>
              <a:rPr lang="en-US" dirty="0"/>
              <a:t>}  </a:t>
            </a:r>
          </a:p>
          <a:p>
            <a:r>
              <a:rPr lang="en-US" dirty="0"/>
              <a:t>}  </a:t>
            </a:r>
          </a:p>
          <a:p>
            <a:r>
              <a:rPr lang="en-US" b="1" dirty="0"/>
              <a:t>Output:</a:t>
            </a:r>
            <a:endParaRPr lang="en-US" dirty="0"/>
          </a:p>
          <a:p>
            <a:r>
              <a:rPr lang="en-US" dirty="0"/>
              <a:t>Ravi Vijay Ravi Ajay</a:t>
            </a:r>
          </a:p>
          <a:p>
            <a:endParaRPr lang="en-US" dirty="0"/>
          </a:p>
        </p:txBody>
      </p:sp>
    </p:spTree>
    <p:extLst>
      <p:ext uri="{BB962C8B-B14F-4D97-AF65-F5344CB8AC3E}">
        <p14:creationId xmlns:p14="http://schemas.microsoft.com/office/powerpoint/2010/main" val="3589911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927"/>
            <a:ext cx="8229600" cy="1143000"/>
          </a:xfrm>
        </p:spPr>
        <p:txBody>
          <a:bodyPr>
            <a:normAutofit fontScale="90000"/>
          </a:bodyPr>
          <a:lstStyle/>
          <a:p>
            <a:pPr marL="571500" indent="-571500" algn="l">
              <a:buFont typeface="Arial" pitchFamily="34" charset="0"/>
              <a:buChar char="•"/>
            </a:pPr>
            <a:r>
              <a:rPr lang="en-US" sz="4000" b="1" dirty="0" err="1">
                <a:latin typeface="Times New Roman" pitchFamily="18" charset="0"/>
                <a:cs typeface="Times New Roman" pitchFamily="18" charset="0"/>
              </a:rPr>
              <a:t>LinkedList</a:t>
            </a:r>
            <a:r>
              <a:rPr lang="en-US" dirty="0"/>
              <a:t/>
            </a:r>
            <a:br>
              <a:rPr lang="en-US" dirty="0"/>
            </a:br>
            <a:endParaRPr lang="en-US" dirty="0"/>
          </a:p>
        </p:txBody>
      </p:sp>
      <p:sp>
        <p:nvSpPr>
          <p:cNvPr id="3" name="Content Placeholder 2"/>
          <p:cNvSpPr>
            <a:spLocks noGrp="1"/>
          </p:cNvSpPr>
          <p:nvPr>
            <p:ph idx="1"/>
          </p:nvPr>
        </p:nvSpPr>
        <p:spPr>
          <a:xfrm>
            <a:off x="76200" y="533400"/>
            <a:ext cx="8839200" cy="6400800"/>
          </a:xfrm>
        </p:spPr>
        <p:txBody>
          <a:bodyPr>
            <a:normAutofit fontScale="55000" lnSpcReduction="20000"/>
          </a:bodyPr>
          <a:lstStyle/>
          <a:p>
            <a:r>
              <a:rPr lang="en-US" dirty="0" err="1" smtClean="0"/>
              <a:t>LinkedList</a:t>
            </a:r>
            <a:r>
              <a:rPr lang="en-US" dirty="0" smtClean="0"/>
              <a:t> </a:t>
            </a:r>
            <a:r>
              <a:rPr lang="en-US" dirty="0"/>
              <a:t>implements the Collection interface. It uses a doubly linked list internally to store the elements. It can store the duplicate elements. It maintains the insertion order and is not synchronized. In </a:t>
            </a:r>
            <a:r>
              <a:rPr lang="en-US" dirty="0" err="1"/>
              <a:t>LinkedList</a:t>
            </a:r>
            <a:r>
              <a:rPr lang="en-US" dirty="0"/>
              <a:t>, the manipulation is fast because no shifting is required.</a:t>
            </a:r>
          </a:p>
          <a:p>
            <a:pPr marL="0" indent="0">
              <a:buNone/>
            </a:pPr>
            <a:r>
              <a:rPr lang="en-US" dirty="0"/>
              <a:t>import </a:t>
            </a:r>
            <a:r>
              <a:rPr lang="en-US" dirty="0" err="1"/>
              <a:t>java.util</a:t>
            </a:r>
            <a:r>
              <a:rPr lang="en-US" dirty="0"/>
              <a:t>.*;  </a:t>
            </a:r>
          </a:p>
          <a:p>
            <a:pPr marL="0" indent="0">
              <a:buNone/>
            </a:pPr>
            <a:r>
              <a:rPr lang="en-US" b="1" dirty="0"/>
              <a:t>public</a:t>
            </a:r>
            <a:r>
              <a:rPr lang="en-US" dirty="0"/>
              <a:t> </a:t>
            </a:r>
            <a:r>
              <a:rPr lang="en-US" b="1" dirty="0"/>
              <a:t>class</a:t>
            </a:r>
            <a:r>
              <a:rPr lang="en-US" dirty="0"/>
              <a:t> TestJavaCollection2{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LinkedList</a:t>
            </a:r>
            <a:r>
              <a:rPr lang="en-US" dirty="0"/>
              <a:t>&lt;String&gt; al=</a:t>
            </a:r>
            <a:r>
              <a:rPr lang="en-US" b="1" dirty="0"/>
              <a:t>new</a:t>
            </a:r>
            <a:r>
              <a:rPr lang="en-US" dirty="0"/>
              <a:t> </a:t>
            </a:r>
            <a:r>
              <a:rPr lang="en-US" dirty="0" err="1"/>
              <a:t>LinkedList</a:t>
            </a:r>
            <a:r>
              <a:rPr lang="en-US" dirty="0"/>
              <a:t>&lt;String&gt;();  </a:t>
            </a:r>
          </a:p>
          <a:p>
            <a:pPr marL="0" indent="0">
              <a:buNone/>
            </a:pPr>
            <a:r>
              <a:rPr lang="en-US" dirty="0" err="1"/>
              <a:t>al.add</a:t>
            </a:r>
            <a:r>
              <a:rPr lang="en-US" dirty="0"/>
              <a:t>("Ravi");  </a:t>
            </a:r>
          </a:p>
          <a:p>
            <a:pPr marL="0" indent="0">
              <a:buNone/>
            </a:pPr>
            <a:r>
              <a:rPr lang="en-US" dirty="0" err="1"/>
              <a:t>al.add</a:t>
            </a:r>
            <a:r>
              <a:rPr lang="en-US" dirty="0"/>
              <a:t>("Vijay");  </a:t>
            </a:r>
          </a:p>
          <a:p>
            <a:pPr marL="0" indent="0">
              <a:buNone/>
            </a:pPr>
            <a:r>
              <a:rPr lang="en-US" dirty="0" err="1"/>
              <a:t>al.add</a:t>
            </a:r>
            <a:r>
              <a:rPr lang="en-US" dirty="0"/>
              <a:t>("Ravi");  </a:t>
            </a:r>
          </a:p>
          <a:p>
            <a:pPr marL="0" indent="0">
              <a:buNone/>
            </a:pPr>
            <a:r>
              <a:rPr lang="en-US" dirty="0" err="1"/>
              <a:t>al.add</a:t>
            </a:r>
            <a:r>
              <a:rPr lang="en-US" dirty="0"/>
              <a:t>("Ajay");  </a:t>
            </a:r>
          </a:p>
          <a:p>
            <a:pPr marL="0" indent="0">
              <a:buNone/>
            </a:pPr>
            <a:r>
              <a:rPr lang="en-US" dirty="0"/>
              <a:t>Iterator&lt;String&gt; </a:t>
            </a:r>
            <a:r>
              <a:rPr lang="en-US" dirty="0" err="1"/>
              <a:t>itr</a:t>
            </a:r>
            <a:r>
              <a:rPr lang="en-US" dirty="0"/>
              <a:t>=</a:t>
            </a:r>
            <a:r>
              <a:rPr lang="en-US" dirty="0" err="1"/>
              <a:t>al.iterator</a:t>
            </a:r>
            <a:r>
              <a:rPr lang="en-US" dirty="0"/>
              <a:t>();  </a:t>
            </a:r>
          </a:p>
          <a:p>
            <a:pPr marL="0" indent="0">
              <a:buNone/>
            </a:pPr>
            <a:r>
              <a:rPr lang="en-US" b="1" dirty="0"/>
              <a:t>while</a:t>
            </a:r>
            <a:r>
              <a:rPr lang="en-US" dirty="0"/>
              <a:t>(</a:t>
            </a:r>
            <a:r>
              <a:rPr lang="en-US" dirty="0" err="1"/>
              <a:t>itr.hasNext</a:t>
            </a:r>
            <a:r>
              <a:rPr lang="en-US" dirty="0"/>
              <a:t>()){  </a:t>
            </a:r>
          </a:p>
          <a:p>
            <a:pPr marL="0" indent="0">
              <a:buNone/>
            </a:pPr>
            <a:r>
              <a:rPr lang="en-US" dirty="0" err="1"/>
              <a:t>System.out.println</a:t>
            </a:r>
            <a:r>
              <a:rPr lang="en-US" dirty="0"/>
              <a:t>(</a:t>
            </a:r>
            <a:r>
              <a:rPr lang="en-US" dirty="0" err="1"/>
              <a:t>itr.next</a:t>
            </a:r>
            <a:r>
              <a:rPr lang="en-US" dirty="0"/>
              <a:t>());  </a:t>
            </a:r>
          </a:p>
          <a:p>
            <a:pPr marL="0" indent="0">
              <a:buNone/>
            </a:pPr>
            <a:r>
              <a:rPr lang="en-US" dirty="0"/>
              <a:t>}  </a:t>
            </a:r>
          </a:p>
          <a:p>
            <a:pPr marL="0" indent="0">
              <a:buNone/>
            </a:pPr>
            <a:r>
              <a:rPr lang="en-US" dirty="0"/>
              <a:t>}  </a:t>
            </a:r>
          </a:p>
          <a:p>
            <a:pPr marL="0" indent="0">
              <a:buNone/>
            </a:pPr>
            <a:r>
              <a:rPr lang="en-US" dirty="0"/>
              <a:t>}  </a:t>
            </a:r>
          </a:p>
          <a:p>
            <a:pPr marL="0" indent="0">
              <a:buNone/>
            </a:pPr>
            <a:r>
              <a:rPr lang="en-US" b="1" dirty="0"/>
              <a:t>Output:</a:t>
            </a:r>
            <a:endParaRPr lang="en-US" dirty="0"/>
          </a:p>
          <a:p>
            <a:pPr marL="0" indent="0">
              <a:buNone/>
            </a:pPr>
            <a:r>
              <a:rPr lang="en-US" dirty="0"/>
              <a:t>Ravi </a:t>
            </a:r>
            <a:endParaRPr lang="en-US" dirty="0" smtClean="0"/>
          </a:p>
          <a:p>
            <a:pPr marL="0" indent="0">
              <a:buNone/>
            </a:pPr>
            <a:r>
              <a:rPr lang="en-US" dirty="0" smtClean="0"/>
              <a:t>Vijay </a:t>
            </a:r>
          </a:p>
          <a:p>
            <a:pPr marL="0" indent="0">
              <a:buNone/>
            </a:pPr>
            <a:r>
              <a:rPr lang="en-US" dirty="0" smtClean="0"/>
              <a:t>Ravi </a:t>
            </a:r>
          </a:p>
          <a:p>
            <a:pPr marL="0" indent="0">
              <a:buNone/>
            </a:pPr>
            <a:r>
              <a:rPr lang="en-US" dirty="0" smtClean="0"/>
              <a:t>Ajay</a:t>
            </a:r>
            <a:endParaRPr lang="en-US" dirty="0"/>
          </a:p>
          <a:p>
            <a:endParaRPr lang="en-US" dirty="0"/>
          </a:p>
        </p:txBody>
      </p:sp>
    </p:spTree>
    <p:extLst>
      <p:ext uri="{BB962C8B-B14F-4D97-AF65-F5344CB8AC3E}">
        <p14:creationId xmlns:p14="http://schemas.microsoft.com/office/powerpoint/2010/main" val="1717524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855"/>
            <a:ext cx="8229600" cy="1143000"/>
          </a:xfrm>
        </p:spPr>
        <p:txBody>
          <a:bodyPr>
            <a:normAutofit fontScale="90000"/>
          </a:bodyPr>
          <a:lstStyle/>
          <a:p>
            <a:pPr marL="571500" indent="-571500" algn="l">
              <a:buFont typeface="Arial" pitchFamily="34" charset="0"/>
              <a:buChar char="•"/>
            </a:pPr>
            <a:r>
              <a:rPr lang="en-US" sz="4000" b="1" dirty="0" smtClean="0">
                <a:latin typeface="Times New Roman" pitchFamily="18" charset="0"/>
                <a:cs typeface="Times New Roman" pitchFamily="18" charset="0"/>
              </a:rPr>
              <a:t>Vector</a:t>
            </a:r>
            <a:r>
              <a:rPr lang="en-US" dirty="0" smtClean="0"/>
              <a:t/>
            </a:r>
            <a:br>
              <a:rPr lang="en-US" dirty="0" smtClean="0"/>
            </a:br>
            <a:endParaRPr lang="en-US" dirty="0"/>
          </a:p>
        </p:txBody>
      </p:sp>
      <p:sp>
        <p:nvSpPr>
          <p:cNvPr id="3" name="Content Placeholder 2"/>
          <p:cNvSpPr>
            <a:spLocks noGrp="1"/>
          </p:cNvSpPr>
          <p:nvPr>
            <p:ph idx="1"/>
          </p:nvPr>
        </p:nvSpPr>
        <p:spPr>
          <a:xfrm>
            <a:off x="152400" y="533400"/>
            <a:ext cx="8839200" cy="6629400"/>
          </a:xfrm>
        </p:spPr>
        <p:txBody>
          <a:bodyPr>
            <a:normAutofit fontScale="55000" lnSpcReduction="20000"/>
          </a:bodyPr>
          <a:lstStyle/>
          <a:p>
            <a:r>
              <a:rPr lang="en-US" sz="2800" dirty="0" smtClean="0">
                <a:effectLst/>
                <a:latin typeface="Times New Roman" pitchFamily="18" charset="0"/>
                <a:cs typeface="Times New Roman" pitchFamily="18" charset="0"/>
              </a:rPr>
              <a:t>Vector uses a dynamic array to store the data elements. It is similar to </a:t>
            </a:r>
            <a:r>
              <a:rPr lang="en-US" sz="2800" dirty="0" err="1" smtClean="0">
                <a:effectLst/>
                <a:latin typeface="Times New Roman" pitchFamily="18" charset="0"/>
                <a:cs typeface="Times New Roman" pitchFamily="18" charset="0"/>
              </a:rPr>
              <a:t>ArrayList</a:t>
            </a:r>
            <a:r>
              <a:rPr lang="en-US" sz="2800" dirty="0" smtClean="0">
                <a:effectLst/>
                <a:latin typeface="Times New Roman" pitchFamily="18" charset="0"/>
                <a:cs typeface="Times New Roman" pitchFamily="18" charset="0"/>
              </a:rPr>
              <a:t>. However, it is synchronized and contains many methods that are not the part of Collection framework.</a:t>
            </a:r>
          </a:p>
          <a:p>
            <a:r>
              <a:rPr lang="en-US" sz="2800" dirty="0" smtClean="0">
                <a:effectLst/>
                <a:latin typeface="Times New Roman" pitchFamily="18" charset="0"/>
                <a:cs typeface="Times New Roman" pitchFamily="18" charset="0"/>
              </a:rPr>
              <a:t>Consider the following example.</a:t>
            </a:r>
          </a:p>
          <a:p>
            <a:r>
              <a:rPr lang="en-US" sz="2800" b="1" dirty="0" smtClean="0">
                <a:effectLst/>
                <a:latin typeface="Times New Roman" pitchFamily="18" charset="0"/>
                <a:cs typeface="Times New Roman" pitchFamily="18" charset="0"/>
              </a:rPr>
              <a:t>Filename:</a:t>
            </a:r>
            <a:r>
              <a:rPr lang="en-US" sz="2800" dirty="0" smtClean="0">
                <a:effectLst/>
                <a:latin typeface="Times New Roman" pitchFamily="18" charset="0"/>
                <a:cs typeface="Times New Roman" pitchFamily="18" charset="0"/>
              </a:rPr>
              <a:t> TestJavaCollection3.java</a:t>
            </a:r>
          </a:p>
          <a:p>
            <a:r>
              <a:rPr lang="en-US" dirty="0" smtClean="0">
                <a:effectLst/>
              </a:rPr>
              <a:t/>
            </a:r>
            <a:br>
              <a:rPr lang="en-US" dirty="0" smtClean="0">
                <a:effectLst/>
              </a:rPr>
            </a:br>
            <a:r>
              <a:rPr lang="en-US" dirty="0"/>
              <a:t>import </a:t>
            </a:r>
            <a:r>
              <a:rPr lang="en-US" dirty="0" err="1"/>
              <a:t>java.util</a:t>
            </a:r>
            <a:r>
              <a:rPr lang="en-US" dirty="0"/>
              <a:t>.*;  </a:t>
            </a:r>
          </a:p>
          <a:p>
            <a:r>
              <a:rPr lang="en-US" b="1" dirty="0"/>
              <a:t>public</a:t>
            </a:r>
            <a:r>
              <a:rPr lang="en-US" dirty="0"/>
              <a:t> </a:t>
            </a:r>
            <a:r>
              <a:rPr lang="en-US" b="1" dirty="0"/>
              <a:t>class</a:t>
            </a:r>
            <a:r>
              <a:rPr lang="en-US" dirty="0"/>
              <a:t> TestJavaCollection3{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Vector&lt;String&gt; v=</a:t>
            </a:r>
            <a:r>
              <a:rPr lang="en-US" b="1" dirty="0"/>
              <a:t>new</a:t>
            </a:r>
            <a:r>
              <a:rPr lang="en-US" dirty="0"/>
              <a:t> Vector&lt;String&gt;();  </a:t>
            </a:r>
          </a:p>
          <a:p>
            <a:r>
              <a:rPr lang="en-US" dirty="0" err="1"/>
              <a:t>v.add</a:t>
            </a:r>
            <a:r>
              <a:rPr lang="en-US" dirty="0"/>
              <a:t>("</a:t>
            </a:r>
            <a:r>
              <a:rPr lang="en-US" dirty="0" err="1"/>
              <a:t>Ayush</a:t>
            </a:r>
            <a:r>
              <a:rPr lang="en-US" dirty="0"/>
              <a:t>");  </a:t>
            </a:r>
          </a:p>
          <a:p>
            <a:r>
              <a:rPr lang="en-US" dirty="0" err="1"/>
              <a:t>v.add</a:t>
            </a:r>
            <a:r>
              <a:rPr lang="en-US" dirty="0"/>
              <a:t>("</a:t>
            </a:r>
            <a:r>
              <a:rPr lang="en-US" dirty="0" err="1"/>
              <a:t>Amit</a:t>
            </a:r>
            <a:r>
              <a:rPr lang="en-US" dirty="0"/>
              <a:t>");  </a:t>
            </a:r>
          </a:p>
          <a:p>
            <a:r>
              <a:rPr lang="en-US" dirty="0" err="1"/>
              <a:t>v.add</a:t>
            </a:r>
            <a:r>
              <a:rPr lang="en-US" dirty="0"/>
              <a:t>("</a:t>
            </a:r>
            <a:r>
              <a:rPr lang="en-US" dirty="0" err="1"/>
              <a:t>Ashish</a:t>
            </a:r>
            <a:r>
              <a:rPr lang="en-US" dirty="0"/>
              <a:t>");  </a:t>
            </a:r>
          </a:p>
          <a:p>
            <a:r>
              <a:rPr lang="en-US" dirty="0" err="1"/>
              <a:t>v.add</a:t>
            </a:r>
            <a:r>
              <a:rPr lang="en-US" dirty="0"/>
              <a:t>("</a:t>
            </a:r>
            <a:r>
              <a:rPr lang="en-US" dirty="0" err="1"/>
              <a:t>Garima</a:t>
            </a:r>
            <a:r>
              <a:rPr lang="en-US" dirty="0"/>
              <a:t>");  </a:t>
            </a:r>
          </a:p>
          <a:p>
            <a:r>
              <a:rPr lang="en-US" dirty="0"/>
              <a:t>Iterator&lt;String&gt; </a:t>
            </a:r>
            <a:r>
              <a:rPr lang="en-US" dirty="0" err="1"/>
              <a:t>itr</a:t>
            </a:r>
            <a:r>
              <a:rPr lang="en-US" dirty="0"/>
              <a:t>=</a:t>
            </a:r>
            <a:r>
              <a:rPr lang="en-US" dirty="0" err="1"/>
              <a:t>v.iterator</a:t>
            </a:r>
            <a:r>
              <a:rPr lang="en-US" dirty="0"/>
              <a:t>();  </a:t>
            </a:r>
          </a:p>
          <a:p>
            <a:r>
              <a:rPr lang="en-US" b="1" dirty="0"/>
              <a:t>while</a:t>
            </a:r>
            <a:r>
              <a:rPr lang="en-US" dirty="0"/>
              <a:t>(</a:t>
            </a:r>
            <a:r>
              <a:rPr lang="en-US" dirty="0" err="1"/>
              <a:t>itr.hasNext</a:t>
            </a:r>
            <a:r>
              <a:rPr lang="en-US" dirty="0"/>
              <a:t>()){  </a:t>
            </a:r>
          </a:p>
          <a:p>
            <a:r>
              <a:rPr lang="en-US" dirty="0" err="1"/>
              <a:t>System.out.println</a:t>
            </a:r>
            <a:r>
              <a:rPr lang="en-US" dirty="0"/>
              <a:t>(</a:t>
            </a:r>
            <a:r>
              <a:rPr lang="en-US" dirty="0" err="1"/>
              <a:t>itr.next</a:t>
            </a:r>
            <a:r>
              <a:rPr lang="en-US" dirty="0"/>
              <a:t>());  </a:t>
            </a:r>
          </a:p>
          <a:p>
            <a:r>
              <a:rPr lang="en-US" dirty="0"/>
              <a:t>}  </a:t>
            </a:r>
          </a:p>
          <a:p>
            <a:r>
              <a:rPr lang="en-US" dirty="0"/>
              <a:t>}  </a:t>
            </a:r>
          </a:p>
          <a:p>
            <a:r>
              <a:rPr lang="en-US" dirty="0"/>
              <a:t>}  </a:t>
            </a:r>
          </a:p>
          <a:p>
            <a:r>
              <a:rPr lang="en-US" b="1" dirty="0"/>
              <a:t>Output:</a:t>
            </a:r>
            <a:endParaRPr lang="en-US" dirty="0"/>
          </a:p>
          <a:p>
            <a:r>
              <a:rPr lang="en-US" dirty="0" err="1"/>
              <a:t>Ayush</a:t>
            </a:r>
            <a:r>
              <a:rPr lang="en-US" dirty="0"/>
              <a:t> </a:t>
            </a:r>
            <a:endParaRPr lang="en-US" dirty="0" smtClean="0"/>
          </a:p>
          <a:p>
            <a:r>
              <a:rPr lang="en-US" dirty="0" err="1" smtClean="0"/>
              <a:t>Amit</a:t>
            </a:r>
            <a:r>
              <a:rPr lang="en-US" dirty="0" smtClean="0"/>
              <a:t> </a:t>
            </a:r>
          </a:p>
          <a:p>
            <a:r>
              <a:rPr lang="en-US" dirty="0" err="1" smtClean="0"/>
              <a:t>Ashish</a:t>
            </a:r>
            <a:endParaRPr lang="en-US" dirty="0" smtClean="0"/>
          </a:p>
          <a:p>
            <a:r>
              <a:rPr lang="en-US" dirty="0" smtClean="0"/>
              <a:t> </a:t>
            </a:r>
            <a:r>
              <a:rPr lang="en-US" dirty="0" err="1"/>
              <a:t>Garima</a:t>
            </a:r>
            <a:endParaRPr lang="en-US" dirty="0"/>
          </a:p>
          <a:p>
            <a:endParaRPr lang="en-US" dirty="0"/>
          </a:p>
        </p:txBody>
      </p:sp>
    </p:spTree>
    <p:extLst>
      <p:ext uri="{BB962C8B-B14F-4D97-AF65-F5344CB8AC3E}">
        <p14:creationId xmlns:p14="http://schemas.microsoft.com/office/powerpoint/2010/main" val="387785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marL="571500" indent="-571500" algn="l">
              <a:buFont typeface="Arial" pitchFamily="34" charset="0"/>
              <a:buChar char="•"/>
            </a:pPr>
            <a:r>
              <a:rPr lang="en-US" sz="4000" b="1" dirty="0">
                <a:latin typeface="Times New Roman" pitchFamily="18" charset="0"/>
                <a:cs typeface="Times New Roman" pitchFamily="18" charset="0"/>
              </a:rPr>
              <a:t>Stack</a:t>
            </a:r>
            <a:r>
              <a:rPr lang="en-US" dirty="0"/>
              <a:t/>
            </a:r>
            <a:br>
              <a:rPr lang="en-US" dirty="0"/>
            </a:br>
            <a:endParaRPr lang="en-US" dirty="0"/>
          </a:p>
        </p:txBody>
      </p:sp>
      <p:sp>
        <p:nvSpPr>
          <p:cNvPr id="3" name="Content Placeholder 2"/>
          <p:cNvSpPr>
            <a:spLocks noGrp="1"/>
          </p:cNvSpPr>
          <p:nvPr>
            <p:ph idx="1"/>
          </p:nvPr>
        </p:nvSpPr>
        <p:spPr>
          <a:xfrm>
            <a:off x="152400" y="609600"/>
            <a:ext cx="8534400" cy="6629400"/>
          </a:xfrm>
        </p:spPr>
        <p:txBody>
          <a:bodyPr>
            <a:normAutofit fontScale="47500" lnSpcReduction="20000"/>
          </a:bodyPr>
          <a:lstStyle/>
          <a:p>
            <a:pPr marL="0" indent="0">
              <a:buNone/>
            </a:pPr>
            <a:r>
              <a:rPr lang="en-US" sz="3400" dirty="0" smtClean="0"/>
              <a:t>The </a:t>
            </a:r>
            <a:r>
              <a:rPr lang="en-US" sz="3400" dirty="0"/>
              <a:t>stack is the subclass of Vector. It implements the last-in-first-out data structure, i.e., Stack. The stack contains all of the methods of Vector class and also provides its methods like </a:t>
            </a:r>
            <a:r>
              <a:rPr lang="en-US" sz="3400" dirty="0" err="1"/>
              <a:t>boolean</a:t>
            </a:r>
            <a:r>
              <a:rPr lang="en-US" sz="3400" dirty="0"/>
              <a:t> push(), </a:t>
            </a:r>
            <a:r>
              <a:rPr lang="en-US" sz="3400" dirty="0" err="1"/>
              <a:t>boolean</a:t>
            </a:r>
            <a:r>
              <a:rPr lang="en-US" sz="3400" dirty="0"/>
              <a:t> peek(), </a:t>
            </a:r>
            <a:r>
              <a:rPr lang="en-US" sz="3400" dirty="0" err="1"/>
              <a:t>boolean</a:t>
            </a:r>
            <a:r>
              <a:rPr lang="en-US" sz="3400" dirty="0"/>
              <a:t> push(object o), which defines its properties</a:t>
            </a:r>
            <a:r>
              <a:rPr lang="en-US" sz="3400" dirty="0" smtClean="0"/>
              <a:t>.</a:t>
            </a:r>
          </a:p>
          <a:p>
            <a:pPr marL="0" indent="0">
              <a:buNone/>
            </a:pPr>
            <a:endParaRPr lang="en-US" sz="3400" dirty="0"/>
          </a:p>
          <a:p>
            <a:pPr marL="0" indent="0">
              <a:buNone/>
            </a:pPr>
            <a:r>
              <a:rPr lang="en-US" sz="3400" dirty="0"/>
              <a:t>import </a:t>
            </a:r>
            <a:r>
              <a:rPr lang="en-US" sz="3400" dirty="0" err="1"/>
              <a:t>java.util</a:t>
            </a:r>
            <a:r>
              <a:rPr lang="en-US" sz="3400" dirty="0"/>
              <a:t>.*;  </a:t>
            </a:r>
          </a:p>
          <a:p>
            <a:pPr marL="0" indent="0">
              <a:buNone/>
            </a:pPr>
            <a:r>
              <a:rPr lang="en-US" sz="3400" b="1" dirty="0"/>
              <a:t>public</a:t>
            </a:r>
            <a:r>
              <a:rPr lang="en-US" sz="3400" dirty="0"/>
              <a:t> </a:t>
            </a:r>
            <a:r>
              <a:rPr lang="en-US" sz="3400" b="1" dirty="0"/>
              <a:t>class</a:t>
            </a:r>
            <a:r>
              <a:rPr lang="en-US" sz="3400" dirty="0"/>
              <a:t> TestJavaCollection4{  </a:t>
            </a:r>
          </a:p>
          <a:p>
            <a:pPr marL="0" indent="0">
              <a:buNone/>
            </a:pPr>
            <a:r>
              <a:rPr lang="en-US" sz="3400" b="1" dirty="0"/>
              <a:t>public</a:t>
            </a:r>
            <a:r>
              <a:rPr lang="en-US" sz="3400" dirty="0"/>
              <a:t> </a:t>
            </a:r>
            <a:r>
              <a:rPr lang="en-US" sz="3400" b="1" dirty="0"/>
              <a:t>static</a:t>
            </a:r>
            <a:r>
              <a:rPr lang="en-US" sz="3400" dirty="0"/>
              <a:t> </a:t>
            </a:r>
            <a:r>
              <a:rPr lang="en-US" sz="3400" b="1" dirty="0"/>
              <a:t>void</a:t>
            </a:r>
            <a:r>
              <a:rPr lang="en-US" sz="3400" dirty="0"/>
              <a:t> main(String </a:t>
            </a:r>
            <a:r>
              <a:rPr lang="en-US" sz="3400" dirty="0" err="1"/>
              <a:t>args</a:t>
            </a:r>
            <a:r>
              <a:rPr lang="en-US" sz="3400" dirty="0"/>
              <a:t>[]){  </a:t>
            </a:r>
          </a:p>
          <a:p>
            <a:pPr marL="0" indent="0">
              <a:buNone/>
            </a:pPr>
            <a:r>
              <a:rPr lang="en-US" sz="3400" dirty="0"/>
              <a:t>Stack&lt;String&gt; stack = </a:t>
            </a:r>
            <a:r>
              <a:rPr lang="en-US" sz="3400" b="1" dirty="0"/>
              <a:t>new</a:t>
            </a:r>
            <a:r>
              <a:rPr lang="en-US" sz="3400" dirty="0"/>
              <a:t> Stack&lt;String&gt;();  </a:t>
            </a:r>
          </a:p>
          <a:p>
            <a:pPr marL="0" indent="0">
              <a:buNone/>
            </a:pPr>
            <a:r>
              <a:rPr lang="en-US" sz="3400" dirty="0" err="1"/>
              <a:t>stack.push</a:t>
            </a:r>
            <a:r>
              <a:rPr lang="en-US" sz="3400" dirty="0"/>
              <a:t>("</a:t>
            </a:r>
            <a:r>
              <a:rPr lang="en-US" sz="3400" dirty="0" err="1"/>
              <a:t>Ayush</a:t>
            </a:r>
            <a:r>
              <a:rPr lang="en-US" sz="3400" dirty="0"/>
              <a:t>");  </a:t>
            </a:r>
          </a:p>
          <a:p>
            <a:pPr marL="0" indent="0">
              <a:buNone/>
            </a:pPr>
            <a:r>
              <a:rPr lang="en-US" sz="3400" dirty="0" err="1"/>
              <a:t>stack.push</a:t>
            </a:r>
            <a:r>
              <a:rPr lang="en-US" sz="3400" dirty="0"/>
              <a:t>("</a:t>
            </a:r>
            <a:r>
              <a:rPr lang="en-US" sz="3400" dirty="0" err="1"/>
              <a:t>Garvit</a:t>
            </a:r>
            <a:r>
              <a:rPr lang="en-US" sz="3400" dirty="0"/>
              <a:t>");  </a:t>
            </a:r>
          </a:p>
          <a:p>
            <a:pPr marL="0" indent="0">
              <a:buNone/>
            </a:pPr>
            <a:r>
              <a:rPr lang="en-US" sz="3400" dirty="0" err="1"/>
              <a:t>stack.push</a:t>
            </a:r>
            <a:r>
              <a:rPr lang="en-US" sz="3400" dirty="0"/>
              <a:t>("</a:t>
            </a:r>
            <a:r>
              <a:rPr lang="en-US" sz="3400" dirty="0" err="1"/>
              <a:t>Amit</a:t>
            </a:r>
            <a:r>
              <a:rPr lang="en-US" sz="3400" dirty="0"/>
              <a:t>");  </a:t>
            </a:r>
          </a:p>
          <a:p>
            <a:pPr marL="0" indent="0">
              <a:buNone/>
            </a:pPr>
            <a:r>
              <a:rPr lang="en-US" sz="3400" dirty="0" err="1"/>
              <a:t>stack.push</a:t>
            </a:r>
            <a:r>
              <a:rPr lang="en-US" sz="3400" dirty="0"/>
              <a:t>("</a:t>
            </a:r>
            <a:r>
              <a:rPr lang="en-US" sz="3400" dirty="0" err="1"/>
              <a:t>Ashish</a:t>
            </a:r>
            <a:r>
              <a:rPr lang="en-US" sz="3400" dirty="0"/>
              <a:t>");  </a:t>
            </a:r>
          </a:p>
          <a:p>
            <a:pPr marL="0" indent="0">
              <a:buNone/>
            </a:pPr>
            <a:r>
              <a:rPr lang="en-US" sz="3400" dirty="0" err="1"/>
              <a:t>stack.push</a:t>
            </a:r>
            <a:r>
              <a:rPr lang="en-US" sz="3400" dirty="0"/>
              <a:t>("</a:t>
            </a:r>
            <a:r>
              <a:rPr lang="en-US" sz="3400" dirty="0" err="1"/>
              <a:t>Garima</a:t>
            </a:r>
            <a:r>
              <a:rPr lang="en-US" sz="3400" dirty="0"/>
              <a:t>");  </a:t>
            </a:r>
          </a:p>
          <a:p>
            <a:pPr marL="0" indent="0">
              <a:buNone/>
            </a:pPr>
            <a:r>
              <a:rPr lang="en-US" sz="3400" dirty="0" err="1"/>
              <a:t>stack.pop</a:t>
            </a:r>
            <a:r>
              <a:rPr lang="en-US" sz="3400" dirty="0"/>
              <a:t>();  </a:t>
            </a:r>
          </a:p>
          <a:p>
            <a:pPr marL="0" indent="0">
              <a:buNone/>
            </a:pPr>
            <a:r>
              <a:rPr lang="en-US" sz="3400" dirty="0"/>
              <a:t>Iterator&lt;String&gt; </a:t>
            </a:r>
            <a:r>
              <a:rPr lang="en-US" sz="3400" dirty="0" err="1"/>
              <a:t>itr</a:t>
            </a:r>
            <a:r>
              <a:rPr lang="en-US" sz="3400" dirty="0"/>
              <a:t>=</a:t>
            </a:r>
            <a:r>
              <a:rPr lang="en-US" sz="3400" dirty="0" err="1"/>
              <a:t>stack.iterator</a:t>
            </a:r>
            <a:r>
              <a:rPr lang="en-US" sz="3400" dirty="0"/>
              <a:t>();  </a:t>
            </a:r>
          </a:p>
          <a:p>
            <a:pPr marL="0" indent="0">
              <a:buNone/>
            </a:pPr>
            <a:r>
              <a:rPr lang="en-US" sz="3400" b="1" dirty="0"/>
              <a:t>while</a:t>
            </a:r>
            <a:r>
              <a:rPr lang="en-US" sz="3400" dirty="0"/>
              <a:t>(</a:t>
            </a:r>
            <a:r>
              <a:rPr lang="en-US" sz="3400" dirty="0" err="1"/>
              <a:t>itr.hasNext</a:t>
            </a:r>
            <a:r>
              <a:rPr lang="en-US" sz="3400" dirty="0"/>
              <a:t>()){  </a:t>
            </a:r>
          </a:p>
          <a:p>
            <a:pPr marL="0" indent="0">
              <a:buNone/>
            </a:pPr>
            <a:r>
              <a:rPr lang="en-US" sz="3400" dirty="0" err="1"/>
              <a:t>System.out.println</a:t>
            </a:r>
            <a:r>
              <a:rPr lang="en-US" sz="3400" dirty="0"/>
              <a:t>(</a:t>
            </a:r>
            <a:r>
              <a:rPr lang="en-US" sz="3400" dirty="0" err="1"/>
              <a:t>itr.next</a:t>
            </a:r>
            <a:r>
              <a:rPr lang="en-US" sz="3400" dirty="0"/>
              <a:t>());  </a:t>
            </a:r>
          </a:p>
          <a:p>
            <a:pPr marL="0" indent="0">
              <a:buNone/>
            </a:pPr>
            <a:r>
              <a:rPr lang="en-US" sz="3400" dirty="0"/>
              <a:t>}  </a:t>
            </a:r>
          </a:p>
          <a:p>
            <a:pPr marL="0" indent="0">
              <a:buNone/>
            </a:pPr>
            <a:r>
              <a:rPr lang="en-US" sz="3400" dirty="0"/>
              <a:t>}  </a:t>
            </a:r>
          </a:p>
          <a:p>
            <a:pPr marL="0" indent="0">
              <a:buNone/>
            </a:pPr>
            <a:r>
              <a:rPr lang="en-US" sz="3400" dirty="0"/>
              <a:t>}  </a:t>
            </a:r>
          </a:p>
          <a:p>
            <a:pPr marL="0" indent="0">
              <a:buNone/>
            </a:pPr>
            <a:r>
              <a:rPr lang="en-US" sz="3400" b="1" dirty="0"/>
              <a:t>Output:</a:t>
            </a:r>
            <a:endParaRPr lang="en-US" sz="3400" dirty="0"/>
          </a:p>
          <a:p>
            <a:pPr marL="0" indent="0">
              <a:buNone/>
            </a:pPr>
            <a:r>
              <a:rPr lang="en-US" sz="3400" dirty="0" err="1"/>
              <a:t>Ayush</a:t>
            </a:r>
            <a:r>
              <a:rPr lang="en-US" sz="3400" dirty="0"/>
              <a:t> </a:t>
            </a:r>
            <a:endParaRPr lang="en-US" sz="3400" dirty="0" smtClean="0"/>
          </a:p>
          <a:p>
            <a:pPr marL="0" indent="0">
              <a:buNone/>
            </a:pPr>
            <a:r>
              <a:rPr lang="en-US" sz="3400" dirty="0" err="1" smtClean="0"/>
              <a:t>Garvit</a:t>
            </a:r>
            <a:r>
              <a:rPr lang="en-US" sz="3400" dirty="0" smtClean="0"/>
              <a:t> </a:t>
            </a:r>
          </a:p>
          <a:p>
            <a:pPr marL="0" indent="0">
              <a:buNone/>
            </a:pPr>
            <a:r>
              <a:rPr lang="en-US" sz="3400" dirty="0" err="1" smtClean="0"/>
              <a:t>Amit</a:t>
            </a:r>
            <a:r>
              <a:rPr lang="en-US" sz="3400" dirty="0" smtClean="0"/>
              <a:t> </a:t>
            </a:r>
          </a:p>
          <a:p>
            <a:pPr marL="0" indent="0">
              <a:buNone/>
            </a:pPr>
            <a:r>
              <a:rPr lang="en-US" sz="3400" dirty="0" err="1" smtClean="0"/>
              <a:t>Ashish</a:t>
            </a:r>
            <a:endParaRPr lang="en-US" sz="3400" dirty="0"/>
          </a:p>
          <a:p>
            <a:pPr marL="0" indent="0">
              <a:buNone/>
            </a:pPr>
            <a:endParaRPr lang="en-US" dirty="0"/>
          </a:p>
        </p:txBody>
      </p:sp>
    </p:spTree>
    <p:extLst>
      <p:ext uri="{BB962C8B-B14F-4D97-AF65-F5344CB8AC3E}">
        <p14:creationId xmlns:p14="http://schemas.microsoft.com/office/powerpoint/2010/main" val="2989405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marL="571500" indent="-571500" algn="l">
              <a:buFont typeface="Arial" pitchFamily="34" charset="0"/>
              <a:buChar char="•"/>
            </a:pPr>
            <a:r>
              <a:rPr lang="en-US" sz="4000" b="1" dirty="0">
                <a:latin typeface="Times New Roman" pitchFamily="18" charset="0"/>
                <a:cs typeface="Times New Roman" pitchFamily="18" charset="0"/>
              </a:rPr>
              <a:t>Queue Interface</a:t>
            </a:r>
            <a:r>
              <a:rPr lang="en-US" dirty="0"/>
              <a:t/>
            </a:r>
            <a:br>
              <a:rPr lang="en-US" dirty="0"/>
            </a:br>
            <a:endParaRPr lang="en-US" dirty="0"/>
          </a:p>
        </p:txBody>
      </p:sp>
      <p:sp>
        <p:nvSpPr>
          <p:cNvPr id="3" name="Content Placeholder 2"/>
          <p:cNvSpPr>
            <a:spLocks noGrp="1"/>
          </p:cNvSpPr>
          <p:nvPr>
            <p:ph idx="1"/>
          </p:nvPr>
        </p:nvSpPr>
        <p:spPr>
          <a:xfrm>
            <a:off x="304800" y="914400"/>
            <a:ext cx="8382000" cy="5364163"/>
          </a:xfrm>
        </p:spPr>
        <p:txBody>
          <a:bodyPr>
            <a:normAutofit fontScale="70000" lnSpcReduction="20000"/>
          </a:bodyPr>
          <a:lstStyle/>
          <a:p>
            <a:r>
              <a:rPr lang="en-US" dirty="0" smtClean="0"/>
              <a:t>Queue </a:t>
            </a:r>
            <a:r>
              <a:rPr lang="en-US" dirty="0"/>
              <a:t>interface maintains the first-in-first-out order. It can be defined as an ordered list that is used to hold the elements which are about to be processed. There are various classes like </a:t>
            </a:r>
            <a:r>
              <a:rPr lang="en-US" dirty="0" err="1"/>
              <a:t>PriorityQueue</a:t>
            </a:r>
            <a:r>
              <a:rPr lang="en-US" dirty="0"/>
              <a:t>, </a:t>
            </a:r>
            <a:r>
              <a:rPr lang="en-US" dirty="0" err="1"/>
              <a:t>Deque</a:t>
            </a:r>
            <a:r>
              <a:rPr lang="en-US" dirty="0"/>
              <a:t>, and </a:t>
            </a:r>
            <a:r>
              <a:rPr lang="en-US" dirty="0" err="1"/>
              <a:t>ArrayDeque</a:t>
            </a:r>
            <a:r>
              <a:rPr lang="en-US" dirty="0"/>
              <a:t> which implements the Queue interface.</a:t>
            </a:r>
          </a:p>
          <a:p>
            <a:r>
              <a:rPr lang="en-US" dirty="0"/>
              <a:t>Queue interface can be instantiated as:</a:t>
            </a:r>
          </a:p>
          <a:p>
            <a:r>
              <a:rPr lang="en-US" dirty="0"/>
              <a:t>Queue&lt;String&gt; q1 = </a:t>
            </a:r>
            <a:r>
              <a:rPr lang="en-US" b="1" dirty="0"/>
              <a:t>new</a:t>
            </a:r>
            <a:r>
              <a:rPr lang="en-US" dirty="0"/>
              <a:t> </a:t>
            </a:r>
            <a:r>
              <a:rPr lang="en-US" dirty="0" err="1"/>
              <a:t>PriorityQueue</a:t>
            </a:r>
            <a:r>
              <a:rPr lang="en-US" dirty="0"/>
              <a:t>();  </a:t>
            </a:r>
          </a:p>
          <a:p>
            <a:r>
              <a:rPr lang="en-US" dirty="0"/>
              <a:t>Queue&lt;String&gt; q2 = </a:t>
            </a:r>
            <a:r>
              <a:rPr lang="en-US" b="1" dirty="0"/>
              <a:t>new</a:t>
            </a:r>
            <a:r>
              <a:rPr lang="en-US" dirty="0"/>
              <a:t> </a:t>
            </a:r>
            <a:r>
              <a:rPr lang="en-US" dirty="0" err="1"/>
              <a:t>ArrayDeque</a:t>
            </a:r>
            <a:r>
              <a:rPr lang="en-US" dirty="0"/>
              <a:t>();  </a:t>
            </a:r>
          </a:p>
          <a:p>
            <a:r>
              <a:rPr lang="en-US" dirty="0"/>
              <a:t>There are various classes that implement the Queue interface, some of them are given below</a:t>
            </a:r>
            <a:r>
              <a:rPr lang="en-US" dirty="0" smtClean="0"/>
              <a:t>.</a:t>
            </a:r>
          </a:p>
          <a:p>
            <a:endParaRPr lang="en-US" sz="4000" b="1" dirty="0"/>
          </a:p>
          <a:p>
            <a:r>
              <a:rPr lang="en-US" sz="4000" b="1" dirty="0" err="1"/>
              <a:t>PriorityQueue</a:t>
            </a:r>
            <a:endParaRPr lang="en-US" sz="4000" b="1" dirty="0"/>
          </a:p>
          <a:p>
            <a:r>
              <a:rPr lang="en-US" dirty="0"/>
              <a:t>The </a:t>
            </a:r>
            <a:r>
              <a:rPr lang="en-US" dirty="0" err="1"/>
              <a:t>PriorityQueue</a:t>
            </a:r>
            <a:r>
              <a:rPr lang="en-US" dirty="0"/>
              <a:t> class implements the Queue interface. It holds the elements or objects which are to be processed by their priorities. </a:t>
            </a:r>
            <a:r>
              <a:rPr lang="en-US" dirty="0" err="1"/>
              <a:t>PriorityQueue</a:t>
            </a:r>
            <a:r>
              <a:rPr lang="en-US" dirty="0"/>
              <a:t> doesn't allow null values to be stored in the queue.</a:t>
            </a:r>
          </a:p>
          <a:p>
            <a:endParaRPr lang="en-US" dirty="0"/>
          </a:p>
        </p:txBody>
      </p:sp>
    </p:spTree>
    <p:extLst>
      <p:ext uri="{BB962C8B-B14F-4D97-AF65-F5344CB8AC3E}">
        <p14:creationId xmlns:p14="http://schemas.microsoft.com/office/powerpoint/2010/main" val="3341367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4525963"/>
          </a:xfrm>
        </p:spPr>
        <p:txBody>
          <a:bodyPr>
            <a:normAutofit fontScale="77500" lnSpcReduction="20000"/>
          </a:bodyPr>
          <a:lstStyle/>
          <a:p>
            <a:r>
              <a:rPr lang="en-US" b="1" dirty="0" err="1"/>
              <a:t>Deque</a:t>
            </a:r>
            <a:r>
              <a:rPr lang="en-US" b="1" dirty="0"/>
              <a:t> </a:t>
            </a:r>
            <a:r>
              <a:rPr lang="en-US" b="1" dirty="0" smtClean="0"/>
              <a:t>Interface-</a:t>
            </a:r>
            <a:endParaRPr lang="en-US" b="1" dirty="0"/>
          </a:p>
          <a:p>
            <a:r>
              <a:rPr lang="en-US" dirty="0" err="1"/>
              <a:t>Deque</a:t>
            </a:r>
            <a:r>
              <a:rPr lang="en-US" dirty="0"/>
              <a:t> interface extends the Queue interface. In </a:t>
            </a:r>
            <a:r>
              <a:rPr lang="en-US" dirty="0" err="1"/>
              <a:t>Deque</a:t>
            </a:r>
            <a:r>
              <a:rPr lang="en-US" dirty="0"/>
              <a:t>, we can remove and add the elements from both the side. </a:t>
            </a:r>
            <a:r>
              <a:rPr lang="en-US" dirty="0" err="1"/>
              <a:t>Deque</a:t>
            </a:r>
            <a:r>
              <a:rPr lang="en-US" dirty="0"/>
              <a:t> stands for a double-ended queue which enables us to perform the operations at both the ends.</a:t>
            </a:r>
          </a:p>
          <a:p>
            <a:r>
              <a:rPr lang="en-US" dirty="0" err="1"/>
              <a:t>Deque</a:t>
            </a:r>
            <a:r>
              <a:rPr lang="en-US" dirty="0"/>
              <a:t> can be instantiated as:</a:t>
            </a:r>
          </a:p>
          <a:p>
            <a:r>
              <a:rPr lang="en-US" dirty="0" err="1"/>
              <a:t>Deque</a:t>
            </a:r>
            <a:r>
              <a:rPr lang="en-US" dirty="0"/>
              <a:t> d = </a:t>
            </a:r>
            <a:r>
              <a:rPr lang="en-US" b="1" dirty="0"/>
              <a:t>new</a:t>
            </a:r>
            <a:r>
              <a:rPr lang="en-US" dirty="0"/>
              <a:t> </a:t>
            </a:r>
            <a:r>
              <a:rPr lang="en-US" dirty="0" err="1"/>
              <a:t>ArrayDeque</a:t>
            </a:r>
            <a:r>
              <a:rPr lang="en-US" dirty="0"/>
              <a:t>();  </a:t>
            </a:r>
            <a:endParaRPr lang="en-US" dirty="0" smtClean="0"/>
          </a:p>
          <a:p>
            <a:r>
              <a:rPr lang="en-US" b="1" dirty="0" err="1" smtClean="0"/>
              <a:t>ArrayDeque</a:t>
            </a:r>
            <a:r>
              <a:rPr lang="en-US" b="1" dirty="0" smtClean="0"/>
              <a:t>-</a:t>
            </a:r>
            <a:endParaRPr lang="en-US" b="1" dirty="0"/>
          </a:p>
          <a:p>
            <a:r>
              <a:rPr lang="en-US" dirty="0" err="1"/>
              <a:t>ArrayDeque</a:t>
            </a:r>
            <a:r>
              <a:rPr lang="en-US" dirty="0"/>
              <a:t> class implements the </a:t>
            </a:r>
            <a:r>
              <a:rPr lang="en-US" dirty="0" err="1"/>
              <a:t>Deque</a:t>
            </a:r>
            <a:r>
              <a:rPr lang="en-US" dirty="0"/>
              <a:t> interface. It facilitates us to use the </a:t>
            </a:r>
            <a:r>
              <a:rPr lang="en-US" dirty="0" err="1"/>
              <a:t>Deque</a:t>
            </a:r>
            <a:r>
              <a:rPr lang="en-US" dirty="0"/>
              <a:t>. Unlike queue, we can add or delete the elements from both the ends.</a:t>
            </a:r>
          </a:p>
          <a:p>
            <a:r>
              <a:rPr lang="en-US" dirty="0" err="1"/>
              <a:t>ArrayDeque</a:t>
            </a:r>
            <a:r>
              <a:rPr lang="en-US" dirty="0"/>
              <a:t> is faster than </a:t>
            </a:r>
            <a:r>
              <a:rPr lang="en-US" dirty="0" err="1"/>
              <a:t>ArrayList</a:t>
            </a:r>
            <a:r>
              <a:rPr lang="en-US" dirty="0"/>
              <a:t> and Stack and has no capacity restrictions.</a:t>
            </a:r>
          </a:p>
          <a:p>
            <a:endParaRPr lang="en-US" dirty="0"/>
          </a:p>
          <a:p>
            <a:endParaRPr lang="en-US" dirty="0"/>
          </a:p>
        </p:txBody>
      </p:sp>
    </p:spTree>
    <p:extLst>
      <p:ext uri="{BB962C8B-B14F-4D97-AF65-F5344CB8AC3E}">
        <p14:creationId xmlns:p14="http://schemas.microsoft.com/office/powerpoint/2010/main" val="4108164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lgn="l">
              <a:buFont typeface="Arial" pitchFamily="34" charset="0"/>
              <a:buChar char="•"/>
            </a:pPr>
            <a:r>
              <a:rPr lang="en-US" sz="4000" b="1" dirty="0" smtClean="0">
                <a:latin typeface="Times New Roman" pitchFamily="18" charset="0"/>
                <a:cs typeface="Times New Roman" pitchFamily="18" charset="0"/>
              </a:rPr>
              <a:t>Set Interface</a:t>
            </a:r>
            <a:r>
              <a:rPr lang="en-US" dirty="0" smtClean="0"/>
              <a:t/>
            </a:r>
            <a:br>
              <a:rPr lang="en-US" dirty="0" smtClean="0"/>
            </a:br>
            <a:endParaRPr lang="en-US" dirty="0"/>
          </a:p>
        </p:txBody>
      </p:sp>
      <p:sp>
        <p:nvSpPr>
          <p:cNvPr id="3" name="Content Placeholder 2"/>
          <p:cNvSpPr>
            <a:spLocks noGrp="1"/>
          </p:cNvSpPr>
          <p:nvPr>
            <p:ph idx="1"/>
          </p:nvPr>
        </p:nvSpPr>
        <p:spPr>
          <a:xfrm>
            <a:off x="304800" y="990600"/>
            <a:ext cx="8382000" cy="5135563"/>
          </a:xfrm>
        </p:spPr>
        <p:txBody>
          <a:bodyPr>
            <a:normAutofit/>
          </a:bodyPr>
          <a:lstStyle/>
          <a:p>
            <a:r>
              <a:rPr lang="en-US" sz="2800" dirty="0" smtClean="0">
                <a:latin typeface="Times New Roman" pitchFamily="18" charset="0"/>
                <a:cs typeface="Times New Roman" pitchFamily="18" charset="0"/>
              </a:rPr>
              <a:t>Set </a:t>
            </a:r>
            <a:r>
              <a:rPr lang="en-US" sz="2800" dirty="0">
                <a:latin typeface="Times New Roman" pitchFamily="18" charset="0"/>
                <a:cs typeface="Times New Roman" pitchFamily="18" charset="0"/>
              </a:rPr>
              <a:t>Interface in Java is present in </a:t>
            </a:r>
            <a:r>
              <a:rPr lang="en-US" sz="2800" dirty="0" err="1">
                <a:latin typeface="Times New Roman" pitchFamily="18" charset="0"/>
                <a:cs typeface="Times New Roman" pitchFamily="18" charset="0"/>
              </a:rPr>
              <a:t>java.util</a:t>
            </a:r>
            <a:r>
              <a:rPr lang="en-US" sz="2800" dirty="0">
                <a:latin typeface="Times New Roman" pitchFamily="18" charset="0"/>
                <a:cs typeface="Times New Roman" pitchFamily="18" charset="0"/>
              </a:rPr>
              <a:t> package. It extends the Collection interface. It represents the unordered set of elements which doesn't allow us to store the duplicate items. We can store at most one null value in Set. Set is implemented by </a:t>
            </a:r>
            <a:r>
              <a:rPr lang="en-US" sz="2800" dirty="0" err="1">
                <a:latin typeface="Times New Roman" pitchFamily="18" charset="0"/>
                <a:cs typeface="Times New Roman" pitchFamily="18" charset="0"/>
              </a:rPr>
              <a:t>HashSet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LinkedHashSet</a:t>
            </a:r>
            <a:r>
              <a:rPr lang="en-US" sz="2800" dirty="0">
                <a:latin typeface="Times New Roman" pitchFamily="18" charset="0"/>
                <a:cs typeface="Times New Roman" pitchFamily="18" charset="0"/>
              </a:rPr>
              <a:t>, and </a:t>
            </a:r>
            <a:r>
              <a:rPr lang="en-US" sz="2800" dirty="0" err="1">
                <a:latin typeface="Times New Roman" pitchFamily="18" charset="0"/>
                <a:cs typeface="Times New Roman" pitchFamily="18" charset="0"/>
              </a:rPr>
              <a:t>TreeSet</a:t>
            </a:r>
            <a:r>
              <a:rPr lang="en-US" sz="2800" dirty="0">
                <a:latin typeface="Times New Roman" pitchFamily="18" charset="0"/>
                <a:cs typeface="Times New Roman" pitchFamily="18" charset="0"/>
              </a:rPr>
              <a:t>.</a:t>
            </a:r>
          </a:p>
          <a:p>
            <a:r>
              <a:rPr lang="en-US" sz="2800" dirty="0">
                <a:latin typeface="Times New Roman" pitchFamily="18" charset="0"/>
                <a:cs typeface="Times New Roman" pitchFamily="18" charset="0"/>
              </a:rPr>
              <a:t>Set can be instantiated as:</a:t>
            </a:r>
          </a:p>
          <a:p>
            <a:r>
              <a:rPr lang="en-US" sz="2800" dirty="0">
                <a:latin typeface="Times New Roman" pitchFamily="18" charset="0"/>
                <a:cs typeface="Times New Roman" pitchFamily="18" charset="0"/>
              </a:rPr>
              <a:t>Set&lt;data-type&gt; s1 = </a:t>
            </a:r>
            <a:r>
              <a:rPr lang="en-US" sz="2800" b="1" dirty="0">
                <a:latin typeface="Times New Roman" pitchFamily="18" charset="0"/>
                <a:cs typeface="Times New Roman" pitchFamily="18" charset="0"/>
              </a:rPr>
              <a:t>new</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HashSet</a:t>
            </a:r>
            <a:r>
              <a:rPr lang="en-US" sz="2800" dirty="0">
                <a:latin typeface="Times New Roman" pitchFamily="18" charset="0"/>
                <a:cs typeface="Times New Roman" pitchFamily="18" charset="0"/>
              </a:rPr>
              <a:t>&lt;data-type&gt;();  </a:t>
            </a:r>
          </a:p>
          <a:p>
            <a:r>
              <a:rPr lang="en-US" sz="2800" dirty="0">
                <a:latin typeface="Times New Roman" pitchFamily="18" charset="0"/>
                <a:cs typeface="Times New Roman" pitchFamily="18" charset="0"/>
              </a:rPr>
              <a:t>Set&lt;data-type&gt; s2 = </a:t>
            </a:r>
            <a:r>
              <a:rPr lang="en-US" sz="2800" b="1" dirty="0">
                <a:latin typeface="Times New Roman" pitchFamily="18" charset="0"/>
                <a:cs typeface="Times New Roman" pitchFamily="18" charset="0"/>
              </a:rPr>
              <a:t>new</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LinkedHashSet</a:t>
            </a:r>
            <a:r>
              <a:rPr lang="en-US" sz="2800" dirty="0">
                <a:latin typeface="Times New Roman" pitchFamily="18" charset="0"/>
                <a:cs typeface="Times New Roman" pitchFamily="18" charset="0"/>
              </a:rPr>
              <a:t>&lt;data-type&gt;();  </a:t>
            </a:r>
          </a:p>
          <a:p>
            <a:r>
              <a:rPr lang="en-US" sz="2800" dirty="0">
                <a:latin typeface="Times New Roman" pitchFamily="18" charset="0"/>
                <a:cs typeface="Times New Roman" pitchFamily="18" charset="0"/>
              </a:rPr>
              <a:t>Set&lt;data-type&gt; s3 = </a:t>
            </a:r>
            <a:r>
              <a:rPr lang="en-US" sz="2800" b="1" dirty="0">
                <a:latin typeface="Times New Roman" pitchFamily="18" charset="0"/>
                <a:cs typeface="Times New Roman" pitchFamily="18" charset="0"/>
              </a:rPr>
              <a:t>new</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TreeSet</a:t>
            </a:r>
            <a:r>
              <a:rPr lang="en-US" sz="2800" dirty="0">
                <a:latin typeface="Times New Roman" pitchFamily="18" charset="0"/>
                <a:cs typeface="Times New Roman" pitchFamily="18" charset="0"/>
              </a:rPr>
              <a:t>&lt;data-type&gt;();  </a:t>
            </a:r>
          </a:p>
          <a:p>
            <a:endParaRPr lang="en-US" dirty="0"/>
          </a:p>
        </p:txBody>
      </p:sp>
    </p:spTree>
    <p:extLst>
      <p:ext uri="{BB962C8B-B14F-4D97-AF65-F5344CB8AC3E}">
        <p14:creationId xmlns:p14="http://schemas.microsoft.com/office/powerpoint/2010/main" val="1529759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5" y="228600"/>
            <a:ext cx="8305800" cy="563562"/>
          </a:xfrm>
        </p:spPr>
        <p:txBody>
          <a:bodyPr>
            <a:normAutofit fontScale="90000"/>
          </a:bodyPr>
          <a:lstStyle/>
          <a:p>
            <a:pPr marL="571500" indent="-571500" algn="l">
              <a:buFont typeface="Arial" pitchFamily="34" charset="0"/>
              <a:buChar char="•"/>
            </a:pPr>
            <a:r>
              <a:rPr lang="en-US" sz="4000" b="1" dirty="0" err="1" smtClean="0">
                <a:latin typeface="Times New Roman" pitchFamily="18" charset="0"/>
                <a:cs typeface="Times New Roman" pitchFamily="18" charset="0"/>
              </a:rPr>
              <a:t>HashSet</a:t>
            </a:r>
            <a:r>
              <a:rPr lang="en-US" dirty="0" smtClean="0"/>
              <a:t/>
            </a:r>
            <a:br>
              <a:rPr lang="en-US" dirty="0" smtClean="0"/>
            </a:br>
            <a:endParaRPr lang="en-US" dirty="0"/>
          </a:p>
        </p:txBody>
      </p:sp>
      <p:sp>
        <p:nvSpPr>
          <p:cNvPr id="3" name="Content Placeholder 2"/>
          <p:cNvSpPr>
            <a:spLocks noGrp="1"/>
          </p:cNvSpPr>
          <p:nvPr>
            <p:ph idx="1"/>
          </p:nvPr>
        </p:nvSpPr>
        <p:spPr>
          <a:xfrm>
            <a:off x="228600" y="609600"/>
            <a:ext cx="8763000" cy="6553200"/>
          </a:xfrm>
        </p:spPr>
        <p:txBody>
          <a:bodyPr>
            <a:normAutofit fontScale="47500" lnSpcReduction="20000"/>
          </a:bodyPr>
          <a:lstStyle/>
          <a:p>
            <a:r>
              <a:rPr lang="en-US" dirty="0" err="1" smtClean="0"/>
              <a:t>HashSet</a:t>
            </a:r>
            <a:r>
              <a:rPr lang="en-US" dirty="0" smtClean="0"/>
              <a:t> </a:t>
            </a:r>
            <a:r>
              <a:rPr lang="en-US" dirty="0"/>
              <a:t>class implements Set Interface. It represents the collection that uses a hash table for storage. Hashing is used to store the elements in the </a:t>
            </a:r>
            <a:r>
              <a:rPr lang="en-US" dirty="0" err="1"/>
              <a:t>HashSet</a:t>
            </a:r>
            <a:r>
              <a:rPr lang="en-US" dirty="0"/>
              <a:t>. It contains unique items.</a:t>
            </a:r>
          </a:p>
          <a:p>
            <a:r>
              <a:rPr lang="en-US" dirty="0"/>
              <a:t>Consider the following example.</a:t>
            </a:r>
          </a:p>
          <a:p>
            <a:r>
              <a:rPr lang="en-US" b="1" dirty="0"/>
              <a:t>Filename:</a:t>
            </a:r>
            <a:r>
              <a:rPr lang="en-US" dirty="0"/>
              <a:t> TestJavaCollection7.java</a:t>
            </a:r>
          </a:p>
          <a:p>
            <a:r>
              <a:rPr lang="en-US" b="1" dirty="0"/>
              <a:t>import</a:t>
            </a:r>
            <a:r>
              <a:rPr lang="en-US" dirty="0"/>
              <a:t> </a:t>
            </a:r>
            <a:r>
              <a:rPr lang="en-US" dirty="0" err="1"/>
              <a:t>java.util</a:t>
            </a:r>
            <a:r>
              <a:rPr lang="en-US" dirty="0"/>
              <a:t>.*;  </a:t>
            </a:r>
          </a:p>
          <a:p>
            <a:r>
              <a:rPr lang="en-US" b="1" dirty="0"/>
              <a:t>public</a:t>
            </a:r>
            <a:r>
              <a:rPr lang="en-US" dirty="0"/>
              <a:t> </a:t>
            </a:r>
            <a:r>
              <a:rPr lang="en-US" b="1" dirty="0"/>
              <a:t>class</a:t>
            </a:r>
            <a:r>
              <a:rPr lang="en-US" dirty="0"/>
              <a:t> TestJavaCollection7{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//Creating </a:t>
            </a:r>
            <a:r>
              <a:rPr lang="en-US" dirty="0" err="1"/>
              <a:t>HashSet</a:t>
            </a:r>
            <a:r>
              <a:rPr lang="en-US" dirty="0"/>
              <a:t> and adding elements  </a:t>
            </a:r>
          </a:p>
          <a:p>
            <a:r>
              <a:rPr lang="en-US" dirty="0" err="1"/>
              <a:t>HashSet</a:t>
            </a:r>
            <a:r>
              <a:rPr lang="en-US" dirty="0"/>
              <a:t>&lt;String&gt; set=</a:t>
            </a:r>
            <a:r>
              <a:rPr lang="en-US" b="1" dirty="0"/>
              <a:t>new</a:t>
            </a:r>
            <a:r>
              <a:rPr lang="en-US" dirty="0"/>
              <a:t> </a:t>
            </a:r>
            <a:r>
              <a:rPr lang="en-US" dirty="0" err="1"/>
              <a:t>HashSet</a:t>
            </a:r>
            <a:r>
              <a:rPr lang="en-US" dirty="0"/>
              <a:t>&lt;String&gt;();  </a:t>
            </a:r>
          </a:p>
          <a:p>
            <a:r>
              <a:rPr lang="en-US" dirty="0" err="1"/>
              <a:t>set.add</a:t>
            </a:r>
            <a:r>
              <a:rPr lang="en-US" dirty="0"/>
              <a:t>("Ravi");  </a:t>
            </a:r>
          </a:p>
          <a:p>
            <a:r>
              <a:rPr lang="en-US" dirty="0" err="1"/>
              <a:t>set.add</a:t>
            </a:r>
            <a:r>
              <a:rPr lang="en-US" dirty="0"/>
              <a:t>("Vijay");  </a:t>
            </a:r>
          </a:p>
          <a:p>
            <a:r>
              <a:rPr lang="en-US" dirty="0" err="1"/>
              <a:t>set.add</a:t>
            </a:r>
            <a:r>
              <a:rPr lang="en-US" dirty="0"/>
              <a:t>("Ravi");  </a:t>
            </a:r>
          </a:p>
          <a:p>
            <a:r>
              <a:rPr lang="en-US" dirty="0" err="1"/>
              <a:t>set.add</a:t>
            </a:r>
            <a:r>
              <a:rPr lang="en-US" dirty="0"/>
              <a:t>("Ajay");  </a:t>
            </a:r>
          </a:p>
          <a:p>
            <a:r>
              <a:rPr lang="en-US" dirty="0"/>
              <a:t>//Traversing elements  </a:t>
            </a:r>
          </a:p>
          <a:p>
            <a:r>
              <a:rPr lang="en-US" dirty="0"/>
              <a:t>Iterator&lt;String&gt; </a:t>
            </a:r>
            <a:r>
              <a:rPr lang="en-US" dirty="0" err="1"/>
              <a:t>itr</a:t>
            </a:r>
            <a:r>
              <a:rPr lang="en-US" dirty="0"/>
              <a:t>=</a:t>
            </a:r>
            <a:r>
              <a:rPr lang="en-US" dirty="0" err="1"/>
              <a:t>set.iterator</a:t>
            </a:r>
            <a:r>
              <a:rPr lang="en-US" dirty="0"/>
              <a:t>();  </a:t>
            </a:r>
          </a:p>
          <a:p>
            <a:r>
              <a:rPr lang="en-US" b="1" dirty="0"/>
              <a:t>while</a:t>
            </a:r>
            <a:r>
              <a:rPr lang="en-US" dirty="0"/>
              <a:t>(</a:t>
            </a:r>
            <a:r>
              <a:rPr lang="en-US" dirty="0" err="1"/>
              <a:t>itr.hasNext</a:t>
            </a:r>
            <a:r>
              <a:rPr lang="en-US" dirty="0"/>
              <a:t>()){  </a:t>
            </a:r>
          </a:p>
          <a:p>
            <a:r>
              <a:rPr lang="en-US" dirty="0" err="1"/>
              <a:t>System.out.println</a:t>
            </a:r>
            <a:r>
              <a:rPr lang="en-US" dirty="0"/>
              <a:t>(</a:t>
            </a:r>
            <a:r>
              <a:rPr lang="en-US" dirty="0" err="1"/>
              <a:t>itr.next</a:t>
            </a:r>
            <a:r>
              <a:rPr lang="en-US" dirty="0"/>
              <a:t>());  </a:t>
            </a:r>
          </a:p>
          <a:p>
            <a:r>
              <a:rPr lang="en-US" dirty="0"/>
              <a:t>}  </a:t>
            </a:r>
          </a:p>
          <a:p>
            <a:r>
              <a:rPr lang="en-US" dirty="0"/>
              <a:t>}  </a:t>
            </a:r>
          </a:p>
          <a:p>
            <a:r>
              <a:rPr lang="en-US" dirty="0"/>
              <a:t>}  </a:t>
            </a:r>
          </a:p>
          <a:p>
            <a:r>
              <a:rPr lang="en-US" b="1" dirty="0"/>
              <a:t>Output:</a:t>
            </a:r>
            <a:endParaRPr lang="en-US" dirty="0"/>
          </a:p>
          <a:p>
            <a:r>
              <a:rPr lang="en-US" dirty="0"/>
              <a:t>Vijay </a:t>
            </a:r>
            <a:endParaRPr lang="en-US" dirty="0" smtClean="0"/>
          </a:p>
          <a:p>
            <a:r>
              <a:rPr lang="en-US" dirty="0" smtClean="0"/>
              <a:t>Ravi </a:t>
            </a:r>
          </a:p>
          <a:p>
            <a:r>
              <a:rPr lang="en-US" dirty="0" smtClean="0"/>
              <a:t>Ajay</a:t>
            </a:r>
            <a:endParaRPr lang="en-US" dirty="0"/>
          </a:p>
          <a:p>
            <a:endParaRPr lang="en-US" dirty="0"/>
          </a:p>
        </p:txBody>
      </p:sp>
    </p:spTree>
    <p:extLst>
      <p:ext uri="{BB962C8B-B14F-4D97-AF65-F5344CB8AC3E}">
        <p14:creationId xmlns:p14="http://schemas.microsoft.com/office/powerpoint/2010/main" val="1687490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678873"/>
          </a:xfrm>
        </p:spPr>
        <p:txBody>
          <a:bodyPr>
            <a:normAutofit fontScale="90000"/>
          </a:bodyPr>
          <a:lstStyle/>
          <a:p>
            <a:pPr marL="571500" indent="-571500" algn="l">
              <a:buFont typeface="Arial" pitchFamily="34" charset="0"/>
              <a:buChar char="•"/>
            </a:pPr>
            <a:r>
              <a:rPr lang="en-US" sz="4000" b="1" dirty="0" err="1">
                <a:latin typeface="Times New Roman" pitchFamily="18" charset="0"/>
                <a:cs typeface="Times New Roman" pitchFamily="18" charset="0"/>
              </a:rPr>
              <a:t>LinkedHashSet</a:t>
            </a:r>
            <a:r>
              <a:rPr lang="en-US" dirty="0"/>
              <a:t/>
            </a:r>
            <a:br>
              <a:rPr lang="en-US" dirty="0"/>
            </a:br>
            <a:endParaRPr lang="en-US" dirty="0"/>
          </a:p>
        </p:txBody>
      </p:sp>
      <p:sp>
        <p:nvSpPr>
          <p:cNvPr id="3" name="Content Placeholder 2"/>
          <p:cNvSpPr>
            <a:spLocks noGrp="1"/>
          </p:cNvSpPr>
          <p:nvPr>
            <p:ph idx="1"/>
          </p:nvPr>
        </p:nvSpPr>
        <p:spPr>
          <a:xfrm>
            <a:off x="228600" y="838200"/>
            <a:ext cx="8610600" cy="5867400"/>
          </a:xfrm>
        </p:spPr>
        <p:txBody>
          <a:bodyPr>
            <a:normAutofit fontScale="55000" lnSpcReduction="20000"/>
          </a:bodyPr>
          <a:lstStyle/>
          <a:p>
            <a:r>
              <a:rPr lang="en-US" dirty="0" err="1" smtClean="0"/>
              <a:t>LinkedHashSet</a:t>
            </a:r>
            <a:r>
              <a:rPr lang="en-US" dirty="0" smtClean="0"/>
              <a:t> </a:t>
            </a:r>
            <a:r>
              <a:rPr lang="en-US" dirty="0"/>
              <a:t>class represents the </a:t>
            </a:r>
            <a:r>
              <a:rPr lang="en-US" dirty="0" err="1"/>
              <a:t>LinkedList</a:t>
            </a:r>
            <a:r>
              <a:rPr lang="en-US" dirty="0"/>
              <a:t> implementation of Set Interface. It extends the </a:t>
            </a:r>
            <a:r>
              <a:rPr lang="en-US" dirty="0" err="1"/>
              <a:t>HashSet</a:t>
            </a:r>
            <a:r>
              <a:rPr lang="en-US" dirty="0"/>
              <a:t> class and implements Set interface. Like </a:t>
            </a:r>
            <a:r>
              <a:rPr lang="en-US" dirty="0" err="1"/>
              <a:t>HashSet</a:t>
            </a:r>
            <a:r>
              <a:rPr lang="en-US" dirty="0"/>
              <a:t>, It also contains unique elements. It maintains the insertion order and permits null elements</a:t>
            </a:r>
            <a:r>
              <a:rPr lang="en-US" dirty="0" smtClean="0"/>
              <a:t>.</a:t>
            </a:r>
          </a:p>
          <a:p>
            <a:r>
              <a:rPr lang="en-US" dirty="0"/>
              <a:t>import </a:t>
            </a:r>
            <a:r>
              <a:rPr lang="en-US" dirty="0" err="1"/>
              <a:t>java.util</a:t>
            </a:r>
            <a:r>
              <a:rPr lang="en-US" dirty="0"/>
              <a:t>.*;  </a:t>
            </a:r>
          </a:p>
          <a:p>
            <a:r>
              <a:rPr lang="en-US" b="1" dirty="0"/>
              <a:t>public</a:t>
            </a:r>
            <a:r>
              <a:rPr lang="en-US" dirty="0"/>
              <a:t> </a:t>
            </a:r>
            <a:r>
              <a:rPr lang="en-US" b="1" dirty="0"/>
              <a:t>class</a:t>
            </a:r>
            <a:r>
              <a:rPr lang="en-US" dirty="0"/>
              <a:t> TestJavaCollection8{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err="1"/>
              <a:t>LinkedHashSet</a:t>
            </a:r>
            <a:r>
              <a:rPr lang="en-US" dirty="0"/>
              <a:t>&lt;String&gt; set=</a:t>
            </a:r>
            <a:r>
              <a:rPr lang="en-US" b="1" dirty="0"/>
              <a:t>new</a:t>
            </a:r>
            <a:r>
              <a:rPr lang="en-US" dirty="0"/>
              <a:t> </a:t>
            </a:r>
            <a:r>
              <a:rPr lang="en-US" dirty="0" err="1"/>
              <a:t>LinkedHashSet</a:t>
            </a:r>
            <a:r>
              <a:rPr lang="en-US" dirty="0"/>
              <a:t>&lt;String&gt;();  </a:t>
            </a:r>
          </a:p>
          <a:p>
            <a:r>
              <a:rPr lang="en-US" dirty="0" err="1"/>
              <a:t>set.add</a:t>
            </a:r>
            <a:r>
              <a:rPr lang="en-US" dirty="0"/>
              <a:t>("Ravi");  </a:t>
            </a:r>
          </a:p>
          <a:p>
            <a:r>
              <a:rPr lang="en-US" dirty="0" err="1"/>
              <a:t>set.add</a:t>
            </a:r>
            <a:r>
              <a:rPr lang="en-US" dirty="0"/>
              <a:t>("Vijay");  </a:t>
            </a:r>
          </a:p>
          <a:p>
            <a:r>
              <a:rPr lang="en-US" dirty="0" err="1"/>
              <a:t>set.add</a:t>
            </a:r>
            <a:r>
              <a:rPr lang="en-US" dirty="0"/>
              <a:t>("Ravi");  </a:t>
            </a:r>
          </a:p>
          <a:p>
            <a:r>
              <a:rPr lang="en-US" dirty="0" err="1"/>
              <a:t>set.add</a:t>
            </a:r>
            <a:r>
              <a:rPr lang="en-US" dirty="0"/>
              <a:t>("Ajay");  </a:t>
            </a:r>
          </a:p>
          <a:p>
            <a:r>
              <a:rPr lang="en-US" dirty="0"/>
              <a:t>Iterator&lt;String&gt; </a:t>
            </a:r>
            <a:r>
              <a:rPr lang="en-US" dirty="0" err="1"/>
              <a:t>itr</a:t>
            </a:r>
            <a:r>
              <a:rPr lang="en-US" dirty="0"/>
              <a:t>=</a:t>
            </a:r>
            <a:r>
              <a:rPr lang="en-US" dirty="0" err="1"/>
              <a:t>set.iterator</a:t>
            </a:r>
            <a:r>
              <a:rPr lang="en-US" dirty="0"/>
              <a:t>();  </a:t>
            </a:r>
          </a:p>
          <a:p>
            <a:r>
              <a:rPr lang="en-US" b="1" dirty="0"/>
              <a:t>while</a:t>
            </a:r>
            <a:r>
              <a:rPr lang="en-US" dirty="0"/>
              <a:t>(</a:t>
            </a:r>
            <a:r>
              <a:rPr lang="en-US" dirty="0" err="1"/>
              <a:t>itr.hasNext</a:t>
            </a:r>
            <a:r>
              <a:rPr lang="en-US" dirty="0"/>
              <a:t>()){  </a:t>
            </a:r>
          </a:p>
          <a:p>
            <a:r>
              <a:rPr lang="en-US" dirty="0" err="1"/>
              <a:t>System.out.println</a:t>
            </a:r>
            <a:r>
              <a:rPr lang="en-US" dirty="0"/>
              <a:t>(</a:t>
            </a:r>
            <a:r>
              <a:rPr lang="en-US" dirty="0" err="1"/>
              <a:t>itr.next</a:t>
            </a:r>
            <a:r>
              <a:rPr lang="en-US" dirty="0"/>
              <a:t>());  </a:t>
            </a:r>
          </a:p>
          <a:p>
            <a:r>
              <a:rPr lang="en-US" dirty="0"/>
              <a:t>}  </a:t>
            </a:r>
          </a:p>
          <a:p>
            <a:r>
              <a:rPr lang="en-US" dirty="0"/>
              <a:t>}  </a:t>
            </a:r>
          </a:p>
          <a:p>
            <a:r>
              <a:rPr lang="en-US" dirty="0"/>
              <a:t>}  </a:t>
            </a:r>
          </a:p>
          <a:p>
            <a:r>
              <a:rPr lang="en-US" b="1" dirty="0"/>
              <a:t>Output:</a:t>
            </a:r>
            <a:endParaRPr lang="en-US" dirty="0"/>
          </a:p>
          <a:p>
            <a:r>
              <a:rPr lang="en-US" dirty="0" smtClean="0"/>
              <a:t>Ravi</a:t>
            </a:r>
          </a:p>
          <a:p>
            <a:r>
              <a:rPr lang="en-US" dirty="0" smtClean="0"/>
              <a:t>Vijay </a:t>
            </a:r>
          </a:p>
          <a:p>
            <a:r>
              <a:rPr lang="en-US" dirty="0" smtClean="0"/>
              <a:t>Ajay</a:t>
            </a:r>
            <a:endParaRPr lang="en-US" dirty="0"/>
          </a:p>
          <a:p>
            <a:endParaRPr lang="en-US" dirty="0"/>
          </a:p>
          <a:p>
            <a:endParaRPr lang="en-US" dirty="0"/>
          </a:p>
        </p:txBody>
      </p:sp>
    </p:spTree>
    <p:extLst>
      <p:ext uri="{BB962C8B-B14F-4D97-AF65-F5344CB8AC3E}">
        <p14:creationId xmlns:p14="http://schemas.microsoft.com/office/powerpoint/2010/main" val="1206093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63562"/>
          </a:xfrm>
        </p:spPr>
        <p:txBody>
          <a:bodyPr>
            <a:normAutofit fontScale="90000"/>
          </a:bodyPr>
          <a:lstStyle/>
          <a:p>
            <a:pPr marL="571500" indent="-571500" algn="l">
              <a:buFont typeface="Arial" pitchFamily="34" charset="0"/>
              <a:buChar char="•"/>
            </a:pPr>
            <a:r>
              <a:rPr lang="en-US" sz="4000" b="1" dirty="0" err="1">
                <a:latin typeface="Times New Roman" pitchFamily="18" charset="0"/>
                <a:cs typeface="Times New Roman" pitchFamily="18" charset="0"/>
              </a:rPr>
              <a:t>SortedSet</a:t>
            </a:r>
            <a:r>
              <a:rPr lang="en-US" sz="4000" b="1" dirty="0">
                <a:latin typeface="Times New Roman" pitchFamily="18" charset="0"/>
                <a:cs typeface="Times New Roman" pitchFamily="18" charset="0"/>
              </a:rPr>
              <a:t> Interface</a:t>
            </a:r>
            <a:r>
              <a:rPr lang="en-US" dirty="0"/>
              <a:t/>
            </a:r>
            <a:br>
              <a:rPr lang="en-US" dirty="0"/>
            </a:br>
            <a:endParaRPr lang="en-US" dirty="0"/>
          </a:p>
        </p:txBody>
      </p:sp>
      <p:sp>
        <p:nvSpPr>
          <p:cNvPr id="3" name="Content Placeholder 2"/>
          <p:cNvSpPr>
            <a:spLocks noGrp="1"/>
          </p:cNvSpPr>
          <p:nvPr>
            <p:ph idx="1"/>
          </p:nvPr>
        </p:nvSpPr>
        <p:spPr>
          <a:xfrm>
            <a:off x="228600" y="685800"/>
            <a:ext cx="8458200" cy="5440363"/>
          </a:xfrm>
        </p:spPr>
        <p:txBody>
          <a:bodyPr>
            <a:normAutofit/>
          </a:bodyPr>
          <a:lstStyle/>
          <a:p>
            <a:r>
              <a:rPr lang="en-US" dirty="0" err="1" smtClean="0"/>
              <a:t>SortedSet</a:t>
            </a:r>
            <a:r>
              <a:rPr lang="en-US" dirty="0" smtClean="0"/>
              <a:t> </a:t>
            </a:r>
            <a:r>
              <a:rPr lang="en-US" dirty="0"/>
              <a:t>is the alternate of Set interface that provides a total ordering on its elements. The elements of the </a:t>
            </a:r>
            <a:r>
              <a:rPr lang="en-US" dirty="0" err="1"/>
              <a:t>SortedSet</a:t>
            </a:r>
            <a:r>
              <a:rPr lang="en-US" dirty="0"/>
              <a:t> are arranged in the increasing (ascending) order. The </a:t>
            </a:r>
            <a:r>
              <a:rPr lang="en-US" dirty="0" err="1"/>
              <a:t>SortedSet</a:t>
            </a:r>
            <a:r>
              <a:rPr lang="en-US" dirty="0"/>
              <a:t> provides the additional methods that inhibit the natural ordering of the elements.</a:t>
            </a:r>
          </a:p>
          <a:p>
            <a:r>
              <a:rPr lang="en-US" dirty="0"/>
              <a:t>The </a:t>
            </a:r>
            <a:r>
              <a:rPr lang="en-US" dirty="0" err="1"/>
              <a:t>SortedSet</a:t>
            </a:r>
            <a:r>
              <a:rPr lang="en-US" dirty="0"/>
              <a:t> can be instantiated as:</a:t>
            </a:r>
          </a:p>
          <a:p>
            <a:r>
              <a:rPr lang="en-US" dirty="0" err="1"/>
              <a:t>SortedSet</a:t>
            </a:r>
            <a:r>
              <a:rPr lang="en-US" dirty="0"/>
              <a:t>&lt;data-type&gt; set = </a:t>
            </a:r>
            <a:r>
              <a:rPr lang="en-US" b="1" dirty="0"/>
              <a:t>new</a:t>
            </a:r>
            <a:r>
              <a:rPr lang="en-US" dirty="0"/>
              <a:t> </a:t>
            </a:r>
            <a:r>
              <a:rPr lang="en-US" dirty="0" err="1"/>
              <a:t>TreeSet</a:t>
            </a:r>
            <a:r>
              <a:rPr lang="en-US" dirty="0"/>
              <a:t>();  </a:t>
            </a:r>
          </a:p>
          <a:p>
            <a:endParaRPr lang="en-US" dirty="0"/>
          </a:p>
        </p:txBody>
      </p:sp>
    </p:spTree>
    <p:extLst>
      <p:ext uri="{BB962C8B-B14F-4D97-AF65-F5344CB8AC3E}">
        <p14:creationId xmlns:p14="http://schemas.microsoft.com/office/powerpoint/2010/main" val="2330238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marL="571500" indent="-571500" algn="l">
              <a:buFont typeface="Arial" pitchFamily="34" charset="0"/>
              <a:buChar char="•"/>
            </a:pPr>
            <a:r>
              <a:rPr lang="en-US" sz="4000" b="1" dirty="0" err="1">
                <a:latin typeface="Times New Roman" pitchFamily="18" charset="0"/>
                <a:cs typeface="Times New Roman" pitchFamily="18" charset="0"/>
              </a:rPr>
              <a:t>TreeSet</a:t>
            </a:r>
            <a:r>
              <a:rPr lang="en-US" dirty="0"/>
              <a:t/>
            </a:r>
            <a:br>
              <a:rPr lang="en-US" dirty="0"/>
            </a:br>
            <a:endParaRPr lang="en-US" dirty="0"/>
          </a:p>
        </p:txBody>
      </p:sp>
      <p:sp>
        <p:nvSpPr>
          <p:cNvPr id="3" name="Content Placeholder 2"/>
          <p:cNvSpPr>
            <a:spLocks noGrp="1"/>
          </p:cNvSpPr>
          <p:nvPr>
            <p:ph idx="1"/>
          </p:nvPr>
        </p:nvSpPr>
        <p:spPr>
          <a:xfrm>
            <a:off x="304800" y="609600"/>
            <a:ext cx="8382000" cy="6553200"/>
          </a:xfrm>
        </p:spPr>
        <p:txBody>
          <a:bodyPr>
            <a:normAutofit fontScale="55000" lnSpcReduction="20000"/>
          </a:bodyPr>
          <a:lstStyle/>
          <a:p>
            <a:r>
              <a:rPr lang="en-US" dirty="0" smtClean="0"/>
              <a:t>Java </a:t>
            </a:r>
            <a:r>
              <a:rPr lang="en-US" dirty="0" err="1"/>
              <a:t>TreeSet</a:t>
            </a:r>
            <a:r>
              <a:rPr lang="en-US" dirty="0"/>
              <a:t> class implements the Set interface that uses a tree for storage. Like </a:t>
            </a:r>
            <a:r>
              <a:rPr lang="en-US" dirty="0" err="1"/>
              <a:t>HashSet</a:t>
            </a:r>
            <a:r>
              <a:rPr lang="en-US" dirty="0"/>
              <a:t>, </a:t>
            </a:r>
            <a:r>
              <a:rPr lang="en-US" dirty="0" err="1"/>
              <a:t>TreeSet</a:t>
            </a:r>
            <a:r>
              <a:rPr lang="en-US" dirty="0"/>
              <a:t> also contains unique elements. However, the access and retrieval time of </a:t>
            </a:r>
            <a:r>
              <a:rPr lang="en-US" dirty="0" err="1"/>
              <a:t>TreeSet</a:t>
            </a:r>
            <a:r>
              <a:rPr lang="en-US" dirty="0"/>
              <a:t> is quite fast. The elements in </a:t>
            </a:r>
            <a:r>
              <a:rPr lang="en-US" dirty="0" err="1"/>
              <a:t>TreeSet</a:t>
            </a:r>
            <a:r>
              <a:rPr lang="en-US" dirty="0"/>
              <a:t> stored in ascending order.</a:t>
            </a:r>
          </a:p>
          <a:p>
            <a:r>
              <a:rPr lang="en-US" dirty="0"/>
              <a:t>import </a:t>
            </a:r>
            <a:r>
              <a:rPr lang="en-US" dirty="0" err="1"/>
              <a:t>java.util</a:t>
            </a:r>
            <a:r>
              <a:rPr lang="en-US" dirty="0"/>
              <a:t>.*;  </a:t>
            </a:r>
          </a:p>
          <a:p>
            <a:r>
              <a:rPr lang="en-US" b="1" dirty="0"/>
              <a:t>public</a:t>
            </a:r>
            <a:r>
              <a:rPr lang="en-US" dirty="0"/>
              <a:t> </a:t>
            </a:r>
            <a:r>
              <a:rPr lang="en-US" b="1" dirty="0"/>
              <a:t>class</a:t>
            </a:r>
            <a:r>
              <a:rPr lang="en-US" dirty="0"/>
              <a:t> TestJavaCollection9{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//Creating and adding elements  </a:t>
            </a:r>
          </a:p>
          <a:p>
            <a:r>
              <a:rPr lang="en-US" dirty="0" err="1"/>
              <a:t>TreeSet</a:t>
            </a:r>
            <a:r>
              <a:rPr lang="en-US" dirty="0"/>
              <a:t>&lt;String&gt; set=</a:t>
            </a:r>
            <a:r>
              <a:rPr lang="en-US" b="1" dirty="0"/>
              <a:t>new</a:t>
            </a:r>
            <a:r>
              <a:rPr lang="en-US" dirty="0"/>
              <a:t> </a:t>
            </a:r>
            <a:r>
              <a:rPr lang="en-US" dirty="0" err="1"/>
              <a:t>TreeSet</a:t>
            </a:r>
            <a:r>
              <a:rPr lang="en-US" dirty="0"/>
              <a:t>&lt;String&gt;();  </a:t>
            </a:r>
          </a:p>
          <a:p>
            <a:r>
              <a:rPr lang="en-US" dirty="0" err="1"/>
              <a:t>set.add</a:t>
            </a:r>
            <a:r>
              <a:rPr lang="en-US" dirty="0"/>
              <a:t>("Ravi");  </a:t>
            </a:r>
          </a:p>
          <a:p>
            <a:r>
              <a:rPr lang="en-US" dirty="0" err="1"/>
              <a:t>set.add</a:t>
            </a:r>
            <a:r>
              <a:rPr lang="en-US" dirty="0"/>
              <a:t>("Vijay");  </a:t>
            </a:r>
          </a:p>
          <a:p>
            <a:r>
              <a:rPr lang="en-US" dirty="0" err="1"/>
              <a:t>set.add</a:t>
            </a:r>
            <a:r>
              <a:rPr lang="en-US" dirty="0"/>
              <a:t>("Ravi");  </a:t>
            </a:r>
          </a:p>
          <a:p>
            <a:r>
              <a:rPr lang="en-US" dirty="0" err="1"/>
              <a:t>set.add</a:t>
            </a:r>
            <a:r>
              <a:rPr lang="en-US" dirty="0"/>
              <a:t>("Ajay");  </a:t>
            </a:r>
          </a:p>
          <a:p>
            <a:r>
              <a:rPr lang="en-US" dirty="0"/>
              <a:t>//traversing elements  </a:t>
            </a:r>
          </a:p>
          <a:p>
            <a:r>
              <a:rPr lang="en-US" dirty="0"/>
              <a:t>Iterator&lt;String&gt; </a:t>
            </a:r>
            <a:r>
              <a:rPr lang="en-US" dirty="0" err="1"/>
              <a:t>itr</a:t>
            </a:r>
            <a:r>
              <a:rPr lang="en-US" dirty="0"/>
              <a:t>=</a:t>
            </a:r>
            <a:r>
              <a:rPr lang="en-US" dirty="0" err="1"/>
              <a:t>set.iterator</a:t>
            </a:r>
            <a:r>
              <a:rPr lang="en-US" dirty="0"/>
              <a:t>();  </a:t>
            </a:r>
          </a:p>
          <a:p>
            <a:r>
              <a:rPr lang="en-US" b="1" dirty="0"/>
              <a:t>while</a:t>
            </a:r>
            <a:r>
              <a:rPr lang="en-US" dirty="0"/>
              <a:t>(</a:t>
            </a:r>
            <a:r>
              <a:rPr lang="en-US" dirty="0" err="1"/>
              <a:t>itr.hasNext</a:t>
            </a:r>
            <a:r>
              <a:rPr lang="en-US" dirty="0"/>
              <a:t>()){  </a:t>
            </a:r>
          </a:p>
          <a:p>
            <a:r>
              <a:rPr lang="en-US" dirty="0" err="1"/>
              <a:t>System.out.println</a:t>
            </a:r>
            <a:r>
              <a:rPr lang="en-US" dirty="0"/>
              <a:t>(</a:t>
            </a:r>
            <a:r>
              <a:rPr lang="en-US" dirty="0" err="1"/>
              <a:t>itr.next</a:t>
            </a:r>
            <a:r>
              <a:rPr lang="en-US" dirty="0"/>
              <a:t>());  </a:t>
            </a:r>
          </a:p>
          <a:p>
            <a:r>
              <a:rPr lang="en-US" dirty="0"/>
              <a:t>}  </a:t>
            </a:r>
          </a:p>
          <a:p>
            <a:r>
              <a:rPr lang="en-US" dirty="0"/>
              <a:t>}  </a:t>
            </a:r>
          </a:p>
          <a:p>
            <a:r>
              <a:rPr lang="en-US" dirty="0"/>
              <a:t>}  </a:t>
            </a:r>
          </a:p>
          <a:p>
            <a:r>
              <a:rPr lang="en-US" b="1" dirty="0"/>
              <a:t>Output:</a:t>
            </a:r>
            <a:endParaRPr lang="en-US" dirty="0"/>
          </a:p>
          <a:p>
            <a:r>
              <a:rPr lang="en-US" dirty="0"/>
              <a:t>Ajay </a:t>
            </a:r>
            <a:endParaRPr lang="en-US" dirty="0" smtClean="0"/>
          </a:p>
          <a:p>
            <a:r>
              <a:rPr lang="en-US" dirty="0" smtClean="0"/>
              <a:t>Ravi </a:t>
            </a:r>
          </a:p>
          <a:p>
            <a:r>
              <a:rPr lang="en-US" dirty="0" smtClean="0"/>
              <a:t>Vijay</a:t>
            </a:r>
            <a:endParaRPr lang="en-US" dirty="0"/>
          </a:p>
          <a:p>
            <a:endParaRPr lang="en-US" dirty="0"/>
          </a:p>
        </p:txBody>
      </p:sp>
    </p:spTree>
    <p:extLst>
      <p:ext uri="{BB962C8B-B14F-4D97-AF65-F5344CB8AC3E}">
        <p14:creationId xmlns:p14="http://schemas.microsoft.com/office/powerpoint/2010/main" val="2485837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11162"/>
          </a:xfrm>
        </p:spPr>
        <p:txBody>
          <a:bodyPr>
            <a:normAutofit fontScale="90000"/>
          </a:bodyPr>
          <a:lstStyle/>
          <a:p>
            <a:pPr marL="571500" indent="-571500" algn="l">
              <a:buFont typeface="Arial" pitchFamily="34" charset="0"/>
              <a:buChar char="•"/>
            </a:pPr>
            <a:r>
              <a:rPr lang="en-US" sz="4000" b="1" dirty="0">
                <a:latin typeface="Times New Roman" pitchFamily="18" charset="0"/>
                <a:cs typeface="Times New Roman" pitchFamily="18" charset="0"/>
              </a:rPr>
              <a:t>Map Interface</a:t>
            </a:r>
            <a:r>
              <a:rPr lang="en-US" dirty="0"/>
              <a:t/>
            </a:r>
            <a:br>
              <a:rPr lang="en-US" dirty="0"/>
            </a:br>
            <a:endParaRPr lang="en-US" dirty="0"/>
          </a:p>
        </p:txBody>
      </p:sp>
      <p:sp>
        <p:nvSpPr>
          <p:cNvPr id="3" name="Content Placeholder 2"/>
          <p:cNvSpPr>
            <a:spLocks noGrp="1"/>
          </p:cNvSpPr>
          <p:nvPr>
            <p:ph idx="1"/>
          </p:nvPr>
        </p:nvSpPr>
        <p:spPr>
          <a:xfrm>
            <a:off x="381000" y="685800"/>
            <a:ext cx="8382000" cy="5638800"/>
          </a:xfrm>
        </p:spPr>
        <p:txBody>
          <a:bodyPr>
            <a:normAutofit fontScale="92500" lnSpcReduction="10000"/>
          </a:bodyPr>
          <a:lstStyle/>
          <a:p>
            <a:r>
              <a:rPr lang="en-US" dirty="0" smtClean="0"/>
              <a:t>The </a:t>
            </a:r>
            <a:r>
              <a:rPr lang="en-US" dirty="0"/>
              <a:t>Map interface in Java is part of the Java Collections Framework. It represents a mapping between a set of keys and their corresponding values. A Map cannot contain duplicate keys; each key can map to at most one value. The Map interface is used to store key-value pairs, where each key is unique, and it provides an efficient way to retrieve, update, and manipulate data based on keys.</a:t>
            </a:r>
          </a:p>
          <a:p>
            <a:r>
              <a:rPr lang="en-US" b="1" dirty="0"/>
              <a:t>Syntax:</a:t>
            </a:r>
            <a:endParaRPr lang="en-US" dirty="0"/>
          </a:p>
          <a:p>
            <a:r>
              <a:rPr lang="en-US" dirty="0"/>
              <a:t>Map&lt;T, T&gt; </a:t>
            </a:r>
            <a:r>
              <a:rPr lang="en-US" dirty="0" err="1"/>
              <a:t>hm</a:t>
            </a:r>
            <a:r>
              <a:rPr lang="en-US" dirty="0"/>
              <a:t> = </a:t>
            </a:r>
            <a:r>
              <a:rPr lang="en-US" b="1" dirty="0"/>
              <a:t>new</a:t>
            </a:r>
            <a:r>
              <a:rPr lang="en-US" dirty="0"/>
              <a:t> </a:t>
            </a:r>
            <a:r>
              <a:rPr lang="en-US" dirty="0" err="1"/>
              <a:t>HashMap</a:t>
            </a:r>
            <a:r>
              <a:rPr lang="en-US" dirty="0"/>
              <a:t>&lt;&gt;();   </a:t>
            </a:r>
          </a:p>
          <a:p>
            <a:r>
              <a:rPr lang="en-US" dirty="0"/>
              <a:t>Map&lt;T, T&gt; tm = </a:t>
            </a:r>
            <a:r>
              <a:rPr lang="en-US" b="1" dirty="0"/>
              <a:t>new</a:t>
            </a:r>
            <a:r>
              <a:rPr lang="en-US" dirty="0"/>
              <a:t> </a:t>
            </a:r>
            <a:r>
              <a:rPr lang="en-US" dirty="0" err="1"/>
              <a:t>TreeMap</a:t>
            </a:r>
            <a:r>
              <a:rPr lang="en-US" dirty="0"/>
              <a:t>&lt;&gt;();  </a:t>
            </a:r>
          </a:p>
          <a:p>
            <a:endParaRPr lang="en-US" dirty="0"/>
          </a:p>
        </p:txBody>
      </p:sp>
    </p:spTree>
    <p:extLst>
      <p:ext uri="{BB962C8B-B14F-4D97-AF65-F5344CB8AC3E}">
        <p14:creationId xmlns:p14="http://schemas.microsoft.com/office/powerpoint/2010/main" val="1543180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marL="571500" indent="-571500" algn="l">
              <a:buFont typeface="Arial" pitchFamily="34" charset="0"/>
              <a:buChar char="•"/>
            </a:pPr>
            <a:r>
              <a:rPr lang="en-US" sz="4000" b="1" dirty="0" err="1">
                <a:latin typeface="Times New Roman" pitchFamily="18" charset="0"/>
                <a:cs typeface="Times New Roman" pitchFamily="18" charset="0"/>
              </a:rPr>
              <a:t>HashMap</a:t>
            </a:r>
            <a:r>
              <a:rPr lang="en-US" dirty="0"/>
              <a:t/>
            </a:r>
            <a:br>
              <a:rPr lang="en-US" dirty="0"/>
            </a:br>
            <a:endParaRPr lang="en-US" dirty="0"/>
          </a:p>
        </p:txBody>
      </p:sp>
      <p:sp>
        <p:nvSpPr>
          <p:cNvPr id="3" name="Content Placeholder 2"/>
          <p:cNvSpPr>
            <a:spLocks noGrp="1"/>
          </p:cNvSpPr>
          <p:nvPr>
            <p:ph idx="1"/>
          </p:nvPr>
        </p:nvSpPr>
        <p:spPr>
          <a:xfrm>
            <a:off x="228600" y="762000"/>
            <a:ext cx="8458200" cy="5364163"/>
          </a:xfrm>
        </p:spPr>
        <p:txBody>
          <a:bodyPr>
            <a:normAutofit lnSpcReduction="10000"/>
          </a:bodyPr>
          <a:lstStyle/>
          <a:p>
            <a:r>
              <a:rPr lang="en-US" dirty="0" err="1" smtClean="0"/>
              <a:t>HashMap</a:t>
            </a:r>
            <a:r>
              <a:rPr lang="en-US" dirty="0" smtClean="0"/>
              <a:t> </a:t>
            </a:r>
            <a:r>
              <a:rPr lang="en-US" dirty="0"/>
              <a:t>in Java is a key-value data structure offering efficient data access via keys using hashing. Hashing converts large strings or other objects into smaller, consistent values for quick indexing and searching. </a:t>
            </a:r>
            <a:r>
              <a:rPr lang="en-US" dirty="0" err="1"/>
              <a:t>HashMap</a:t>
            </a:r>
            <a:r>
              <a:rPr lang="en-US" dirty="0"/>
              <a:t> implements the Map interface and is used for managing large datasets efficiently. Additionally, </a:t>
            </a:r>
            <a:r>
              <a:rPr lang="en-US" dirty="0" err="1"/>
              <a:t>HashSet</a:t>
            </a:r>
            <a:r>
              <a:rPr lang="en-US" dirty="0"/>
              <a:t> uses </a:t>
            </a:r>
            <a:r>
              <a:rPr lang="en-US" dirty="0" err="1"/>
              <a:t>HashMap</a:t>
            </a:r>
            <a:r>
              <a:rPr lang="en-US" dirty="0"/>
              <a:t> internally to store elements uniquely, demonstrating the utility of hashing in Java's collections framework for fast data retrieval and management.</a:t>
            </a:r>
          </a:p>
          <a:p>
            <a:endParaRPr lang="en-US" dirty="0"/>
          </a:p>
        </p:txBody>
      </p:sp>
    </p:spTree>
    <p:extLst>
      <p:ext uri="{BB962C8B-B14F-4D97-AF65-F5344CB8AC3E}">
        <p14:creationId xmlns:p14="http://schemas.microsoft.com/office/powerpoint/2010/main" val="3787942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305800" cy="6781800"/>
          </a:xfrm>
        </p:spPr>
        <p:txBody>
          <a:bodyPr>
            <a:normAutofit fontScale="70000" lnSpcReduction="20000"/>
          </a:bodyPr>
          <a:lstStyle/>
          <a:p>
            <a:r>
              <a:rPr lang="en-US" dirty="0"/>
              <a:t>import </a:t>
            </a:r>
            <a:r>
              <a:rPr lang="en-US" dirty="0" err="1"/>
              <a:t>java.util.HashMap</a:t>
            </a:r>
            <a:r>
              <a:rPr lang="en-US" dirty="0"/>
              <a:t>;  </a:t>
            </a:r>
          </a:p>
          <a:p>
            <a:r>
              <a:rPr lang="en-US" b="1" dirty="0"/>
              <a:t>import</a:t>
            </a:r>
            <a:r>
              <a:rPr lang="en-US" dirty="0"/>
              <a:t> </a:t>
            </a:r>
            <a:r>
              <a:rPr lang="en-US" dirty="0" err="1"/>
              <a:t>java.util.Map</a:t>
            </a:r>
            <a:r>
              <a:rPr lang="en-US" dirty="0"/>
              <a:t>;  </a:t>
            </a:r>
          </a:p>
          <a:p>
            <a:r>
              <a:rPr lang="en-US" b="1" dirty="0"/>
              <a:t>public</a:t>
            </a:r>
            <a:r>
              <a:rPr lang="en-US" dirty="0"/>
              <a:t> </a:t>
            </a:r>
            <a:r>
              <a:rPr lang="en-US" b="1" dirty="0"/>
              <a:t>class</a:t>
            </a:r>
            <a:r>
              <a:rPr lang="en-US" dirty="0"/>
              <a:t> </a:t>
            </a:r>
            <a:r>
              <a:rPr lang="en-US" dirty="0" err="1"/>
              <a:t>HashMapExample</a:t>
            </a:r>
            <a:r>
              <a:rPr lang="en-US" dirty="0"/>
              <a:t> {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 Creating a </a:t>
            </a:r>
            <a:r>
              <a:rPr lang="en-US" dirty="0" err="1"/>
              <a:t>HashMap</a:t>
            </a:r>
            <a:r>
              <a:rPr lang="en-US" dirty="0"/>
              <a:t>  </a:t>
            </a:r>
          </a:p>
          <a:p>
            <a:r>
              <a:rPr lang="en-US" dirty="0"/>
              <a:t>        Map&lt;String, Integer&gt; map = </a:t>
            </a:r>
            <a:r>
              <a:rPr lang="en-US" b="1" dirty="0"/>
              <a:t>new</a:t>
            </a:r>
            <a:r>
              <a:rPr lang="en-US" dirty="0"/>
              <a:t> </a:t>
            </a:r>
            <a:r>
              <a:rPr lang="en-US" dirty="0" err="1"/>
              <a:t>HashMap</a:t>
            </a:r>
            <a:r>
              <a:rPr lang="en-US" dirty="0"/>
              <a:t>&lt;&gt;();  </a:t>
            </a:r>
          </a:p>
          <a:p>
            <a:r>
              <a:rPr lang="en-US" dirty="0"/>
              <a:t>        // Adding key-value pairs to the </a:t>
            </a:r>
            <a:r>
              <a:rPr lang="en-US" dirty="0" err="1"/>
              <a:t>HashMap</a:t>
            </a:r>
            <a:r>
              <a:rPr lang="en-US" dirty="0"/>
              <a:t>  </a:t>
            </a:r>
          </a:p>
          <a:p>
            <a:r>
              <a:rPr lang="en-US" dirty="0"/>
              <a:t>        </a:t>
            </a:r>
            <a:r>
              <a:rPr lang="en-US" dirty="0" err="1"/>
              <a:t>map.put</a:t>
            </a:r>
            <a:r>
              <a:rPr lang="en-US" dirty="0"/>
              <a:t>("Alice", 10);  </a:t>
            </a:r>
          </a:p>
          <a:p>
            <a:r>
              <a:rPr lang="en-US" dirty="0"/>
              <a:t>        </a:t>
            </a:r>
            <a:r>
              <a:rPr lang="en-US" dirty="0" err="1"/>
              <a:t>map.put</a:t>
            </a:r>
            <a:r>
              <a:rPr lang="en-US" dirty="0"/>
              <a:t>("Bob", 20);  </a:t>
            </a:r>
          </a:p>
          <a:p>
            <a:r>
              <a:rPr lang="en-US" dirty="0"/>
              <a:t>        </a:t>
            </a:r>
            <a:r>
              <a:rPr lang="en-US" dirty="0" err="1"/>
              <a:t>map.put</a:t>
            </a:r>
            <a:r>
              <a:rPr lang="en-US" dirty="0"/>
              <a:t>("Charlie", 30);  </a:t>
            </a:r>
          </a:p>
          <a:p>
            <a:r>
              <a:rPr lang="en-US" dirty="0"/>
              <a:t>        // Retrieving a value  </a:t>
            </a:r>
          </a:p>
          <a:p>
            <a:r>
              <a:rPr lang="en-US" dirty="0"/>
              <a:t>        </a:t>
            </a:r>
            <a:r>
              <a:rPr lang="en-US" dirty="0" err="1"/>
              <a:t>System.out.println</a:t>
            </a:r>
            <a:r>
              <a:rPr lang="en-US" dirty="0"/>
              <a:t>("Value for 'Alice': " + </a:t>
            </a:r>
            <a:r>
              <a:rPr lang="en-US" dirty="0" err="1"/>
              <a:t>map.get</a:t>
            </a:r>
            <a:r>
              <a:rPr lang="en-US" dirty="0"/>
              <a:t>("Alice"));  </a:t>
            </a:r>
          </a:p>
          <a:p>
            <a:r>
              <a:rPr lang="en-US" dirty="0"/>
              <a:t>        // Iterating over key-value pairs  </a:t>
            </a:r>
          </a:p>
          <a:p>
            <a:r>
              <a:rPr lang="en-US" dirty="0"/>
              <a:t>        </a:t>
            </a:r>
            <a:r>
              <a:rPr lang="en-US" b="1" dirty="0"/>
              <a:t>for</a:t>
            </a:r>
            <a:r>
              <a:rPr lang="en-US" dirty="0"/>
              <a:t> (</a:t>
            </a:r>
            <a:r>
              <a:rPr lang="en-US" dirty="0" err="1"/>
              <a:t>Map.Entry</a:t>
            </a:r>
            <a:r>
              <a:rPr lang="en-US" dirty="0"/>
              <a:t>&lt;String, Integer&gt; entry : </a:t>
            </a:r>
            <a:r>
              <a:rPr lang="en-US" dirty="0" err="1"/>
              <a:t>map.entrySet</a:t>
            </a:r>
            <a:r>
              <a:rPr lang="en-US" dirty="0"/>
              <a:t>()) {  </a:t>
            </a:r>
          </a:p>
          <a:p>
            <a:r>
              <a:rPr lang="en-US" dirty="0"/>
              <a:t>            String key = </a:t>
            </a:r>
            <a:r>
              <a:rPr lang="en-US" dirty="0" err="1"/>
              <a:t>entry.getKey</a:t>
            </a:r>
            <a:r>
              <a:rPr lang="en-US" dirty="0"/>
              <a:t>();  </a:t>
            </a:r>
          </a:p>
          <a:p>
            <a:r>
              <a:rPr lang="en-US" dirty="0"/>
              <a:t>            Integer value = </a:t>
            </a:r>
            <a:r>
              <a:rPr lang="en-US" dirty="0" err="1"/>
              <a:t>entry.getValue</a:t>
            </a:r>
            <a:r>
              <a:rPr lang="en-US" dirty="0"/>
              <a:t>();  </a:t>
            </a:r>
          </a:p>
          <a:p>
            <a:r>
              <a:rPr lang="en-US" dirty="0"/>
              <a:t>            </a:t>
            </a:r>
            <a:r>
              <a:rPr lang="en-US" dirty="0" err="1"/>
              <a:t>System.out.println</a:t>
            </a:r>
            <a:r>
              <a:rPr lang="en-US" dirty="0"/>
              <a:t>(key + ": " + value);  </a:t>
            </a:r>
          </a:p>
          <a:p>
            <a:r>
              <a:rPr lang="en-US" dirty="0"/>
              <a:t>        }  </a:t>
            </a:r>
          </a:p>
        </p:txBody>
      </p:sp>
    </p:spTree>
    <p:extLst>
      <p:ext uri="{BB962C8B-B14F-4D97-AF65-F5344CB8AC3E}">
        <p14:creationId xmlns:p14="http://schemas.microsoft.com/office/powerpoint/2010/main" val="2639637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a:normAutofit fontScale="85000" lnSpcReduction="20000"/>
          </a:bodyPr>
          <a:lstStyle/>
          <a:p>
            <a:pPr marL="0" indent="0">
              <a:buNone/>
            </a:pPr>
            <a:r>
              <a:rPr lang="en-US" dirty="0"/>
              <a:t>     // Removing a key-value pair  </a:t>
            </a:r>
          </a:p>
          <a:p>
            <a:pPr marL="0" indent="0">
              <a:buNone/>
            </a:pPr>
            <a:r>
              <a:rPr lang="en-US" dirty="0"/>
              <a:t>        </a:t>
            </a:r>
            <a:r>
              <a:rPr lang="en-US" dirty="0" err="1"/>
              <a:t>map.remove</a:t>
            </a:r>
            <a:r>
              <a:rPr lang="en-US" dirty="0"/>
              <a:t>("Charlie");  </a:t>
            </a:r>
          </a:p>
          <a:p>
            <a:pPr marL="0" indent="0">
              <a:buNone/>
            </a:pPr>
            <a:r>
              <a:rPr lang="en-US" dirty="0"/>
              <a:t>        // Checking the presence of a key  </a:t>
            </a:r>
          </a:p>
          <a:p>
            <a:pPr marL="0" indent="0">
              <a:buNone/>
            </a:pPr>
            <a:r>
              <a:rPr lang="en-US" dirty="0"/>
              <a:t>        </a:t>
            </a:r>
            <a:r>
              <a:rPr lang="en-US" b="1" dirty="0"/>
              <a:t>if</a:t>
            </a:r>
            <a:r>
              <a:rPr lang="en-US" dirty="0"/>
              <a:t> (</a:t>
            </a:r>
            <a:r>
              <a:rPr lang="en-US" dirty="0" err="1"/>
              <a:t>map.containsKey</a:t>
            </a:r>
            <a:r>
              <a:rPr lang="en-US" dirty="0"/>
              <a:t>("Bob")) {  </a:t>
            </a:r>
          </a:p>
          <a:p>
            <a:pPr marL="0" indent="0">
              <a:buNone/>
            </a:pPr>
            <a:r>
              <a:rPr lang="en-US" dirty="0"/>
              <a:t>            </a:t>
            </a:r>
            <a:r>
              <a:rPr lang="en-US" dirty="0" err="1"/>
              <a:t>System.out.println</a:t>
            </a:r>
            <a:r>
              <a:rPr lang="en-US" dirty="0"/>
              <a:t>("Map contains key 'Bob'.");  </a:t>
            </a:r>
          </a:p>
          <a:p>
            <a:pPr marL="0" indent="0">
              <a:buNone/>
            </a:pPr>
            <a:r>
              <a:rPr lang="en-US" dirty="0"/>
              <a:t>        }  </a:t>
            </a:r>
          </a:p>
          <a:p>
            <a:pPr marL="0" indent="0">
              <a:buNone/>
            </a:pPr>
            <a:r>
              <a:rPr lang="en-US" dirty="0"/>
              <a:t>    }  </a:t>
            </a:r>
          </a:p>
          <a:p>
            <a:pPr marL="0" indent="0">
              <a:buNone/>
            </a:pPr>
            <a:r>
              <a:rPr lang="en-US" dirty="0"/>
              <a:t>}  </a:t>
            </a:r>
          </a:p>
          <a:p>
            <a:r>
              <a:rPr lang="en-US" b="1" dirty="0"/>
              <a:t>Output:</a:t>
            </a:r>
            <a:endParaRPr lang="en-US" dirty="0"/>
          </a:p>
          <a:p>
            <a:pPr marL="0" indent="0">
              <a:buNone/>
            </a:pPr>
            <a:r>
              <a:rPr lang="en-US" dirty="0"/>
              <a:t>Value for 'Alice': 10Bob: 20 </a:t>
            </a:r>
            <a:endParaRPr lang="en-US" dirty="0" smtClean="0"/>
          </a:p>
          <a:p>
            <a:pPr marL="0" indent="0">
              <a:buNone/>
            </a:pPr>
            <a:r>
              <a:rPr lang="en-US" dirty="0" smtClean="0"/>
              <a:t>Alice</a:t>
            </a:r>
            <a:r>
              <a:rPr lang="en-US" dirty="0"/>
              <a:t>: 10 </a:t>
            </a:r>
            <a:endParaRPr lang="en-US" dirty="0" smtClean="0"/>
          </a:p>
          <a:p>
            <a:pPr marL="0" indent="0">
              <a:buNone/>
            </a:pPr>
            <a:r>
              <a:rPr lang="en-US" dirty="0" smtClean="0"/>
              <a:t>Charlie</a:t>
            </a:r>
            <a:r>
              <a:rPr lang="en-US" dirty="0"/>
              <a:t>: 30 </a:t>
            </a:r>
            <a:endParaRPr lang="en-US" dirty="0" smtClean="0"/>
          </a:p>
          <a:p>
            <a:pPr marL="0" indent="0">
              <a:buNone/>
            </a:pPr>
            <a:r>
              <a:rPr lang="en-US" dirty="0" smtClean="0"/>
              <a:t>Map </a:t>
            </a:r>
            <a:r>
              <a:rPr lang="en-US" dirty="0"/>
              <a:t>contains key 'Bob'.</a:t>
            </a:r>
          </a:p>
          <a:p>
            <a:pPr marL="0" indent="0">
              <a:buNone/>
            </a:pPr>
            <a:endParaRPr lang="en-US" dirty="0"/>
          </a:p>
        </p:txBody>
      </p:sp>
    </p:spTree>
    <p:extLst>
      <p:ext uri="{BB962C8B-B14F-4D97-AF65-F5344CB8AC3E}">
        <p14:creationId xmlns:p14="http://schemas.microsoft.com/office/powerpoint/2010/main" val="2641464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2045666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1011</Words>
  <Application>Microsoft Office PowerPoint</Application>
  <PresentationFormat>On-screen Show (4:3)</PresentationFormat>
  <Paragraphs>256</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Unit-2</vt:lpstr>
      <vt:lpstr>1 Introduction to Collection Framework </vt:lpstr>
      <vt:lpstr> What is Collection in Java?  </vt:lpstr>
      <vt:lpstr>What is Collection framework </vt:lpstr>
      <vt:lpstr>Why Collection Framework? </vt:lpstr>
      <vt:lpstr>Advantages of the Java Collection Framework </vt:lpstr>
      <vt:lpstr>PowerPoint Presentation</vt:lpstr>
      <vt:lpstr>List Interface </vt:lpstr>
      <vt:lpstr>ArrayList </vt:lpstr>
      <vt:lpstr>LinkedList </vt:lpstr>
      <vt:lpstr>Vector </vt:lpstr>
      <vt:lpstr>Stack </vt:lpstr>
      <vt:lpstr>Queue Interface </vt:lpstr>
      <vt:lpstr>PowerPoint Presentation</vt:lpstr>
      <vt:lpstr>Set Interface </vt:lpstr>
      <vt:lpstr>HashSet </vt:lpstr>
      <vt:lpstr>LinkedHashSet </vt:lpstr>
      <vt:lpstr>SortedSet Interface </vt:lpstr>
      <vt:lpstr>TreeSet </vt:lpstr>
      <vt:lpstr>Map Interface </vt:lpstr>
      <vt:lpstr>HashMap </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dc:title>
  <dc:creator>admin</dc:creator>
  <cp:lastModifiedBy>admin</cp:lastModifiedBy>
  <cp:revision>21</cp:revision>
  <dcterms:created xsi:type="dcterms:W3CDTF">2025-02-10T08:23:10Z</dcterms:created>
  <dcterms:modified xsi:type="dcterms:W3CDTF">2025-02-18T08:57:06Z</dcterms:modified>
</cp:coreProperties>
</file>