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8" r:id="rId9"/>
    <p:sldId id="269" r:id="rId10"/>
    <p:sldId id="270" r:id="rId11"/>
    <p:sldId id="271" r:id="rId12"/>
    <p:sldId id="272" r:id="rId13"/>
    <p:sldId id="273" r:id="rId14"/>
    <p:sldId id="274" r:id="rId15"/>
    <p:sldId id="264" r:id="rId16"/>
    <p:sldId id="265" r:id="rId17"/>
    <p:sldId id="266" r:id="rId18"/>
    <p:sldId id="267" r:id="rId19"/>
    <p:sldId id="275" r:id="rId20"/>
    <p:sldId id="276" r:id="rId21"/>
    <p:sldId id="277" r:id="rId22"/>
    <p:sldId id="278" r:id="rId23"/>
    <p:sldId id="279" r:id="rId24"/>
    <p:sldId id="280" r:id="rId25"/>
    <p:sldId id="281" r:id="rId26"/>
    <p:sldId id="282" r:id="rId27"/>
    <p:sldId id="283" r:id="rId28"/>
    <p:sldId id="284" r:id="rId29"/>
    <p:sldId id="286" r:id="rId30"/>
    <p:sldId id="299" r:id="rId31"/>
    <p:sldId id="285" r:id="rId32"/>
    <p:sldId id="287" r:id="rId33"/>
    <p:sldId id="292" r:id="rId34"/>
    <p:sldId id="288" r:id="rId35"/>
    <p:sldId id="289" r:id="rId36"/>
    <p:sldId id="293" r:id="rId37"/>
    <p:sldId id="290" r:id="rId38"/>
    <p:sldId id="291" r:id="rId39"/>
    <p:sldId id="294" r:id="rId40"/>
    <p:sldId id="295" r:id="rId41"/>
    <p:sldId id="296" r:id="rId42"/>
    <p:sldId id="297" r:id="rId43"/>
    <p:sldId id="298"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76" d="100"/>
          <a:sy n="76" d="100"/>
        </p:scale>
        <p:origin x="-504"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CFC2E26-C7E8-8D14-FC35-EA2BCB8B0A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2DA83700-3600-7255-9202-7856FB941D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BB6F6C94-9510-AFC6-20A4-45575D69D06D}"/>
              </a:ext>
            </a:extLst>
          </p:cNvPr>
          <p:cNvSpPr>
            <a:spLocks noGrp="1"/>
          </p:cNvSpPr>
          <p:nvPr>
            <p:ph type="dt" sz="half" idx="10"/>
          </p:nvPr>
        </p:nvSpPr>
        <p:spPr/>
        <p:txBody>
          <a:bodyPr/>
          <a:lstStyle/>
          <a:p>
            <a:fld id="{CAC5B495-B047-4AAA-911D-50F2141DA69A}" type="datetimeFigureOut">
              <a:rPr lang="en-IN" smtClean="0"/>
              <a:t>06-02-2025</a:t>
            </a:fld>
            <a:endParaRPr lang="en-IN"/>
          </a:p>
        </p:txBody>
      </p:sp>
      <p:sp>
        <p:nvSpPr>
          <p:cNvPr id="5" name="Footer Placeholder 4">
            <a:extLst>
              <a:ext uri="{FF2B5EF4-FFF2-40B4-BE49-F238E27FC236}">
                <a16:creationId xmlns="" xmlns:a16="http://schemas.microsoft.com/office/drawing/2014/main" id="{2814EC03-63EC-3392-6F68-ED425617C6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5358E56-7480-98E6-D352-520F61B4184D}"/>
              </a:ext>
            </a:extLst>
          </p:cNvPr>
          <p:cNvSpPr>
            <a:spLocks noGrp="1"/>
          </p:cNvSpPr>
          <p:nvPr>
            <p:ph type="sldNum" sz="quarter" idx="12"/>
          </p:nvPr>
        </p:nvSpPr>
        <p:spPr/>
        <p:txBody>
          <a:bodyPr/>
          <a:lstStyle/>
          <a:p>
            <a:fld id="{20F58767-A281-4A55-AD04-2FA76E423B55}" type="slidenum">
              <a:rPr lang="en-IN" smtClean="0"/>
              <a:t>‹#›</a:t>
            </a:fld>
            <a:endParaRPr lang="en-IN"/>
          </a:p>
        </p:txBody>
      </p:sp>
    </p:spTree>
    <p:extLst>
      <p:ext uri="{BB962C8B-B14F-4D97-AF65-F5344CB8AC3E}">
        <p14:creationId xmlns:p14="http://schemas.microsoft.com/office/powerpoint/2010/main" val="4209727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FD6B764-9BE0-26C8-7AC3-F74AD65F3F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F3FC5DB-11FA-F3BD-F2FF-6D1AC113DE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E3E13D0-7124-6C1D-A656-DA1E8C2325F4}"/>
              </a:ext>
            </a:extLst>
          </p:cNvPr>
          <p:cNvSpPr>
            <a:spLocks noGrp="1"/>
          </p:cNvSpPr>
          <p:nvPr>
            <p:ph type="dt" sz="half" idx="10"/>
          </p:nvPr>
        </p:nvSpPr>
        <p:spPr/>
        <p:txBody>
          <a:bodyPr/>
          <a:lstStyle/>
          <a:p>
            <a:fld id="{CAC5B495-B047-4AAA-911D-50F2141DA69A}" type="datetimeFigureOut">
              <a:rPr lang="en-IN" smtClean="0"/>
              <a:t>06-02-2025</a:t>
            </a:fld>
            <a:endParaRPr lang="en-IN"/>
          </a:p>
        </p:txBody>
      </p:sp>
      <p:sp>
        <p:nvSpPr>
          <p:cNvPr id="5" name="Footer Placeholder 4">
            <a:extLst>
              <a:ext uri="{FF2B5EF4-FFF2-40B4-BE49-F238E27FC236}">
                <a16:creationId xmlns="" xmlns:a16="http://schemas.microsoft.com/office/drawing/2014/main" id="{F535EAC1-E06A-E6DE-0618-E31C2A458C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24EC67E-3D11-C280-1AC2-C2000F61776A}"/>
              </a:ext>
            </a:extLst>
          </p:cNvPr>
          <p:cNvSpPr>
            <a:spLocks noGrp="1"/>
          </p:cNvSpPr>
          <p:nvPr>
            <p:ph type="sldNum" sz="quarter" idx="12"/>
          </p:nvPr>
        </p:nvSpPr>
        <p:spPr/>
        <p:txBody>
          <a:bodyPr/>
          <a:lstStyle/>
          <a:p>
            <a:fld id="{20F58767-A281-4A55-AD04-2FA76E423B55}" type="slidenum">
              <a:rPr lang="en-IN" smtClean="0"/>
              <a:t>‹#›</a:t>
            </a:fld>
            <a:endParaRPr lang="en-IN"/>
          </a:p>
        </p:txBody>
      </p:sp>
    </p:spTree>
    <p:extLst>
      <p:ext uri="{BB962C8B-B14F-4D97-AF65-F5344CB8AC3E}">
        <p14:creationId xmlns:p14="http://schemas.microsoft.com/office/powerpoint/2010/main" val="3304595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C63CFC-514F-A1A0-AE20-2469F6FF6B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4B4458C-533C-AA04-E483-F83FCD0BB6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D9618789-B8D6-5205-6A76-00B3AE165F11}"/>
              </a:ext>
            </a:extLst>
          </p:cNvPr>
          <p:cNvSpPr>
            <a:spLocks noGrp="1"/>
          </p:cNvSpPr>
          <p:nvPr>
            <p:ph type="dt" sz="half" idx="10"/>
          </p:nvPr>
        </p:nvSpPr>
        <p:spPr/>
        <p:txBody>
          <a:bodyPr/>
          <a:lstStyle/>
          <a:p>
            <a:fld id="{CAC5B495-B047-4AAA-911D-50F2141DA69A}" type="datetimeFigureOut">
              <a:rPr lang="en-IN" smtClean="0"/>
              <a:t>06-02-2025</a:t>
            </a:fld>
            <a:endParaRPr lang="en-IN"/>
          </a:p>
        </p:txBody>
      </p:sp>
      <p:sp>
        <p:nvSpPr>
          <p:cNvPr id="5" name="Footer Placeholder 4">
            <a:extLst>
              <a:ext uri="{FF2B5EF4-FFF2-40B4-BE49-F238E27FC236}">
                <a16:creationId xmlns="" xmlns:a16="http://schemas.microsoft.com/office/drawing/2014/main" id="{D0946BB9-BBDE-68E6-5721-B9568D2A1C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56CEDFC-8DBA-F6E5-FD0A-B78E8682BB3F}"/>
              </a:ext>
            </a:extLst>
          </p:cNvPr>
          <p:cNvSpPr>
            <a:spLocks noGrp="1"/>
          </p:cNvSpPr>
          <p:nvPr>
            <p:ph type="sldNum" sz="quarter" idx="12"/>
          </p:nvPr>
        </p:nvSpPr>
        <p:spPr/>
        <p:txBody>
          <a:bodyPr/>
          <a:lstStyle/>
          <a:p>
            <a:fld id="{20F58767-A281-4A55-AD04-2FA76E423B55}" type="slidenum">
              <a:rPr lang="en-IN" smtClean="0"/>
              <a:t>‹#›</a:t>
            </a:fld>
            <a:endParaRPr lang="en-IN"/>
          </a:p>
        </p:txBody>
      </p:sp>
    </p:spTree>
    <p:extLst>
      <p:ext uri="{BB962C8B-B14F-4D97-AF65-F5344CB8AC3E}">
        <p14:creationId xmlns:p14="http://schemas.microsoft.com/office/powerpoint/2010/main" val="979828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63EC5B-41F2-3756-7B4D-63D63C8483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99842EFE-B621-3C7D-32D8-B89DBA9CB1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77A779C4-4F72-9686-004D-4E9AC6643B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3DA2E3D5-40B1-BCD0-3D48-17B9C7FDC6EB}"/>
              </a:ext>
            </a:extLst>
          </p:cNvPr>
          <p:cNvSpPr>
            <a:spLocks noGrp="1"/>
          </p:cNvSpPr>
          <p:nvPr>
            <p:ph type="dt" sz="half" idx="10"/>
          </p:nvPr>
        </p:nvSpPr>
        <p:spPr/>
        <p:txBody>
          <a:bodyPr/>
          <a:lstStyle/>
          <a:p>
            <a:fld id="{CAC5B495-B047-4AAA-911D-50F2141DA69A}" type="datetimeFigureOut">
              <a:rPr lang="en-IN" smtClean="0"/>
              <a:t>06-02-2025</a:t>
            </a:fld>
            <a:endParaRPr lang="en-IN"/>
          </a:p>
        </p:txBody>
      </p:sp>
      <p:sp>
        <p:nvSpPr>
          <p:cNvPr id="6" name="Footer Placeholder 5">
            <a:extLst>
              <a:ext uri="{FF2B5EF4-FFF2-40B4-BE49-F238E27FC236}">
                <a16:creationId xmlns="" xmlns:a16="http://schemas.microsoft.com/office/drawing/2014/main" id="{3E947497-59E1-9017-DC75-7598B4BB46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E4E6A830-19CF-1DFB-ECD3-83D6EC08A3A8}"/>
              </a:ext>
            </a:extLst>
          </p:cNvPr>
          <p:cNvSpPr>
            <a:spLocks noGrp="1"/>
          </p:cNvSpPr>
          <p:nvPr>
            <p:ph type="sldNum" sz="quarter" idx="12"/>
          </p:nvPr>
        </p:nvSpPr>
        <p:spPr/>
        <p:txBody>
          <a:bodyPr/>
          <a:lstStyle/>
          <a:p>
            <a:fld id="{20F58767-A281-4A55-AD04-2FA76E423B55}" type="slidenum">
              <a:rPr lang="en-IN" smtClean="0"/>
              <a:t>‹#›</a:t>
            </a:fld>
            <a:endParaRPr lang="en-IN"/>
          </a:p>
        </p:txBody>
      </p:sp>
    </p:spTree>
    <p:extLst>
      <p:ext uri="{BB962C8B-B14F-4D97-AF65-F5344CB8AC3E}">
        <p14:creationId xmlns:p14="http://schemas.microsoft.com/office/powerpoint/2010/main" val="4268282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D09DBC-F4E5-6CC8-7349-0FEE3F886F6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0EF023B-A2F7-74D8-7227-589EC85EFE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8533C5CE-FA3E-EB0A-7AE5-63C7E6D37D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76E1A960-6596-A28B-89A7-251EE09CA3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1ACAE51-CA42-FB69-2985-B31DE0505F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142952E4-546C-DE11-EC4C-14E3F28693FE}"/>
              </a:ext>
            </a:extLst>
          </p:cNvPr>
          <p:cNvSpPr>
            <a:spLocks noGrp="1"/>
          </p:cNvSpPr>
          <p:nvPr>
            <p:ph type="dt" sz="half" idx="10"/>
          </p:nvPr>
        </p:nvSpPr>
        <p:spPr/>
        <p:txBody>
          <a:bodyPr/>
          <a:lstStyle/>
          <a:p>
            <a:fld id="{CAC5B495-B047-4AAA-911D-50F2141DA69A}" type="datetimeFigureOut">
              <a:rPr lang="en-IN" smtClean="0"/>
              <a:t>06-02-2025</a:t>
            </a:fld>
            <a:endParaRPr lang="en-IN"/>
          </a:p>
        </p:txBody>
      </p:sp>
      <p:sp>
        <p:nvSpPr>
          <p:cNvPr id="8" name="Footer Placeholder 7">
            <a:extLst>
              <a:ext uri="{FF2B5EF4-FFF2-40B4-BE49-F238E27FC236}">
                <a16:creationId xmlns="" xmlns:a16="http://schemas.microsoft.com/office/drawing/2014/main" id="{A860A56B-B419-9666-3DB7-97760569942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D67466DA-C0FB-06BC-B85A-54C9AEDAACEC}"/>
              </a:ext>
            </a:extLst>
          </p:cNvPr>
          <p:cNvSpPr>
            <a:spLocks noGrp="1"/>
          </p:cNvSpPr>
          <p:nvPr>
            <p:ph type="sldNum" sz="quarter" idx="12"/>
          </p:nvPr>
        </p:nvSpPr>
        <p:spPr/>
        <p:txBody>
          <a:bodyPr/>
          <a:lstStyle/>
          <a:p>
            <a:fld id="{20F58767-A281-4A55-AD04-2FA76E423B55}" type="slidenum">
              <a:rPr lang="en-IN" smtClean="0"/>
              <a:t>‹#›</a:t>
            </a:fld>
            <a:endParaRPr lang="en-IN"/>
          </a:p>
        </p:txBody>
      </p:sp>
    </p:spTree>
    <p:extLst>
      <p:ext uri="{BB962C8B-B14F-4D97-AF65-F5344CB8AC3E}">
        <p14:creationId xmlns:p14="http://schemas.microsoft.com/office/powerpoint/2010/main" val="858152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B14329-6C2B-A793-0FF2-57FB6FE38DD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4AABBE22-B9A6-9D45-CDD2-0E1087EBB770}"/>
              </a:ext>
            </a:extLst>
          </p:cNvPr>
          <p:cNvSpPr>
            <a:spLocks noGrp="1"/>
          </p:cNvSpPr>
          <p:nvPr>
            <p:ph type="dt" sz="half" idx="10"/>
          </p:nvPr>
        </p:nvSpPr>
        <p:spPr/>
        <p:txBody>
          <a:bodyPr/>
          <a:lstStyle/>
          <a:p>
            <a:fld id="{CAC5B495-B047-4AAA-911D-50F2141DA69A}" type="datetimeFigureOut">
              <a:rPr lang="en-IN" smtClean="0"/>
              <a:t>06-02-2025</a:t>
            </a:fld>
            <a:endParaRPr lang="en-IN"/>
          </a:p>
        </p:txBody>
      </p:sp>
      <p:sp>
        <p:nvSpPr>
          <p:cNvPr id="4" name="Footer Placeholder 3">
            <a:extLst>
              <a:ext uri="{FF2B5EF4-FFF2-40B4-BE49-F238E27FC236}">
                <a16:creationId xmlns="" xmlns:a16="http://schemas.microsoft.com/office/drawing/2014/main" id="{09ECB1C3-2E48-0286-B187-F23B923F50E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882063D4-7CA0-7495-BA0C-9BAE5E39F053}"/>
              </a:ext>
            </a:extLst>
          </p:cNvPr>
          <p:cNvSpPr>
            <a:spLocks noGrp="1"/>
          </p:cNvSpPr>
          <p:nvPr>
            <p:ph type="sldNum" sz="quarter" idx="12"/>
          </p:nvPr>
        </p:nvSpPr>
        <p:spPr/>
        <p:txBody>
          <a:bodyPr/>
          <a:lstStyle/>
          <a:p>
            <a:fld id="{20F58767-A281-4A55-AD04-2FA76E423B55}" type="slidenum">
              <a:rPr lang="en-IN" smtClean="0"/>
              <a:t>‹#›</a:t>
            </a:fld>
            <a:endParaRPr lang="en-IN"/>
          </a:p>
        </p:txBody>
      </p:sp>
    </p:spTree>
    <p:extLst>
      <p:ext uri="{BB962C8B-B14F-4D97-AF65-F5344CB8AC3E}">
        <p14:creationId xmlns:p14="http://schemas.microsoft.com/office/powerpoint/2010/main" val="2055864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09F4FA8-035B-439C-B458-6BB49015BACC}"/>
              </a:ext>
            </a:extLst>
          </p:cNvPr>
          <p:cNvSpPr>
            <a:spLocks noGrp="1"/>
          </p:cNvSpPr>
          <p:nvPr>
            <p:ph type="dt" sz="half" idx="10"/>
          </p:nvPr>
        </p:nvSpPr>
        <p:spPr/>
        <p:txBody>
          <a:bodyPr/>
          <a:lstStyle/>
          <a:p>
            <a:fld id="{CAC5B495-B047-4AAA-911D-50F2141DA69A}" type="datetimeFigureOut">
              <a:rPr lang="en-IN" smtClean="0"/>
              <a:t>06-02-2025</a:t>
            </a:fld>
            <a:endParaRPr lang="en-IN"/>
          </a:p>
        </p:txBody>
      </p:sp>
      <p:sp>
        <p:nvSpPr>
          <p:cNvPr id="3" name="Footer Placeholder 2">
            <a:extLst>
              <a:ext uri="{FF2B5EF4-FFF2-40B4-BE49-F238E27FC236}">
                <a16:creationId xmlns="" xmlns:a16="http://schemas.microsoft.com/office/drawing/2014/main" id="{08542D19-082F-BC07-9559-095341F856E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77F7B545-BC95-9E76-A581-8E22EA5E6E25}"/>
              </a:ext>
            </a:extLst>
          </p:cNvPr>
          <p:cNvSpPr>
            <a:spLocks noGrp="1"/>
          </p:cNvSpPr>
          <p:nvPr>
            <p:ph type="sldNum" sz="quarter" idx="12"/>
          </p:nvPr>
        </p:nvSpPr>
        <p:spPr/>
        <p:txBody>
          <a:bodyPr/>
          <a:lstStyle/>
          <a:p>
            <a:fld id="{20F58767-A281-4A55-AD04-2FA76E423B55}" type="slidenum">
              <a:rPr lang="en-IN" smtClean="0"/>
              <a:t>‹#›</a:t>
            </a:fld>
            <a:endParaRPr lang="en-IN"/>
          </a:p>
        </p:txBody>
      </p:sp>
    </p:spTree>
    <p:extLst>
      <p:ext uri="{BB962C8B-B14F-4D97-AF65-F5344CB8AC3E}">
        <p14:creationId xmlns:p14="http://schemas.microsoft.com/office/powerpoint/2010/main" val="3220851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928BFB-80BB-8FA6-28AE-5C8C9A1597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C90B168-27E3-E348-B15D-B6DEAC6328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F17D5989-F404-1703-11FA-DCEF85601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CBD8877-E08E-1620-8106-1E6F041C80B2}"/>
              </a:ext>
            </a:extLst>
          </p:cNvPr>
          <p:cNvSpPr>
            <a:spLocks noGrp="1"/>
          </p:cNvSpPr>
          <p:nvPr>
            <p:ph type="dt" sz="half" idx="10"/>
          </p:nvPr>
        </p:nvSpPr>
        <p:spPr/>
        <p:txBody>
          <a:bodyPr/>
          <a:lstStyle/>
          <a:p>
            <a:fld id="{CAC5B495-B047-4AAA-911D-50F2141DA69A}" type="datetimeFigureOut">
              <a:rPr lang="en-IN" smtClean="0"/>
              <a:t>06-02-2025</a:t>
            </a:fld>
            <a:endParaRPr lang="en-IN"/>
          </a:p>
        </p:txBody>
      </p:sp>
      <p:sp>
        <p:nvSpPr>
          <p:cNvPr id="6" name="Footer Placeholder 5">
            <a:extLst>
              <a:ext uri="{FF2B5EF4-FFF2-40B4-BE49-F238E27FC236}">
                <a16:creationId xmlns="" xmlns:a16="http://schemas.microsoft.com/office/drawing/2014/main" id="{ED060369-703A-F1C3-71B9-0A379AF214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B519856E-50D5-75E7-77AD-5C3910211572}"/>
              </a:ext>
            </a:extLst>
          </p:cNvPr>
          <p:cNvSpPr>
            <a:spLocks noGrp="1"/>
          </p:cNvSpPr>
          <p:nvPr>
            <p:ph type="sldNum" sz="quarter" idx="12"/>
          </p:nvPr>
        </p:nvSpPr>
        <p:spPr/>
        <p:txBody>
          <a:bodyPr/>
          <a:lstStyle/>
          <a:p>
            <a:fld id="{20F58767-A281-4A55-AD04-2FA76E423B55}" type="slidenum">
              <a:rPr lang="en-IN" smtClean="0"/>
              <a:t>‹#›</a:t>
            </a:fld>
            <a:endParaRPr lang="en-IN"/>
          </a:p>
        </p:txBody>
      </p:sp>
    </p:spTree>
    <p:extLst>
      <p:ext uri="{BB962C8B-B14F-4D97-AF65-F5344CB8AC3E}">
        <p14:creationId xmlns:p14="http://schemas.microsoft.com/office/powerpoint/2010/main" val="1093932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401FC1-277C-8025-B8AC-534652C40D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901F810E-3354-8ABA-E43A-5B7E3A1689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65CA249C-BCFC-C87F-D0EB-47036B1292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4566592-2863-4EB5-EDA5-8A59ECD00F3F}"/>
              </a:ext>
            </a:extLst>
          </p:cNvPr>
          <p:cNvSpPr>
            <a:spLocks noGrp="1"/>
          </p:cNvSpPr>
          <p:nvPr>
            <p:ph type="dt" sz="half" idx="10"/>
          </p:nvPr>
        </p:nvSpPr>
        <p:spPr/>
        <p:txBody>
          <a:bodyPr/>
          <a:lstStyle/>
          <a:p>
            <a:fld id="{CAC5B495-B047-4AAA-911D-50F2141DA69A}" type="datetimeFigureOut">
              <a:rPr lang="en-IN" smtClean="0"/>
              <a:t>06-02-2025</a:t>
            </a:fld>
            <a:endParaRPr lang="en-IN"/>
          </a:p>
        </p:txBody>
      </p:sp>
      <p:sp>
        <p:nvSpPr>
          <p:cNvPr id="6" name="Footer Placeholder 5">
            <a:extLst>
              <a:ext uri="{FF2B5EF4-FFF2-40B4-BE49-F238E27FC236}">
                <a16:creationId xmlns="" xmlns:a16="http://schemas.microsoft.com/office/drawing/2014/main" id="{60E67D56-B1EC-401C-A788-3B77DB31A1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55B43CCC-9593-ACDC-75DC-C9C9A03A9F79}"/>
              </a:ext>
            </a:extLst>
          </p:cNvPr>
          <p:cNvSpPr>
            <a:spLocks noGrp="1"/>
          </p:cNvSpPr>
          <p:nvPr>
            <p:ph type="sldNum" sz="quarter" idx="12"/>
          </p:nvPr>
        </p:nvSpPr>
        <p:spPr/>
        <p:txBody>
          <a:bodyPr/>
          <a:lstStyle/>
          <a:p>
            <a:fld id="{20F58767-A281-4A55-AD04-2FA76E423B55}" type="slidenum">
              <a:rPr lang="en-IN" smtClean="0"/>
              <a:t>‹#›</a:t>
            </a:fld>
            <a:endParaRPr lang="en-IN"/>
          </a:p>
        </p:txBody>
      </p:sp>
    </p:spTree>
    <p:extLst>
      <p:ext uri="{BB962C8B-B14F-4D97-AF65-F5344CB8AC3E}">
        <p14:creationId xmlns:p14="http://schemas.microsoft.com/office/powerpoint/2010/main" val="3395848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CFDC5D-C031-FCA7-841B-CB152570A14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45D375B6-50AB-6F0E-6272-D8CE9027AC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703B3B4B-81D0-0AF6-7833-58CB7B90605A}"/>
              </a:ext>
            </a:extLst>
          </p:cNvPr>
          <p:cNvSpPr>
            <a:spLocks noGrp="1"/>
          </p:cNvSpPr>
          <p:nvPr>
            <p:ph type="dt" sz="half" idx="10"/>
          </p:nvPr>
        </p:nvSpPr>
        <p:spPr/>
        <p:txBody>
          <a:bodyPr/>
          <a:lstStyle/>
          <a:p>
            <a:fld id="{CAC5B495-B047-4AAA-911D-50F2141DA69A}" type="datetimeFigureOut">
              <a:rPr lang="en-IN" smtClean="0"/>
              <a:t>06-02-2025</a:t>
            </a:fld>
            <a:endParaRPr lang="en-IN"/>
          </a:p>
        </p:txBody>
      </p:sp>
      <p:sp>
        <p:nvSpPr>
          <p:cNvPr id="5" name="Footer Placeholder 4">
            <a:extLst>
              <a:ext uri="{FF2B5EF4-FFF2-40B4-BE49-F238E27FC236}">
                <a16:creationId xmlns="" xmlns:a16="http://schemas.microsoft.com/office/drawing/2014/main" id="{14B8A110-279B-0A4C-0CE6-E76B7B5381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E198A2F-BCF8-48F1-A341-59A466BB5B9F}"/>
              </a:ext>
            </a:extLst>
          </p:cNvPr>
          <p:cNvSpPr>
            <a:spLocks noGrp="1"/>
          </p:cNvSpPr>
          <p:nvPr>
            <p:ph type="sldNum" sz="quarter" idx="12"/>
          </p:nvPr>
        </p:nvSpPr>
        <p:spPr/>
        <p:txBody>
          <a:bodyPr/>
          <a:lstStyle/>
          <a:p>
            <a:fld id="{20F58767-A281-4A55-AD04-2FA76E423B55}" type="slidenum">
              <a:rPr lang="en-IN" smtClean="0"/>
              <a:t>‹#›</a:t>
            </a:fld>
            <a:endParaRPr lang="en-IN"/>
          </a:p>
        </p:txBody>
      </p:sp>
    </p:spTree>
    <p:extLst>
      <p:ext uri="{BB962C8B-B14F-4D97-AF65-F5344CB8AC3E}">
        <p14:creationId xmlns:p14="http://schemas.microsoft.com/office/powerpoint/2010/main" val="234668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2AA5CE58-7AEC-87B8-D2E3-74C0AF7B9D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B588465E-74A6-0AED-606C-82C153EEFA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FA0612A-3BE3-4E61-E6D7-99A4972385DA}"/>
              </a:ext>
            </a:extLst>
          </p:cNvPr>
          <p:cNvSpPr>
            <a:spLocks noGrp="1"/>
          </p:cNvSpPr>
          <p:nvPr>
            <p:ph type="dt" sz="half" idx="10"/>
          </p:nvPr>
        </p:nvSpPr>
        <p:spPr/>
        <p:txBody>
          <a:bodyPr/>
          <a:lstStyle/>
          <a:p>
            <a:fld id="{CAC5B495-B047-4AAA-911D-50F2141DA69A}" type="datetimeFigureOut">
              <a:rPr lang="en-IN" smtClean="0"/>
              <a:t>06-02-2025</a:t>
            </a:fld>
            <a:endParaRPr lang="en-IN"/>
          </a:p>
        </p:txBody>
      </p:sp>
      <p:sp>
        <p:nvSpPr>
          <p:cNvPr id="5" name="Footer Placeholder 4">
            <a:extLst>
              <a:ext uri="{FF2B5EF4-FFF2-40B4-BE49-F238E27FC236}">
                <a16:creationId xmlns="" xmlns:a16="http://schemas.microsoft.com/office/drawing/2014/main" id="{BDEDAB28-C130-38B0-30C6-F04A38C3B9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D08CCD7-5B7C-F19C-205F-41B2E768C983}"/>
              </a:ext>
            </a:extLst>
          </p:cNvPr>
          <p:cNvSpPr>
            <a:spLocks noGrp="1"/>
          </p:cNvSpPr>
          <p:nvPr>
            <p:ph type="sldNum" sz="quarter" idx="12"/>
          </p:nvPr>
        </p:nvSpPr>
        <p:spPr/>
        <p:txBody>
          <a:bodyPr/>
          <a:lstStyle/>
          <a:p>
            <a:fld id="{20F58767-A281-4A55-AD04-2FA76E423B55}" type="slidenum">
              <a:rPr lang="en-IN" smtClean="0"/>
              <a:t>‹#›</a:t>
            </a:fld>
            <a:endParaRPr lang="en-IN"/>
          </a:p>
        </p:txBody>
      </p:sp>
    </p:spTree>
    <p:extLst>
      <p:ext uri="{BB962C8B-B14F-4D97-AF65-F5344CB8AC3E}">
        <p14:creationId xmlns:p14="http://schemas.microsoft.com/office/powerpoint/2010/main" val="1183580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7D4EEF9-ABC6-0600-C331-408C4C1239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84D3054E-6720-E408-95E2-9674A03EB0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0851D5A-EE4E-461D-EDCA-E9944D90FD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C5B495-B047-4AAA-911D-50F2141DA69A}" type="datetimeFigureOut">
              <a:rPr lang="en-IN" smtClean="0"/>
              <a:t>06-02-2025</a:t>
            </a:fld>
            <a:endParaRPr lang="en-IN"/>
          </a:p>
        </p:txBody>
      </p:sp>
      <p:sp>
        <p:nvSpPr>
          <p:cNvPr id="5" name="Footer Placeholder 4">
            <a:extLst>
              <a:ext uri="{FF2B5EF4-FFF2-40B4-BE49-F238E27FC236}">
                <a16:creationId xmlns="" xmlns:a16="http://schemas.microsoft.com/office/drawing/2014/main" id="{D53AF4E2-7E58-31F6-0319-C857A927A6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204B6D08-0C99-09E1-8721-83A84EC943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58767-A281-4A55-AD04-2FA76E423B55}" type="slidenum">
              <a:rPr lang="en-IN" smtClean="0"/>
              <a:t>‹#›</a:t>
            </a:fld>
            <a:endParaRPr lang="en-IN"/>
          </a:p>
        </p:txBody>
      </p:sp>
    </p:spTree>
    <p:extLst>
      <p:ext uri="{BB962C8B-B14F-4D97-AF65-F5344CB8AC3E}">
        <p14:creationId xmlns:p14="http://schemas.microsoft.com/office/powerpoint/2010/main" val="6693925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javatpoint.com/inheritance-in-java" TargetMode="External"/><Relationship Id="rId2" Type="http://schemas.openxmlformats.org/officeDocument/2006/relationships/hyperlink" Target="https://www.javatpoint.com/abstract-class-in-java"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geeksforgeeks.org/overriding-in-java/" TargetMode="External"/><Relationship Id="rId2" Type="http://schemas.openxmlformats.org/officeDocument/2006/relationships/hyperlink" Target="https://www.geeksforgeeks.org/dynamic-method-dispatch-runtime-polymorphism-java/"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geeksforgeeks.org/abstraction-in-java-2" TargetMode="External"/><Relationship Id="rId2" Type="http://schemas.openxmlformats.org/officeDocument/2006/relationships/hyperlink" Target="https://www.geeksforgeeks.org/overriding-in-java"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geeksforgeeks.org/java-and-multiple-inheritance" TargetMode="External"/><Relationship Id="rId2" Type="http://schemas.openxmlformats.org/officeDocument/2006/relationships/hyperlink" Target="https://www.geeksforgeeks.org/g-fact-91" TargetMode="External"/><Relationship Id="rId1" Type="http://schemas.openxmlformats.org/officeDocument/2006/relationships/slideLayout" Target="../slideLayouts/slideLayout2.xml"/><Relationship Id="rId4" Type="http://schemas.openxmlformats.org/officeDocument/2006/relationships/hyperlink" Target="https://www.geeksforgeeks.org/interfaces-in-java"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6CF0F9-0000-4E7D-012D-4414239DCCE0}"/>
              </a:ext>
            </a:extLst>
          </p:cNvPr>
          <p:cNvSpPr>
            <a:spLocks noGrp="1"/>
          </p:cNvSpPr>
          <p:nvPr>
            <p:ph type="ctrTitle"/>
          </p:nvPr>
        </p:nvSpPr>
        <p:spPr/>
        <p:txBody>
          <a:bodyPr>
            <a:normAutofit/>
          </a:bodyPr>
          <a:lstStyle/>
          <a:p>
            <a:r>
              <a:rPr lang="en-US" sz="6600" b="1" dirty="0">
                <a:latin typeface="Times New Roman" panose="02020603050405020304" pitchFamily="18" charset="0"/>
                <a:cs typeface="Times New Roman" panose="02020603050405020304" pitchFamily="18" charset="0"/>
              </a:rPr>
              <a:t>Java Programming</a:t>
            </a:r>
            <a:endParaRPr lang="en-IN" sz="6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2354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8C78EF-66A9-D152-BF5F-E4BC2F9CD927}"/>
              </a:ext>
            </a:extLst>
          </p:cNvPr>
          <p:cNvSpPr>
            <a:spLocks noGrp="1"/>
          </p:cNvSpPr>
          <p:nvPr>
            <p:ph type="title"/>
          </p:nvPr>
        </p:nvSpPr>
        <p:spPr>
          <a:xfrm>
            <a:off x="371475" y="-214312"/>
            <a:ext cx="10982325" cy="1114426"/>
          </a:xfrm>
        </p:spPr>
        <p:txBody>
          <a:bodyPr/>
          <a:lstStyle/>
          <a:p>
            <a:r>
              <a:rPr lang="en-US" b="1" dirty="0">
                <a:latin typeface="Times New Roman" panose="02020603050405020304" pitchFamily="18" charset="0"/>
                <a:cs typeface="Times New Roman" panose="02020603050405020304" pitchFamily="18" charset="0"/>
              </a:rPr>
              <a:t>Java:</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E21476CD-75BF-42A7-296C-02BE81DE6452}"/>
              </a:ext>
            </a:extLst>
          </p:cNvPr>
          <p:cNvSpPr>
            <a:spLocks noGrp="1"/>
          </p:cNvSpPr>
          <p:nvPr>
            <p:ph idx="1"/>
          </p:nvPr>
        </p:nvSpPr>
        <p:spPr>
          <a:xfrm>
            <a:off x="185737" y="900114"/>
            <a:ext cx="11168063" cy="6157912"/>
          </a:xfrm>
        </p:spPr>
        <p:txBody>
          <a:bodyPr>
            <a:normAutofit fontScale="92500" lnSpcReduction="20000"/>
          </a:bodyPr>
          <a:lstStyle/>
          <a:p>
            <a:r>
              <a:rPr lang="en-US" b="1" dirty="0"/>
              <a:t>Java</a:t>
            </a:r>
            <a:r>
              <a:rPr lang="en-US" dirty="0"/>
              <a:t> is a high-level, object-oriented, class-based, and platform-independent programming language. </a:t>
            </a:r>
          </a:p>
          <a:p>
            <a:r>
              <a:rPr lang="en-US" dirty="0"/>
              <a:t>It was developed by </a:t>
            </a:r>
            <a:r>
              <a:rPr lang="en-US" b="1" dirty="0"/>
              <a:t>Sun Microsystems</a:t>
            </a:r>
            <a:r>
              <a:rPr lang="en-US" dirty="0"/>
              <a:t> (now owned by Oracle Corporation) and released in </a:t>
            </a:r>
            <a:r>
              <a:rPr lang="en-US" b="1" dirty="0"/>
              <a:t>1995</a:t>
            </a:r>
            <a:r>
              <a:rPr lang="en-US" dirty="0"/>
              <a:t>. </a:t>
            </a:r>
          </a:p>
          <a:p>
            <a:r>
              <a:rPr lang="en-US" dirty="0"/>
              <a:t>Java follows the "Write Once, Run Anywhere" (WORA) philosophy, meaning that Java code can run on any platform that has the Java Virtual Machine (JVM).</a:t>
            </a:r>
          </a:p>
          <a:p>
            <a:r>
              <a:rPr lang="en-US" b="1" dirty="0"/>
              <a:t>Key Features of Java</a:t>
            </a:r>
          </a:p>
          <a:p>
            <a:pPr>
              <a:buFont typeface="+mj-lt"/>
              <a:buAutoNum type="arabicPeriod"/>
            </a:pPr>
            <a:r>
              <a:rPr lang="en-US" b="1" dirty="0"/>
              <a:t>Platform-Independent</a:t>
            </a:r>
            <a:r>
              <a:rPr lang="en-US" dirty="0"/>
              <a:t>: Compiled Java code (bytecode) can run on any operating system with a JVM.</a:t>
            </a:r>
          </a:p>
          <a:p>
            <a:pPr>
              <a:buFont typeface="+mj-lt"/>
              <a:buAutoNum type="arabicPeriod"/>
            </a:pPr>
            <a:r>
              <a:rPr lang="en-US" b="1" dirty="0"/>
              <a:t>Object-Oriented</a:t>
            </a:r>
            <a:r>
              <a:rPr lang="en-US" dirty="0"/>
              <a:t>: Everything in Java revolves around objects and classes.</a:t>
            </a:r>
          </a:p>
          <a:p>
            <a:pPr>
              <a:buFont typeface="+mj-lt"/>
              <a:buAutoNum type="arabicPeriod"/>
            </a:pPr>
            <a:r>
              <a:rPr lang="en-US" b="1" dirty="0"/>
              <a:t>Simple and Secure</a:t>
            </a:r>
            <a:r>
              <a:rPr lang="en-US" dirty="0"/>
              <a:t>: It has simple syntax and includes built-in security features.</a:t>
            </a:r>
          </a:p>
          <a:p>
            <a:pPr>
              <a:buFont typeface="+mj-lt"/>
              <a:buAutoNum type="arabicPeriod"/>
            </a:pPr>
            <a:r>
              <a:rPr lang="en-US" b="1" dirty="0"/>
              <a:t>Robust</a:t>
            </a:r>
            <a:r>
              <a:rPr lang="en-US" dirty="0"/>
              <a:t>: Java has strong memory management, exception handling, and type-checking mechanisms.</a:t>
            </a:r>
          </a:p>
          <a:p>
            <a:pPr>
              <a:buFont typeface="+mj-lt"/>
              <a:buAutoNum type="arabicPeriod"/>
            </a:pPr>
            <a:r>
              <a:rPr lang="en-US" b="1" dirty="0"/>
              <a:t>Multithreaded</a:t>
            </a:r>
            <a:r>
              <a:rPr lang="en-US" dirty="0"/>
              <a:t>: Java supports concurrent programming with threads.</a:t>
            </a:r>
          </a:p>
          <a:p>
            <a:pPr>
              <a:buFont typeface="+mj-lt"/>
              <a:buAutoNum type="arabicPeriod"/>
            </a:pPr>
            <a:r>
              <a:rPr lang="en-US" b="1" dirty="0"/>
              <a:t>Rich APIs</a:t>
            </a:r>
            <a:r>
              <a:rPr lang="en-US" dirty="0"/>
              <a:t>: Provides libraries for networking, GUI development, data structures, and more.</a:t>
            </a:r>
          </a:p>
          <a:p>
            <a:endParaRPr lang="en-IN" dirty="0"/>
          </a:p>
        </p:txBody>
      </p:sp>
    </p:spTree>
    <p:extLst>
      <p:ext uri="{BB962C8B-B14F-4D97-AF65-F5344CB8AC3E}">
        <p14:creationId xmlns:p14="http://schemas.microsoft.com/office/powerpoint/2010/main" val="1569375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6A8D6A-731B-E920-E166-3325AD0C52F9}"/>
              </a:ext>
            </a:extLst>
          </p:cNvPr>
          <p:cNvSpPr>
            <a:spLocks noGrp="1"/>
          </p:cNvSpPr>
          <p:nvPr>
            <p:ph type="title"/>
          </p:nvPr>
        </p:nvSpPr>
        <p:spPr/>
        <p:txBody>
          <a:bodyPr/>
          <a:lstStyle/>
          <a:p>
            <a:r>
              <a:rPr lang="en-US"/>
              <a:t>Example: Hello World in Java</a:t>
            </a:r>
            <a:endParaRPr lang="en-IN"/>
          </a:p>
        </p:txBody>
      </p:sp>
      <p:sp>
        <p:nvSpPr>
          <p:cNvPr id="3" name="Content Placeholder 2">
            <a:extLst>
              <a:ext uri="{FF2B5EF4-FFF2-40B4-BE49-F238E27FC236}">
                <a16:creationId xmlns="" xmlns:a16="http://schemas.microsoft.com/office/drawing/2014/main" id="{7A11701D-340D-752F-0F57-A17BE64059DC}"/>
              </a:ext>
            </a:extLst>
          </p:cNvPr>
          <p:cNvSpPr>
            <a:spLocks noGrp="1"/>
          </p:cNvSpPr>
          <p:nvPr>
            <p:ph idx="1"/>
          </p:nvPr>
        </p:nvSpPr>
        <p:spPr/>
        <p:txBody>
          <a:bodyPr/>
          <a:lstStyle/>
          <a:p>
            <a:pPr marL="0" indent="0">
              <a:buNone/>
            </a:pPr>
            <a:r>
              <a:rPr lang="en-IN" dirty="0"/>
              <a:t>// Java program to print "Hello, World!"</a:t>
            </a:r>
          </a:p>
          <a:p>
            <a:pPr marL="0" indent="0">
              <a:buNone/>
            </a:pPr>
            <a:r>
              <a:rPr lang="en-IN" dirty="0"/>
              <a:t>public class HelloWorld {</a:t>
            </a:r>
          </a:p>
          <a:p>
            <a:pPr marL="0" indent="0">
              <a:buNone/>
            </a:pPr>
            <a:r>
              <a:rPr lang="en-IN" dirty="0"/>
              <a:t>    public static void main(String[] </a:t>
            </a:r>
            <a:r>
              <a:rPr lang="en-IN" dirty="0" err="1"/>
              <a:t>args</a:t>
            </a:r>
            <a:r>
              <a:rPr lang="en-IN" dirty="0"/>
              <a:t>) {</a:t>
            </a:r>
          </a:p>
          <a:p>
            <a:pPr marL="0" indent="0">
              <a:buNone/>
            </a:pPr>
            <a:r>
              <a:rPr lang="en-IN" dirty="0"/>
              <a:t>        // Print a message to the console</a:t>
            </a:r>
          </a:p>
          <a:p>
            <a:pPr marL="0" indent="0">
              <a:buNone/>
            </a:pPr>
            <a:r>
              <a:rPr lang="en-IN" dirty="0"/>
              <a:t>        </a:t>
            </a:r>
            <a:r>
              <a:rPr lang="en-IN" dirty="0" err="1"/>
              <a:t>System.out.println</a:t>
            </a:r>
            <a:r>
              <a:rPr lang="en-IN" dirty="0"/>
              <a:t>("Hello, World!");</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257091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5DE1079-BF18-A71C-5643-44CEB43EF09F}"/>
              </a:ext>
            </a:extLst>
          </p:cNvPr>
          <p:cNvSpPr>
            <a:spLocks noGrp="1"/>
          </p:cNvSpPr>
          <p:nvPr>
            <p:ph type="title"/>
          </p:nvPr>
        </p:nvSpPr>
        <p:spPr/>
        <p:txBody>
          <a:bodyPr/>
          <a:lstStyle/>
          <a:p>
            <a:r>
              <a:rPr lang="en-IN" b="1" dirty="0"/>
              <a:t>Explanation</a:t>
            </a:r>
          </a:p>
        </p:txBody>
      </p:sp>
      <p:sp>
        <p:nvSpPr>
          <p:cNvPr id="3" name="Content Placeholder 2">
            <a:extLst>
              <a:ext uri="{FF2B5EF4-FFF2-40B4-BE49-F238E27FC236}">
                <a16:creationId xmlns="" xmlns:a16="http://schemas.microsoft.com/office/drawing/2014/main" id="{E269E9A8-512F-2718-2741-47356827D48C}"/>
              </a:ext>
            </a:extLst>
          </p:cNvPr>
          <p:cNvSpPr>
            <a:spLocks noGrp="1"/>
          </p:cNvSpPr>
          <p:nvPr>
            <p:ph idx="1"/>
          </p:nvPr>
        </p:nvSpPr>
        <p:spPr>
          <a:xfrm>
            <a:off x="642939" y="1514476"/>
            <a:ext cx="10710862" cy="5343524"/>
          </a:xfrm>
        </p:spPr>
        <p:txBody>
          <a:bodyPr>
            <a:normAutofit fontScale="92500" lnSpcReduction="20000"/>
          </a:bodyPr>
          <a:lstStyle/>
          <a:p>
            <a:pPr marL="514350" indent="-514350">
              <a:buFont typeface="+mj-lt"/>
              <a:buAutoNum type="arabicPeriod"/>
            </a:pPr>
            <a:r>
              <a:rPr lang="en-US" dirty="0"/>
              <a:t>public class HelloWorld:</a:t>
            </a:r>
          </a:p>
          <a:p>
            <a:pPr marL="0" indent="0">
              <a:buNone/>
            </a:pPr>
            <a:r>
              <a:rPr lang="en-US" dirty="0"/>
              <a:t>Declares a class named HelloWorld. In Java, every program must have at least one class.</a:t>
            </a:r>
          </a:p>
          <a:p>
            <a:pPr marL="0" indent="0">
              <a:buNone/>
            </a:pPr>
            <a:r>
              <a:rPr lang="en-US" dirty="0"/>
              <a:t>2.   public static void main(String[] </a:t>
            </a:r>
            <a:r>
              <a:rPr lang="en-US" dirty="0" err="1"/>
              <a:t>args</a:t>
            </a:r>
            <a:r>
              <a:rPr lang="en-US" dirty="0"/>
              <a:t>):</a:t>
            </a:r>
          </a:p>
          <a:p>
            <a:pPr marL="0" indent="0">
              <a:buNone/>
            </a:pPr>
            <a:r>
              <a:rPr lang="en-US" dirty="0"/>
              <a:t>The main method is the entry point of the program. It’s where the program starts execution.</a:t>
            </a:r>
          </a:p>
          <a:p>
            <a:r>
              <a:rPr lang="en-US" dirty="0"/>
              <a:t>public: Accessible from anywhere.</a:t>
            </a:r>
          </a:p>
          <a:p>
            <a:r>
              <a:rPr lang="en-US" dirty="0"/>
              <a:t>static: No need to create an object of the class to invoke this method.</a:t>
            </a:r>
          </a:p>
          <a:p>
            <a:r>
              <a:rPr lang="en-US" dirty="0"/>
              <a:t>void: The method doesn’t return any value.</a:t>
            </a:r>
          </a:p>
          <a:p>
            <a:r>
              <a:rPr lang="en-US" dirty="0"/>
              <a:t>String[] </a:t>
            </a:r>
            <a:r>
              <a:rPr lang="en-US" dirty="0" err="1"/>
              <a:t>args</a:t>
            </a:r>
            <a:r>
              <a:rPr lang="en-US" dirty="0"/>
              <a:t>: Command-line arguments passed as an array.</a:t>
            </a:r>
          </a:p>
          <a:p>
            <a:pPr marL="514350" indent="-514350">
              <a:buAutoNum type="arabicPeriod" startAt="3"/>
            </a:pPr>
            <a:r>
              <a:rPr lang="en-US" dirty="0" err="1"/>
              <a:t>System.out.println</a:t>
            </a:r>
            <a:r>
              <a:rPr lang="en-US" dirty="0"/>
              <a:t>("Hello, World!");</a:t>
            </a:r>
          </a:p>
          <a:p>
            <a:r>
              <a:rPr lang="en-US" dirty="0"/>
              <a:t>Prints the string Hello, World! to the console.</a:t>
            </a:r>
          </a:p>
          <a:p>
            <a:r>
              <a:rPr lang="en-US" dirty="0" err="1"/>
              <a:t>System.out</a:t>
            </a:r>
            <a:r>
              <a:rPr lang="en-US" dirty="0"/>
              <a:t> is used for output.</a:t>
            </a:r>
            <a:endParaRPr lang="en-IN" dirty="0"/>
          </a:p>
        </p:txBody>
      </p:sp>
    </p:spTree>
    <p:extLst>
      <p:ext uri="{BB962C8B-B14F-4D97-AF65-F5344CB8AC3E}">
        <p14:creationId xmlns:p14="http://schemas.microsoft.com/office/powerpoint/2010/main" val="3240301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90B0BED-AC63-144D-65F2-653F393DD829}"/>
              </a:ext>
            </a:extLst>
          </p:cNvPr>
          <p:cNvSpPr>
            <a:spLocks noGrp="1"/>
          </p:cNvSpPr>
          <p:nvPr>
            <p:ph idx="1"/>
          </p:nvPr>
        </p:nvSpPr>
        <p:spPr>
          <a:xfrm>
            <a:off x="250521" y="388307"/>
            <a:ext cx="11103279" cy="5788656"/>
          </a:xfrm>
        </p:spPr>
        <p:txBody>
          <a:bodyPr/>
          <a:lstStyle/>
          <a:p>
            <a:r>
              <a:rPr lang="en-US" dirty="0"/>
              <a:t>How to Run a Java Program</a:t>
            </a:r>
          </a:p>
          <a:p>
            <a:pPr marL="514350" indent="-514350">
              <a:buFont typeface="+mj-lt"/>
              <a:buAutoNum type="arabicPeriod"/>
            </a:pPr>
            <a:r>
              <a:rPr lang="en-US" dirty="0"/>
              <a:t>Write the Code: Save the file as HelloWorld.java.</a:t>
            </a:r>
          </a:p>
          <a:p>
            <a:pPr marL="514350" indent="-514350">
              <a:buFont typeface="+mj-lt"/>
              <a:buAutoNum type="arabicPeriod"/>
            </a:pPr>
            <a:r>
              <a:rPr lang="en-US" dirty="0"/>
              <a:t>Compile: Run </a:t>
            </a:r>
            <a:r>
              <a:rPr lang="en-US" dirty="0" err="1"/>
              <a:t>javac</a:t>
            </a:r>
            <a:r>
              <a:rPr lang="en-US" dirty="0"/>
              <a:t> HelloWorld.java to compile the code. It generates a file named </a:t>
            </a:r>
            <a:r>
              <a:rPr lang="en-US" dirty="0" err="1"/>
              <a:t>HelloWorld.class</a:t>
            </a:r>
            <a:r>
              <a:rPr lang="en-US" dirty="0"/>
              <a:t>.</a:t>
            </a:r>
          </a:p>
          <a:p>
            <a:pPr marL="514350" indent="-514350">
              <a:buFont typeface="+mj-lt"/>
              <a:buAutoNum type="arabicPeriod"/>
            </a:pPr>
            <a:r>
              <a:rPr lang="en-US" dirty="0"/>
              <a:t>Run: Execute the program using java HelloWorld.</a:t>
            </a:r>
          </a:p>
          <a:p>
            <a:pPr marL="0" indent="0">
              <a:buNone/>
            </a:pPr>
            <a:endParaRPr lang="en-US" dirty="0"/>
          </a:p>
          <a:p>
            <a:pPr marL="0" indent="0">
              <a:buNone/>
            </a:pPr>
            <a:r>
              <a:rPr lang="en-US" dirty="0"/>
              <a:t>Output-</a:t>
            </a:r>
          </a:p>
          <a:p>
            <a:pPr marL="0" indent="0">
              <a:buNone/>
            </a:pPr>
            <a:r>
              <a:rPr lang="en-US" dirty="0"/>
              <a:t> Hello, World!</a:t>
            </a:r>
            <a:endParaRPr lang="en-IN" dirty="0"/>
          </a:p>
        </p:txBody>
      </p:sp>
    </p:spTree>
    <p:extLst>
      <p:ext uri="{BB962C8B-B14F-4D97-AF65-F5344CB8AC3E}">
        <p14:creationId xmlns:p14="http://schemas.microsoft.com/office/powerpoint/2010/main" val="2785923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A58ADF-A111-242A-09EA-A23E59ADA00F}"/>
              </a:ext>
            </a:extLst>
          </p:cNvPr>
          <p:cNvSpPr>
            <a:spLocks noGrp="1"/>
          </p:cNvSpPr>
          <p:nvPr>
            <p:ph type="title"/>
          </p:nvPr>
        </p:nvSpPr>
        <p:spPr>
          <a:xfrm>
            <a:off x="838200" y="365125"/>
            <a:ext cx="10515600" cy="777875"/>
          </a:xfrm>
        </p:spPr>
        <p:txBody>
          <a:bodyPr/>
          <a:lstStyle/>
          <a:p>
            <a:r>
              <a:rPr lang="en-US" b="1" dirty="0">
                <a:latin typeface="Times New Roman" panose="02020603050405020304" pitchFamily="18" charset="0"/>
                <a:cs typeface="Times New Roman" panose="02020603050405020304" pitchFamily="18" charset="0"/>
              </a:rPr>
              <a:t>Class and Objects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CC4F74CF-5A36-F20E-A138-FA5D1F80ACAF}"/>
              </a:ext>
            </a:extLst>
          </p:cNvPr>
          <p:cNvSpPr>
            <a:spLocks noGrp="1"/>
          </p:cNvSpPr>
          <p:nvPr>
            <p:ph idx="1"/>
          </p:nvPr>
        </p:nvSpPr>
        <p:spPr>
          <a:xfrm>
            <a:off x="657225" y="1385888"/>
            <a:ext cx="10696575" cy="4791075"/>
          </a:xfrm>
        </p:spPr>
        <p:txBody>
          <a:bodyPr>
            <a:normAutofit fontScale="92500" lnSpcReduction="20000"/>
          </a:bodyPr>
          <a:lstStyle/>
          <a:p>
            <a:r>
              <a:rPr lang="en-US" dirty="0"/>
              <a:t>In Java, a </a:t>
            </a:r>
            <a:r>
              <a:rPr lang="en-US" b="1" dirty="0"/>
              <a:t>class</a:t>
            </a:r>
            <a:r>
              <a:rPr lang="en-US" dirty="0"/>
              <a:t> is a blueprint or template for creating objects. It defines the properties (fields) and behaviors (methods) that an object can have. An </a:t>
            </a:r>
            <a:r>
              <a:rPr lang="en-US" b="1" dirty="0"/>
              <a:t>object</a:t>
            </a:r>
            <a:r>
              <a:rPr lang="en-US" dirty="0"/>
              <a:t> is an instance of a class that represents a specific entity.</a:t>
            </a:r>
          </a:p>
          <a:p>
            <a:endParaRPr lang="en-US" dirty="0"/>
          </a:p>
          <a:p>
            <a:r>
              <a:rPr lang="en-IN" dirty="0"/>
              <a:t>Key Concepts</a:t>
            </a:r>
          </a:p>
          <a:p>
            <a:pPr marL="514350" indent="-514350">
              <a:buFont typeface="+mj-lt"/>
              <a:buAutoNum type="arabicPeriod"/>
            </a:pPr>
            <a:r>
              <a:rPr lang="en-IN" b="1" dirty="0"/>
              <a:t>Class</a:t>
            </a:r>
            <a:r>
              <a:rPr lang="en-IN" dirty="0"/>
              <a:t>:</a:t>
            </a:r>
          </a:p>
          <a:p>
            <a:r>
              <a:rPr lang="en-US" dirty="0"/>
              <a:t>A user-defined data type that defines attributes (variables) and methods (functions).</a:t>
            </a:r>
          </a:p>
          <a:p>
            <a:r>
              <a:rPr lang="en-US" dirty="0"/>
              <a:t>Example: A class Car defines properties like color, brand, and speed.</a:t>
            </a:r>
          </a:p>
          <a:p>
            <a:pPr marL="0" indent="0">
              <a:buNone/>
            </a:pPr>
            <a:r>
              <a:rPr lang="en-US" dirty="0"/>
              <a:t>2. Object:</a:t>
            </a:r>
          </a:p>
          <a:p>
            <a:r>
              <a:rPr lang="en-US" dirty="0"/>
              <a:t>An instance of a class. Objects have state and behavior.</a:t>
            </a:r>
          </a:p>
          <a:p>
            <a:r>
              <a:rPr lang="en-US" dirty="0"/>
              <a:t>Example: A specific car (e.g., a red Toyota) is an object of the Car class.</a:t>
            </a:r>
          </a:p>
          <a:p>
            <a:endParaRPr lang="en-US" dirty="0"/>
          </a:p>
          <a:p>
            <a:pPr marL="0" indent="0">
              <a:buNone/>
            </a:pPr>
            <a:endParaRPr lang="en-IN" dirty="0"/>
          </a:p>
        </p:txBody>
      </p:sp>
    </p:spTree>
    <p:extLst>
      <p:ext uri="{BB962C8B-B14F-4D97-AF65-F5344CB8AC3E}">
        <p14:creationId xmlns:p14="http://schemas.microsoft.com/office/powerpoint/2010/main" val="2317048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152BCAA-1BF3-6E9C-CED4-82BB1AE2D0C6}"/>
              </a:ext>
            </a:extLst>
          </p:cNvPr>
          <p:cNvSpPr>
            <a:spLocks noGrp="1"/>
          </p:cNvSpPr>
          <p:nvPr>
            <p:ph type="title"/>
          </p:nvPr>
        </p:nvSpPr>
        <p:spPr>
          <a:xfrm>
            <a:off x="414338" y="365125"/>
            <a:ext cx="10939462" cy="663575"/>
          </a:xfrm>
        </p:spPr>
        <p:txBody>
          <a:bodyPr>
            <a:normAutofit fontScale="90000"/>
          </a:bodyPr>
          <a:lstStyle/>
          <a:p>
            <a:pPr marL="571500" indent="-571500">
              <a:buFont typeface="Arial" panose="020B0604020202020204" pitchFamily="34" charset="0"/>
              <a:buChar char="•"/>
            </a:pPr>
            <a:r>
              <a:rPr lang="en-IN" sz="3600" b="1" dirty="0">
                <a:latin typeface="Times New Roman" panose="02020603050405020304" pitchFamily="18" charset="0"/>
                <a:cs typeface="Times New Roman" panose="02020603050405020304" pitchFamily="18" charset="0"/>
              </a:rPr>
              <a:t>Syntax of a Class-</a:t>
            </a:r>
            <a:r>
              <a:rPr lang="en-IN" dirty="0"/>
              <a:t/>
            </a:r>
            <a:br>
              <a:rPr lang="en-IN" dirty="0"/>
            </a:br>
            <a:endParaRPr lang="en-IN" dirty="0"/>
          </a:p>
        </p:txBody>
      </p:sp>
      <p:sp>
        <p:nvSpPr>
          <p:cNvPr id="3" name="Content Placeholder 2">
            <a:extLst>
              <a:ext uri="{FF2B5EF4-FFF2-40B4-BE49-F238E27FC236}">
                <a16:creationId xmlns="" xmlns:a16="http://schemas.microsoft.com/office/drawing/2014/main" id="{C00C6DDE-04BB-46F9-771A-D6EE619E8763}"/>
              </a:ext>
            </a:extLst>
          </p:cNvPr>
          <p:cNvSpPr>
            <a:spLocks noGrp="1"/>
          </p:cNvSpPr>
          <p:nvPr>
            <p:ph idx="1"/>
          </p:nvPr>
        </p:nvSpPr>
        <p:spPr>
          <a:xfrm>
            <a:off x="271463" y="885825"/>
            <a:ext cx="11082337" cy="5291138"/>
          </a:xfrm>
        </p:spPr>
        <p:txBody>
          <a:bodyPr>
            <a:normAutofit fontScale="92500" lnSpcReduction="20000"/>
          </a:bodyPr>
          <a:lstStyle/>
          <a:p>
            <a:pPr marL="0" indent="0">
              <a:buNone/>
            </a:pPr>
            <a:r>
              <a:rPr lang="en-US" dirty="0"/>
              <a:t>class </a:t>
            </a:r>
            <a:r>
              <a:rPr lang="en-US" dirty="0" err="1"/>
              <a:t>ClassName</a:t>
            </a:r>
            <a:r>
              <a:rPr lang="en-US" dirty="0"/>
              <a:t> {</a:t>
            </a:r>
          </a:p>
          <a:p>
            <a:pPr marL="0" indent="0">
              <a:buNone/>
            </a:pPr>
            <a:r>
              <a:rPr lang="en-US" dirty="0"/>
              <a:t>    // Fields (attributes)</a:t>
            </a:r>
          </a:p>
          <a:p>
            <a:pPr marL="0" indent="0">
              <a:buNone/>
            </a:pPr>
            <a:r>
              <a:rPr lang="en-US" dirty="0"/>
              <a:t>    </a:t>
            </a:r>
            <a:r>
              <a:rPr lang="en-US" dirty="0" err="1"/>
              <a:t>DataType</a:t>
            </a:r>
            <a:r>
              <a:rPr lang="en-US" dirty="0"/>
              <a:t> </a:t>
            </a:r>
            <a:r>
              <a:rPr lang="en-US" dirty="0" err="1"/>
              <a:t>fieldName</a:t>
            </a:r>
            <a:r>
              <a:rPr lang="en-US" dirty="0"/>
              <a:t>;</a:t>
            </a:r>
          </a:p>
          <a:p>
            <a:pPr marL="0" indent="0">
              <a:buNone/>
            </a:pPr>
            <a:endParaRPr lang="en-US" dirty="0"/>
          </a:p>
          <a:p>
            <a:pPr marL="0" indent="0">
              <a:buNone/>
            </a:pPr>
            <a:r>
              <a:rPr lang="en-US" dirty="0"/>
              <a:t>    // Methods (behavior)</a:t>
            </a:r>
          </a:p>
          <a:p>
            <a:pPr marL="0" indent="0">
              <a:buNone/>
            </a:pPr>
            <a:r>
              <a:rPr lang="en-US" dirty="0"/>
              <a:t>    </a:t>
            </a:r>
            <a:r>
              <a:rPr lang="en-US" dirty="0" err="1"/>
              <a:t>ReturnType</a:t>
            </a:r>
            <a:r>
              <a:rPr lang="en-US" dirty="0"/>
              <a:t> </a:t>
            </a:r>
            <a:r>
              <a:rPr lang="en-US" dirty="0" err="1"/>
              <a:t>methodName</a:t>
            </a:r>
            <a:r>
              <a:rPr lang="en-US" dirty="0"/>
              <a:t>() {</a:t>
            </a:r>
          </a:p>
          <a:p>
            <a:pPr marL="0" indent="0">
              <a:buNone/>
            </a:pPr>
            <a:r>
              <a:rPr lang="en-US" dirty="0"/>
              <a:t>        // Method body</a:t>
            </a:r>
          </a:p>
          <a:p>
            <a:pPr marL="0" indent="0">
              <a:buNone/>
            </a:pPr>
            <a:r>
              <a:rPr lang="en-US" dirty="0"/>
              <a:t>    }</a:t>
            </a:r>
          </a:p>
          <a:p>
            <a:pPr marL="0" indent="0">
              <a:buNone/>
            </a:pPr>
            <a:r>
              <a:rPr lang="en-US" dirty="0"/>
              <a:t>}</a:t>
            </a:r>
          </a:p>
          <a:p>
            <a:pPr marL="0" indent="0">
              <a:buNone/>
            </a:pPr>
            <a:endParaRPr lang="en-US" dirty="0"/>
          </a:p>
          <a:p>
            <a:r>
              <a:rPr lang="en-IN" b="1" dirty="0">
                <a:latin typeface="Times New Roman" panose="02020603050405020304" pitchFamily="18" charset="0"/>
                <a:cs typeface="Times New Roman" panose="02020603050405020304" pitchFamily="18" charset="0"/>
              </a:rPr>
              <a:t>Syntax of Object-</a:t>
            </a:r>
          </a:p>
          <a:p>
            <a:pPr marL="0" indent="0">
              <a:buNone/>
            </a:pPr>
            <a:r>
              <a:rPr lang="en-IN" dirty="0" err="1"/>
              <a:t>ClassName</a:t>
            </a:r>
            <a:r>
              <a:rPr lang="en-IN" dirty="0"/>
              <a:t> </a:t>
            </a:r>
            <a:r>
              <a:rPr lang="en-IN" dirty="0" err="1"/>
              <a:t>objectName</a:t>
            </a:r>
            <a:r>
              <a:rPr lang="en-IN" dirty="0"/>
              <a:t> = new </a:t>
            </a:r>
            <a:r>
              <a:rPr lang="en-IN" dirty="0" err="1"/>
              <a:t>ClassName</a:t>
            </a:r>
            <a:r>
              <a:rPr lang="en-IN" dirty="0"/>
              <a:t>();</a:t>
            </a:r>
          </a:p>
          <a:p>
            <a:endParaRPr lang="en-IN" dirty="0"/>
          </a:p>
        </p:txBody>
      </p:sp>
    </p:spTree>
    <p:extLst>
      <p:ext uri="{BB962C8B-B14F-4D97-AF65-F5344CB8AC3E}">
        <p14:creationId xmlns:p14="http://schemas.microsoft.com/office/powerpoint/2010/main" val="2755910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84F6F5C-8D36-8CB0-3453-AC6EC2505CE8}"/>
              </a:ext>
            </a:extLst>
          </p:cNvPr>
          <p:cNvSpPr>
            <a:spLocks noGrp="1"/>
          </p:cNvSpPr>
          <p:nvPr>
            <p:ph type="title"/>
          </p:nvPr>
        </p:nvSpPr>
        <p:spPr>
          <a:xfrm>
            <a:off x="171450" y="365125"/>
            <a:ext cx="11182350" cy="606425"/>
          </a:xfrm>
        </p:spPr>
        <p:txBody>
          <a:bodyPr>
            <a:normAutofit fontScale="90000"/>
          </a:bodyPr>
          <a:lstStyle/>
          <a:p>
            <a:r>
              <a:rPr lang="en-IN" sz="4000" b="1" i="0" dirty="0">
                <a:effectLst/>
                <a:latin typeface="Times New Roman" panose="02020603050405020304" pitchFamily="18" charset="0"/>
                <a:cs typeface="Times New Roman" panose="02020603050405020304" pitchFamily="18" charset="0"/>
              </a:rPr>
              <a:t>Initializing Object in Java</a:t>
            </a:r>
            <a:r>
              <a:rPr lang="en-IN" b="0" i="0" dirty="0">
                <a:effectLst/>
                <a:latin typeface="Montserrat" panose="00000500000000000000" pitchFamily="2" charset="0"/>
              </a:rPr>
              <a:t/>
            </a:r>
            <a:br>
              <a:rPr lang="en-IN" b="0" i="0" dirty="0">
                <a:effectLst/>
                <a:latin typeface="Montserrat" panose="00000500000000000000" pitchFamily="2" charset="0"/>
              </a:rPr>
            </a:br>
            <a:endParaRPr lang="en-IN" dirty="0"/>
          </a:p>
        </p:txBody>
      </p:sp>
      <p:sp>
        <p:nvSpPr>
          <p:cNvPr id="3" name="Content Placeholder 2">
            <a:extLst>
              <a:ext uri="{FF2B5EF4-FFF2-40B4-BE49-F238E27FC236}">
                <a16:creationId xmlns="" xmlns:a16="http://schemas.microsoft.com/office/drawing/2014/main" id="{C8644B21-F11A-1873-3417-0B43099E05E3}"/>
              </a:ext>
            </a:extLst>
          </p:cNvPr>
          <p:cNvSpPr>
            <a:spLocks noGrp="1"/>
          </p:cNvSpPr>
          <p:nvPr>
            <p:ph idx="1"/>
          </p:nvPr>
        </p:nvSpPr>
        <p:spPr>
          <a:xfrm>
            <a:off x="385762" y="728663"/>
            <a:ext cx="10968037" cy="6843711"/>
          </a:xfrm>
        </p:spPr>
        <p:txBody>
          <a:bodyPr>
            <a:normAutofit fontScale="77500" lnSpcReduction="20000"/>
          </a:bodyPr>
          <a:lstStyle/>
          <a:p>
            <a:pPr algn="just">
              <a:buFont typeface="+mj-lt"/>
              <a:buAutoNum type="arabicPeriod"/>
            </a:pPr>
            <a:r>
              <a:rPr lang="en-US" b="0" i="0" dirty="0">
                <a:solidFill>
                  <a:srgbClr val="333333"/>
                </a:solidFill>
                <a:effectLst/>
                <a:latin typeface="Montserrat" panose="00000500000000000000" pitchFamily="2" charset="0"/>
              </a:rPr>
              <a:t>By reference variable</a:t>
            </a:r>
          </a:p>
          <a:p>
            <a:pPr algn="just">
              <a:buFont typeface="+mj-lt"/>
              <a:buAutoNum type="arabicPeriod"/>
            </a:pPr>
            <a:r>
              <a:rPr lang="en-US" b="0" i="0" dirty="0">
                <a:solidFill>
                  <a:srgbClr val="333333"/>
                </a:solidFill>
                <a:effectLst/>
                <a:latin typeface="Montserrat" panose="00000500000000000000" pitchFamily="2" charset="0"/>
              </a:rPr>
              <a:t>By method</a:t>
            </a:r>
          </a:p>
          <a:p>
            <a:pPr algn="just">
              <a:buFont typeface="+mj-lt"/>
              <a:buAutoNum type="arabicPeriod"/>
            </a:pPr>
            <a:r>
              <a:rPr lang="en-US" b="0" i="0" dirty="0">
                <a:solidFill>
                  <a:srgbClr val="333333"/>
                </a:solidFill>
                <a:effectLst/>
                <a:latin typeface="Montserrat" panose="00000500000000000000" pitchFamily="2" charset="0"/>
              </a:rPr>
              <a:t>By constructor</a:t>
            </a:r>
          </a:p>
          <a:p>
            <a:pPr algn="just">
              <a:buFont typeface="+mj-lt"/>
              <a:buAutoNum type="arabicPeriod"/>
            </a:pPr>
            <a:endParaRPr lang="en-US" dirty="0">
              <a:solidFill>
                <a:srgbClr val="333333"/>
              </a:solidFill>
              <a:latin typeface="Montserrat" panose="00000500000000000000" pitchFamily="2" charset="0"/>
            </a:endParaRPr>
          </a:p>
          <a:p>
            <a:pPr algn="l"/>
            <a:r>
              <a:rPr lang="en-US" b="0" i="0" dirty="0">
                <a:effectLst/>
                <a:latin typeface="Montserrat" panose="00000500000000000000" pitchFamily="2" charset="0"/>
              </a:rPr>
              <a:t>1) Initialization through Reference Variable</a:t>
            </a:r>
          </a:p>
          <a:p>
            <a:pPr algn="just"/>
            <a:r>
              <a:rPr lang="en-US" b="0" i="0" dirty="0">
                <a:solidFill>
                  <a:srgbClr val="333333"/>
                </a:solidFill>
                <a:effectLst/>
                <a:latin typeface="Montserrat" panose="00000500000000000000" pitchFamily="2" charset="0"/>
              </a:rPr>
              <a:t>Initializing an object means storing data in the object. Let's see a simple example where we are going to initialize the object through a reference variable.</a:t>
            </a:r>
          </a:p>
          <a:p>
            <a:pPr marL="0" indent="0" algn="l">
              <a:buNone/>
            </a:pPr>
            <a:r>
              <a:rPr lang="en-IN" b="0" i="0" dirty="0">
                <a:solidFill>
                  <a:srgbClr val="333333"/>
                </a:solidFill>
                <a:effectLst/>
                <a:latin typeface="Montserrat" panose="00000500000000000000" pitchFamily="2" charset="0"/>
              </a:rPr>
              <a:t>class Student{  </a:t>
            </a:r>
          </a:p>
          <a:p>
            <a:pPr marL="0" indent="0" algn="l">
              <a:buNone/>
            </a:pPr>
            <a:r>
              <a:rPr lang="en-IN" b="0" i="0" dirty="0">
                <a:solidFill>
                  <a:srgbClr val="333333"/>
                </a:solidFill>
                <a:effectLst/>
                <a:latin typeface="Montserrat" panose="00000500000000000000" pitchFamily="2" charset="0"/>
              </a:rPr>
              <a:t> </a:t>
            </a:r>
            <a:r>
              <a:rPr lang="en-IN" b="1" i="0" dirty="0">
                <a:solidFill>
                  <a:srgbClr val="006699"/>
                </a:solidFill>
                <a:effectLst/>
                <a:latin typeface="Montserrat" panose="00000500000000000000" pitchFamily="2" charset="0"/>
              </a:rPr>
              <a:t>int</a:t>
            </a:r>
            <a:r>
              <a:rPr lang="en-IN" b="0" i="0" dirty="0">
                <a:solidFill>
                  <a:srgbClr val="333333"/>
                </a:solidFill>
                <a:effectLst/>
                <a:latin typeface="Montserrat" panose="00000500000000000000" pitchFamily="2" charset="0"/>
              </a:rPr>
              <a:t> id;  </a:t>
            </a:r>
          </a:p>
          <a:p>
            <a:pPr marL="0" indent="0" algn="l">
              <a:buNone/>
            </a:pPr>
            <a:r>
              <a:rPr lang="en-IN" b="0" i="0" dirty="0">
                <a:solidFill>
                  <a:srgbClr val="333333"/>
                </a:solidFill>
                <a:effectLst/>
                <a:latin typeface="Montserrat" panose="00000500000000000000" pitchFamily="2" charset="0"/>
              </a:rPr>
              <a:t> String name;  </a:t>
            </a:r>
          </a:p>
          <a:p>
            <a:pPr marL="0" indent="0" algn="l">
              <a:buNone/>
            </a:pPr>
            <a:r>
              <a:rPr lang="en-IN" b="0" i="0" dirty="0">
                <a:solidFill>
                  <a:srgbClr val="333333"/>
                </a:solidFill>
                <a:effectLst/>
                <a:latin typeface="Montserrat" panose="00000500000000000000" pitchFamily="2" charset="0"/>
              </a:rPr>
              <a:t>}  </a:t>
            </a:r>
          </a:p>
          <a:p>
            <a:pPr marL="0" indent="0" algn="l">
              <a:buNone/>
            </a:pPr>
            <a:r>
              <a:rPr lang="en-IN" b="1" i="0" dirty="0">
                <a:solidFill>
                  <a:srgbClr val="006699"/>
                </a:solidFill>
                <a:effectLst/>
                <a:latin typeface="Montserrat" panose="00000500000000000000" pitchFamily="2" charset="0"/>
              </a:rPr>
              <a:t>class</a:t>
            </a:r>
            <a:r>
              <a:rPr lang="en-IN" b="0" i="0" dirty="0">
                <a:solidFill>
                  <a:srgbClr val="333333"/>
                </a:solidFill>
                <a:effectLst/>
                <a:latin typeface="Montserrat" panose="00000500000000000000" pitchFamily="2" charset="0"/>
              </a:rPr>
              <a:t> TestStudent2{  </a:t>
            </a:r>
          </a:p>
          <a:p>
            <a:pPr marL="0" indent="0" algn="l">
              <a:buNone/>
            </a:pPr>
            <a:r>
              <a:rPr lang="en-IN" b="0" i="0" dirty="0">
                <a:solidFill>
                  <a:srgbClr val="333333"/>
                </a:solidFill>
                <a:effectLst/>
                <a:latin typeface="Montserrat" panose="00000500000000000000" pitchFamily="2" charset="0"/>
              </a:rPr>
              <a:t> </a:t>
            </a:r>
            <a:r>
              <a:rPr lang="en-IN" b="1" i="0" dirty="0">
                <a:solidFill>
                  <a:srgbClr val="006699"/>
                </a:solidFill>
                <a:effectLst/>
                <a:latin typeface="Montserrat" panose="00000500000000000000" pitchFamily="2" charset="0"/>
              </a:rPr>
              <a:t>public</a:t>
            </a:r>
            <a:r>
              <a:rPr lang="en-IN" b="0" i="0" dirty="0">
                <a:solidFill>
                  <a:srgbClr val="333333"/>
                </a:solidFill>
                <a:effectLst/>
                <a:latin typeface="Montserrat" panose="00000500000000000000" pitchFamily="2" charset="0"/>
              </a:rPr>
              <a:t> </a:t>
            </a:r>
            <a:r>
              <a:rPr lang="en-IN" b="1" i="0" dirty="0">
                <a:solidFill>
                  <a:srgbClr val="006699"/>
                </a:solidFill>
                <a:effectLst/>
                <a:latin typeface="Montserrat" panose="00000500000000000000" pitchFamily="2" charset="0"/>
              </a:rPr>
              <a:t>static</a:t>
            </a:r>
            <a:r>
              <a:rPr lang="en-IN" b="0" i="0" dirty="0">
                <a:solidFill>
                  <a:srgbClr val="333333"/>
                </a:solidFill>
                <a:effectLst/>
                <a:latin typeface="Montserrat" panose="00000500000000000000" pitchFamily="2" charset="0"/>
              </a:rPr>
              <a:t> </a:t>
            </a:r>
            <a:r>
              <a:rPr lang="en-IN" b="1" i="0" dirty="0">
                <a:solidFill>
                  <a:srgbClr val="006699"/>
                </a:solidFill>
                <a:effectLst/>
                <a:latin typeface="Montserrat" panose="00000500000000000000" pitchFamily="2" charset="0"/>
              </a:rPr>
              <a:t>void</a:t>
            </a:r>
            <a:r>
              <a:rPr lang="en-IN" b="0" i="0" dirty="0">
                <a:solidFill>
                  <a:srgbClr val="333333"/>
                </a:solidFill>
                <a:effectLst/>
                <a:latin typeface="Montserrat" panose="00000500000000000000" pitchFamily="2" charset="0"/>
              </a:rPr>
              <a:t> main(String </a:t>
            </a:r>
            <a:r>
              <a:rPr lang="en-IN" b="0" i="0" dirty="0" err="1">
                <a:solidFill>
                  <a:srgbClr val="333333"/>
                </a:solidFill>
                <a:effectLst/>
                <a:latin typeface="Montserrat" panose="00000500000000000000" pitchFamily="2" charset="0"/>
              </a:rPr>
              <a:t>args</a:t>
            </a:r>
            <a:r>
              <a:rPr lang="en-IN" b="0" i="0" dirty="0">
                <a:solidFill>
                  <a:srgbClr val="333333"/>
                </a:solidFill>
                <a:effectLst/>
                <a:latin typeface="Montserrat" panose="00000500000000000000" pitchFamily="2" charset="0"/>
              </a:rPr>
              <a:t>[]){  </a:t>
            </a:r>
          </a:p>
          <a:p>
            <a:pPr marL="0" indent="0" algn="l">
              <a:buNone/>
            </a:pPr>
            <a:r>
              <a:rPr lang="en-IN" b="0" i="0" dirty="0">
                <a:solidFill>
                  <a:srgbClr val="333333"/>
                </a:solidFill>
                <a:effectLst/>
                <a:latin typeface="Montserrat" panose="00000500000000000000" pitchFamily="2" charset="0"/>
              </a:rPr>
              <a:t>  Student s1=</a:t>
            </a:r>
            <a:r>
              <a:rPr lang="en-IN" b="1" i="0" dirty="0">
                <a:solidFill>
                  <a:srgbClr val="006699"/>
                </a:solidFill>
                <a:effectLst/>
                <a:latin typeface="Montserrat" panose="00000500000000000000" pitchFamily="2" charset="0"/>
              </a:rPr>
              <a:t>new</a:t>
            </a:r>
            <a:r>
              <a:rPr lang="en-IN" b="0" i="0" dirty="0">
                <a:solidFill>
                  <a:srgbClr val="333333"/>
                </a:solidFill>
                <a:effectLst/>
                <a:latin typeface="Montserrat" panose="00000500000000000000" pitchFamily="2" charset="0"/>
              </a:rPr>
              <a:t> Student();  </a:t>
            </a:r>
          </a:p>
          <a:p>
            <a:pPr marL="0" indent="0" algn="l">
              <a:buNone/>
            </a:pPr>
            <a:r>
              <a:rPr lang="en-IN" b="0" i="0" dirty="0">
                <a:solidFill>
                  <a:srgbClr val="333333"/>
                </a:solidFill>
                <a:effectLst/>
                <a:latin typeface="Montserrat" panose="00000500000000000000" pitchFamily="2" charset="0"/>
              </a:rPr>
              <a:t>  s1.id=</a:t>
            </a:r>
            <a:r>
              <a:rPr lang="en-IN" b="0" i="0" dirty="0">
                <a:solidFill>
                  <a:srgbClr val="C00000"/>
                </a:solidFill>
                <a:effectLst/>
                <a:latin typeface="Montserrat" panose="00000500000000000000" pitchFamily="2" charset="0"/>
              </a:rPr>
              <a:t>101</a:t>
            </a:r>
            <a:r>
              <a:rPr lang="en-IN" b="0" i="0" dirty="0">
                <a:solidFill>
                  <a:srgbClr val="333333"/>
                </a:solidFill>
                <a:effectLst/>
                <a:latin typeface="Montserrat" panose="00000500000000000000" pitchFamily="2" charset="0"/>
              </a:rPr>
              <a:t>;  </a:t>
            </a:r>
          </a:p>
          <a:p>
            <a:pPr marL="0" indent="0" algn="l">
              <a:buNone/>
            </a:pPr>
            <a:r>
              <a:rPr lang="en-IN" b="0" i="0" dirty="0">
                <a:solidFill>
                  <a:srgbClr val="333333"/>
                </a:solidFill>
                <a:effectLst/>
                <a:latin typeface="Montserrat" panose="00000500000000000000" pitchFamily="2" charset="0"/>
              </a:rPr>
              <a:t>  s1.name="Sara";  </a:t>
            </a:r>
          </a:p>
          <a:p>
            <a:pPr marL="0" indent="0" algn="l">
              <a:buNone/>
            </a:pPr>
            <a:r>
              <a:rPr lang="en-IN" b="0" i="0" dirty="0">
                <a:solidFill>
                  <a:srgbClr val="333333"/>
                </a:solidFill>
                <a:effectLst/>
                <a:latin typeface="Montserrat" panose="00000500000000000000" pitchFamily="2" charset="0"/>
              </a:rPr>
              <a:t>  </a:t>
            </a:r>
            <a:r>
              <a:rPr lang="en-IN" b="0" i="0" dirty="0" err="1">
                <a:solidFill>
                  <a:srgbClr val="333333"/>
                </a:solidFill>
                <a:effectLst/>
                <a:latin typeface="Montserrat" panose="00000500000000000000" pitchFamily="2" charset="0"/>
              </a:rPr>
              <a:t>System.out.println</a:t>
            </a:r>
            <a:r>
              <a:rPr lang="en-IN" b="0" i="0" dirty="0">
                <a:solidFill>
                  <a:srgbClr val="333333"/>
                </a:solidFill>
                <a:effectLst/>
                <a:latin typeface="Montserrat" panose="00000500000000000000" pitchFamily="2" charset="0"/>
              </a:rPr>
              <a:t>(s1.id+" "+s1.name);//printing members with a white space  </a:t>
            </a:r>
          </a:p>
          <a:p>
            <a:pPr marL="0" indent="0" algn="l">
              <a:buNone/>
            </a:pPr>
            <a:r>
              <a:rPr lang="en-IN" b="0" i="0" dirty="0">
                <a:solidFill>
                  <a:srgbClr val="333333"/>
                </a:solidFill>
                <a:effectLst/>
                <a:latin typeface="Montserrat" panose="00000500000000000000" pitchFamily="2" charset="0"/>
              </a:rPr>
              <a:t> }  </a:t>
            </a:r>
          </a:p>
          <a:p>
            <a:pPr marL="0" indent="0" algn="l">
              <a:buNone/>
            </a:pPr>
            <a:r>
              <a:rPr lang="en-IN" b="0" i="0" dirty="0">
                <a:solidFill>
                  <a:srgbClr val="333333"/>
                </a:solidFill>
                <a:effectLst/>
                <a:latin typeface="Montserrat" panose="00000500000000000000" pitchFamily="2" charset="0"/>
              </a:rPr>
              <a:t>}  </a:t>
            </a:r>
          </a:p>
          <a:p>
            <a:pPr marL="0" indent="0" algn="just">
              <a:buNone/>
            </a:pPr>
            <a:endParaRPr lang="en-US" b="0" i="0" dirty="0">
              <a:solidFill>
                <a:srgbClr val="333333"/>
              </a:solidFill>
              <a:effectLst/>
              <a:latin typeface="Montserrat" panose="00000500000000000000" pitchFamily="2" charset="0"/>
            </a:endParaRPr>
          </a:p>
        </p:txBody>
      </p:sp>
    </p:spTree>
    <p:extLst>
      <p:ext uri="{BB962C8B-B14F-4D97-AF65-F5344CB8AC3E}">
        <p14:creationId xmlns:p14="http://schemas.microsoft.com/office/powerpoint/2010/main" val="1803972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A7046-131E-5F09-84AB-BE055AFF1D77}"/>
              </a:ext>
            </a:extLst>
          </p:cNvPr>
          <p:cNvSpPr>
            <a:spLocks noGrp="1"/>
          </p:cNvSpPr>
          <p:nvPr>
            <p:ph type="title"/>
          </p:nvPr>
        </p:nvSpPr>
        <p:spPr>
          <a:xfrm>
            <a:off x="0" y="231774"/>
            <a:ext cx="11025187" cy="449263"/>
          </a:xfrm>
        </p:spPr>
        <p:txBody>
          <a:bodyPr>
            <a:normAutofit fontScale="90000"/>
          </a:bodyPr>
          <a:lstStyle/>
          <a:p>
            <a:r>
              <a:rPr lang="en-IN" sz="4000" b="1" i="0" dirty="0">
                <a:effectLst/>
                <a:latin typeface="Times New Roman" panose="02020603050405020304" pitchFamily="18" charset="0"/>
                <a:cs typeface="Times New Roman" panose="02020603050405020304" pitchFamily="18" charset="0"/>
              </a:rPr>
              <a:t>2) Initialization through Method</a:t>
            </a:r>
            <a:r>
              <a:rPr lang="en-IN" b="0" i="0" dirty="0">
                <a:effectLst/>
                <a:latin typeface="Montserrat" panose="00000500000000000000" pitchFamily="2" charset="0"/>
              </a:rPr>
              <a:t/>
            </a:r>
            <a:br>
              <a:rPr lang="en-IN" b="0" i="0" dirty="0">
                <a:effectLst/>
                <a:latin typeface="Montserrat" panose="00000500000000000000" pitchFamily="2" charset="0"/>
              </a:rPr>
            </a:br>
            <a:endParaRPr lang="en-IN" dirty="0"/>
          </a:p>
        </p:txBody>
      </p:sp>
      <p:sp>
        <p:nvSpPr>
          <p:cNvPr id="3" name="Content Placeholder 2">
            <a:extLst>
              <a:ext uri="{FF2B5EF4-FFF2-40B4-BE49-F238E27FC236}">
                <a16:creationId xmlns="" xmlns:a16="http://schemas.microsoft.com/office/drawing/2014/main" id="{E5E2E542-710E-BD75-AC9E-6B688B91ACDF}"/>
              </a:ext>
            </a:extLst>
          </p:cNvPr>
          <p:cNvSpPr>
            <a:spLocks noGrp="1"/>
          </p:cNvSpPr>
          <p:nvPr>
            <p:ph idx="1"/>
          </p:nvPr>
        </p:nvSpPr>
        <p:spPr>
          <a:xfrm>
            <a:off x="142876" y="542926"/>
            <a:ext cx="11210924" cy="6315074"/>
          </a:xfrm>
        </p:spPr>
        <p:txBody>
          <a:bodyPr>
            <a:normAutofit fontScale="55000" lnSpcReduction="20000"/>
          </a:bodyPr>
          <a:lstStyle/>
          <a:p>
            <a:pPr algn="just"/>
            <a:r>
              <a:rPr lang="en-US" b="0" i="0" dirty="0">
                <a:solidFill>
                  <a:srgbClr val="333333"/>
                </a:solidFill>
                <a:effectLst/>
                <a:latin typeface="Montserrat" panose="00000500000000000000" pitchFamily="2" charset="0"/>
              </a:rPr>
              <a:t>In this example, we are creating the two objects of Student class and initializing the value to these objects by invoking the </a:t>
            </a:r>
            <a:r>
              <a:rPr lang="en-US" b="0" i="0" dirty="0" err="1">
                <a:solidFill>
                  <a:srgbClr val="333333"/>
                </a:solidFill>
                <a:effectLst/>
                <a:latin typeface="Montserrat" panose="00000500000000000000" pitchFamily="2" charset="0"/>
              </a:rPr>
              <a:t>insertRecord</a:t>
            </a:r>
            <a:r>
              <a:rPr lang="en-US" b="0" i="0" dirty="0">
                <a:solidFill>
                  <a:srgbClr val="333333"/>
                </a:solidFill>
                <a:effectLst/>
                <a:latin typeface="Montserrat" panose="00000500000000000000" pitchFamily="2" charset="0"/>
              </a:rPr>
              <a:t> method.</a:t>
            </a:r>
          </a:p>
          <a:p>
            <a:pPr algn="just"/>
            <a:r>
              <a:rPr lang="en-US" b="0" i="0" dirty="0">
                <a:solidFill>
                  <a:srgbClr val="333333"/>
                </a:solidFill>
                <a:effectLst/>
                <a:latin typeface="Montserrat" panose="00000500000000000000" pitchFamily="2" charset="0"/>
              </a:rPr>
              <a:t>Here, we are displaying the state (data) of the objects by invoking the </a:t>
            </a:r>
            <a:r>
              <a:rPr lang="en-US" b="0" i="0" dirty="0" err="1">
                <a:solidFill>
                  <a:srgbClr val="333333"/>
                </a:solidFill>
                <a:effectLst/>
                <a:latin typeface="Montserrat" panose="00000500000000000000" pitchFamily="2" charset="0"/>
              </a:rPr>
              <a:t>displayInformation</a:t>
            </a:r>
            <a:r>
              <a:rPr lang="en-US" b="0" i="0" dirty="0">
                <a:solidFill>
                  <a:srgbClr val="333333"/>
                </a:solidFill>
                <a:effectLst/>
                <a:latin typeface="Montserrat" panose="00000500000000000000" pitchFamily="2" charset="0"/>
              </a:rPr>
              <a:t>() method.</a:t>
            </a:r>
          </a:p>
          <a:p>
            <a:pPr marL="0" indent="0" algn="l">
              <a:buNone/>
            </a:pPr>
            <a:r>
              <a:rPr lang="en-IN" b="0" i="0" dirty="0">
                <a:solidFill>
                  <a:srgbClr val="333333"/>
                </a:solidFill>
                <a:effectLst/>
                <a:latin typeface="Montserrat" panose="00000500000000000000" pitchFamily="2" charset="0"/>
              </a:rPr>
              <a:t>class Student{  </a:t>
            </a:r>
          </a:p>
          <a:p>
            <a:pPr marL="0" indent="0" algn="l">
              <a:buNone/>
            </a:pPr>
            <a:r>
              <a:rPr lang="en-IN" b="0" i="0" dirty="0">
                <a:solidFill>
                  <a:srgbClr val="333333"/>
                </a:solidFill>
                <a:effectLst/>
                <a:latin typeface="Montserrat" panose="00000500000000000000" pitchFamily="2" charset="0"/>
              </a:rPr>
              <a:t> </a:t>
            </a:r>
            <a:r>
              <a:rPr lang="en-IN" b="1" i="0" dirty="0">
                <a:solidFill>
                  <a:srgbClr val="006699"/>
                </a:solidFill>
                <a:effectLst/>
                <a:latin typeface="Montserrat" panose="00000500000000000000" pitchFamily="2" charset="0"/>
              </a:rPr>
              <a:t>int</a:t>
            </a:r>
            <a:r>
              <a:rPr lang="en-IN" b="0" i="0" dirty="0">
                <a:solidFill>
                  <a:srgbClr val="333333"/>
                </a:solidFill>
                <a:effectLst/>
                <a:latin typeface="Montserrat" panose="00000500000000000000" pitchFamily="2" charset="0"/>
              </a:rPr>
              <a:t> </a:t>
            </a:r>
            <a:r>
              <a:rPr lang="en-IN" b="0" i="0" dirty="0" err="1">
                <a:solidFill>
                  <a:srgbClr val="333333"/>
                </a:solidFill>
                <a:effectLst/>
                <a:latin typeface="Montserrat" panose="00000500000000000000" pitchFamily="2" charset="0"/>
              </a:rPr>
              <a:t>rollno</a:t>
            </a:r>
            <a:r>
              <a:rPr lang="en-IN" b="0" i="0" dirty="0">
                <a:solidFill>
                  <a:srgbClr val="333333"/>
                </a:solidFill>
                <a:effectLst/>
                <a:latin typeface="Montserrat" panose="00000500000000000000" pitchFamily="2" charset="0"/>
              </a:rPr>
              <a:t>;  </a:t>
            </a:r>
          </a:p>
          <a:p>
            <a:pPr marL="0" indent="0" algn="l">
              <a:buNone/>
            </a:pPr>
            <a:r>
              <a:rPr lang="en-IN" b="0" i="0" dirty="0">
                <a:solidFill>
                  <a:srgbClr val="333333"/>
                </a:solidFill>
                <a:effectLst/>
                <a:latin typeface="Montserrat" panose="00000500000000000000" pitchFamily="2" charset="0"/>
              </a:rPr>
              <a:t> String name;  </a:t>
            </a:r>
          </a:p>
          <a:p>
            <a:pPr marL="0" indent="0" algn="l">
              <a:buNone/>
            </a:pPr>
            <a:r>
              <a:rPr lang="en-IN" b="0" i="0" dirty="0">
                <a:solidFill>
                  <a:srgbClr val="333333"/>
                </a:solidFill>
                <a:effectLst/>
                <a:latin typeface="Montserrat" panose="00000500000000000000" pitchFamily="2" charset="0"/>
              </a:rPr>
              <a:t> </a:t>
            </a:r>
            <a:r>
              <a:rPr lang="en-IN" b="1" i="0" dirty="0">
                <a:solidFill>
                  <a:srgbClr val="006699"/>
                </a:solidFill>
                <a:effectLst/>
                <a:latin typeface="Montserrat" panose="00000500000000000000" pitchFamily="2" charset="0"/>
              </a:rPr>
              <a:t>void</a:t>
            </a:r>
            <a:r>
              <a:rPr lang="en-IN" b="0" i="0" dirty="0">
                <a:solidFill>
                  <a:srgbClr val="333333"/>
                </a:solidFill>
                <a:effectLst/>
                <a:latin typeface="Montserrat" panose="00000500000000000000" pitchFamily="2" charset="0"/>
              </a:rPr>
              <a:t> </a:t>
            </a:r>
            <a:r>
              <a:rPr lang="en-IN" b="0" i="0" dirty="0" err="1">
                <a:solidFill>
                  <a:srgbClr val="333333"/>
                </a:solidFill>
                <a:effectLst/>
                <a:latin typeface="Montserrat" panose="00000500000000000000" pitchFamily="2" charset="0"/>
              </a:rPr>
              <a:t>insertRecord</a:t>
            </a:r>
            <a:r>
              <a:rPr lang="en-IN" b="0" i="0" dirty="0">
                <a:solidFill>
                  <a:srgbClr val="333333"/>
                </a:solidFill>
                <a:effectLst/>
                <a:latin typeface="Montserrat" panose="00000500000000000000" pitchFamily="2" charset="0"/>
              </a:rPr>
              <a:t>(</a:t>
            </a:r>
            <a:r>
              <a:rPr lang="en-IN" b="1" i="0" dirty="0">
                <a:solidFill>
                  <a:srgbClr val="006699"/>
                </a:solidFill>
                <a:effectLst/>
                <a:latin typeface="Montserrat" panose="00000500000000000000" pitchFamily="2" charset="0"/>
              </a:rPr>
              <a:t>int</a:t>
            </a:r>
            <a:r>
              <a:rPr lang="en-IN" b="0" i="0" dirty="0">
                <a:solidFill>
                  <a:srgbClr val="333333"/>
                </a:solidFill>
                <a:effectLst/>
                <a:latin typeface="Montserrat" panose="00000500000000000000" pitchFamily="2" charset="0"/>
              </a:rPr>
              <a:t> r, String n){  </a:t>
            </a:r>
          </a:p>
          <a:p>
            <a:pPr marL="0" indent="0" algn="l">
              <a:buNone/>
            </a:pPr>
            <a:r>
              <a:rPr lang="en-IN" b="0" i="0" dirty="0">
                <a:solidFill>
                  <a:srgbClr val="333333"/>
                </a:solidFill>
                <a:effectLst/>
                <a:latin typeface="Montserrat" panose="00000500000000000000" pitchFamily="2" charset="0"/>
              </a:rPr>
              <a:t>  </a:t>
            </a:r>
            <a:r>
              <a:rPr lang="en-IN" b="0" i="0" dirty="0" err="1">
                <a:solidFill>
                  <a:srgbClr val="333333"/>
                </a:solidFill>
                <a:effectLst/>
                <a:latin typeface="Montserrat" panose="00000500000000000000" pitchFamily="2" charset="0"/>
              </a:rPr>
              <a:t>rollno</a:t>
            </a:r>
            <a:r>
              <a:rPr lang="en-IN" b="0" i="0" dirty="0">
                <a:solidFill>
                  <a:srgbClr val="333333"/>
                </a:solidFill>
                <a:effectLst/>
                <a:latin typeface="Montserrat" panose="00000500000000000000" pitchFamily="2" charset="0"/>
              </a:rPr>
              <a:t>=r;  </a:t>
            </a:r>
          </a:p>
          <a:p>
            <a:pPr marL="0" indent="0" algn="l">
              <a:buNone/>
            </a:pPr>
            <a:r>
              <a:rPr lang="en-IN" b="0" i="0" dirty="0">
                <a:solidFill>
                  <a:srgbClr val="333333"/>
                </a:solidFill>
                <a:effectLst/>
                <a:latin typeface="Montserrat" panose="00000500000000000000" pitchFamily="2" charset="0"/>
              </a:rPr>
              <a:t>  name=n;  </a:t>
            </a:r>
          </a:p>
          <a:p>
            <a:pPr marL="0" indent="0" algn="l">
              <a:buNone/>
            </a:pPr>
            <a:r>
              <a:rPr lang="en-IN" b="0" i="0" dirty="0">
                <a:solidFill>
                  <a:srgbClr val="333333"/>
                </a:solidFill>
                <a:effectLst/>
                <a:latin typeface="Montserrat" panose="00000500000000000000" pitchFamily="2" charset="0"/>
              </a:rPr>
              <a:t> }  </a:t>
            </a:r>
          </a:p>
          <a:p>
            <a:pPr marL="0" indent="0" algn="l">
              <a:buNone/>
            </a:pPr>
            <a:r>
              <a:rPr lang="en-IN" b="0" i="0" dirty="0">
                <a:solidFill>
                  <a:srgbClr val="333333"/>
                </a:solidFill>
                <a:effectLst/>
                <a:latin typeface="Montserrat" panose="00000500000000000000" pitchFamily="2" charset="0"/>
              </a:rPr>
              <a:t> </a:t>
            </a:r>
            <a:r>
              <a:rPr lang="en-IN" b="1" i="0" dirty="0">
                <a:solidFill>
                  <a:srgbClr val="006699"/>
                </a:solidFill>
                <a:effectLst/>
                <a:latin typeface="Montserrat" panose="00000500000000000000" pitchFamily="2" charset="0"/>
              </a:rPr>
              <a:t>void</a:t>
            </a:r>
            <a:r>
              <a:rPr lang="en-IN" b="0" i="0" dirty="0">
                <a:solidFill>
                  <a:srgbClr val="333333"/>
                </a:solidFill>
                <a:effectLst/>
                <a:latin typeface="Montserrat" panose="00000500000000000000" pitchFamily="2" charset="0"/>
              </a:rPr>
              <a:t> </a:t>
            </a:r>
            <a:r>
              <a:rPr lang="en-IN" b="0" i="0" dirty="0" err="1">
                <a:solidFill>
                  <a:srgbClr val="333333"/>
                </a:solidFill>
                <a:effectLst/>
                <a:latin typeface="Montserrat" panose="00000500000000000000" pitchFamily="2" charset="0"/>
              </a:rPr>
              <a:t>displayInformation</a:t>
            </a:r>
            <a:r>
              <a:rPr lang="en-IN" b="0" i="0" dirty="0">
                <a:solidFill>
                  <a:srgbClr val="333333"/>
                </a:solidFill>
                <a:effectLst/>
                <a:latin typeface="Montserrat" panose="00000500000000000000" pitchFamily="2" charset="0"/>
              </a:rPr>
              <a:t>(){</a:t>
            </a:r>
            <a:r>
              <a:rPr lang="en-IN" b="0" i="0" dirty="0" err="1">
                <a:solidFill>
                  <a:srgbClr val="333333"/>
                </a:solidFill>
                <a:effectLst/>
                <a:latin typeface="Montserrat" panose="00000500000000000000" pitchFamily="2" charset="0"/>
              </a:rPr>
              <a:t>System.out.println</a:t>
            </a:r>
            <a:r>
              <a:rPr lang="en-IN" b="0" i="0" dirty="0">
                <a:solidFill>
                  <a:srgbClr val="333333"/>
                </a:solidFill>
                <a:effectLst/>
                <a:latin typeface="Montserrat" panose="00000500000000000000" pitchFamily="2" charset="0"/>
              </a:rPr>
              <a:t>(</a:t>
            </a:r>
            <a:r>
              <a:rPr lang="en-IN" b="0" i="0" dirty="0" err="1">
                <a:solidFill>
                  <a:srgbClr val="333333"/>
                </a:solidFill>
                <a:effectLst/>
                <a:latin typeface="Montserrat" panose="00000500000000000000" pitchFamily="2" charset="0"/>
              </a:rPr>
              <a:t>rollno</a:t>
            </a:r>
            <a:r>
              <a:rPr lang="en-IN" b="0" i="0" dirty="0">
                <a:solidFill>
                  <a:srgbClr val="333333"/>
                </a:solidFill>
                <a:effectLst/>
                <a:latin typeface="Montserrat" panose="00000500000000000000" pitchFamily="2" charset="0"/>
              </a:rPr>
              <a:t>+" "+name);}  </a:t>
            </a:r>
          </a:p>
          <a:p>
            <a:pPr marL="0" indent="0" algn="l">
              <a:buNone/>
            </a:pPr>
            <a:r>
              <a:rPr lang="en-IN" b="0" i="0" dirty="0">
                <a:solidFill>
                  <a:srgbClr val="333333"/>
                </a:solidFill>
                <a:effectLst/>
                <a:latin typeface="Montserrat" panose="00000500000000000000" pitchFamily="2" charset="0"/>
              </a:rPr>
              <a:t>}  </a:t>
            </a:r>
          </a:p>
          <a:p>
            <a:pPr marL="0" indent="0" algn="l">
              <a:buNone/>
            </a:pPr>
            <a:r>
              <a:rPr lang="en-IN" b="1" i="0" dirty="0">
                <a:solidFill>
                  <a:srgbClr val="006699"/>
                </a:solidFill>
                <a:effectLst/>
                <a:latin typeface="Montserrat" panose="00000500000000000000" pitchFamily="2" charset="0"/>
              </a:rPr>
              <a:t>class</a:t>
            </a:r>
            <a:r>
              <a:rPr lang="en-IN" b="0" i="0" dirty="0">
                <a:solidFill>
                  <a:srgbClr val="333333"/>
                </a:solidFill>
                <a:effectLst/>
                <a:latin typeface="Montserrat" panose="00000500000000000000" pitchFamily="2" charset="0"/>
              </a:rPr>
              <a:t> TestStudent4{  </a:t>
            </a:r>
          </a:p>
          <a:p>
            <a:pPr marL="0" indent="0" algn="l">
              <a:buNone/>
            </a:pPr>
            <a:r>
              <a:rPr lang="en-IN" b="0" i="0" dirty="0">
                <a:solidFill>
                  <a:srgbClr val="333333"/>
                </a:solidFill>
                <a:effectLst/>
                <a:latin typeface="Montserrat" panose="00000500000000000000" pitchFamily="2" charset="0"/>
              </a:rPr>
              <a:t> </a:t>
            </a:r>
            <a:r>
              <a:rPr lang="en-IN" b="1" i="0" dirty="0">
                <a:solidFill>
                  <a:srgbClr val="006699"/>
                </a:solidFill>
                <a:effectLst/>
                <a:latin typeface="Montserrat" panose="00000500000000000000" pitchFamily="2" charset="0"/>
              </a:rPr>
              <a:t>public</a:t>
            </a:r>
            <a:r>
              <a:rPr lang="en-IN" b="0" i="0" dirty="0">
                <a:solidFill>
                  <a:srgbClr val="333333"/>
                </a:solidFill>
                <a:effectLst/>
                <a:latin typeface="Montserrat" panose="00000500000000000000" pitchFamily="2" charset="0"/>
              </a:rPr>
              <a:t> </a:t>
            </a:r>
            <a:r>
              <a:rPr lang="en-IN" b="1" i="0" dirty="0">
                <a:solidFill>
                  <a:srgbClr val="006699"/>
                </a:solidFill>
                <a:effectLst/>
                <a:latin typeface="Montserrat" panose="00000500000000000000" pitchFamily="2" charset="0"/>
              </a:rPr>
              <a:t>static</a:t>
            </a:r>
            <a:r>
              <a:rPr lang="en-IN" b="0" i="0" dirty="0">
                <a:solidFill>
                  <a:srgbClr val="333333"/>
                </a:solidFill>
                <a:effectLst/>
                <a:latin typeface="Montserrat" panose="00000500000000000000" pitchFamily="2" charset="0"/>
              </a:rPr>
              <a:t> </a:t>
            </a:r>
            <a:r>
              <a:rPr lang="en-IN" b="1" i="0" dirty="0">
                <a:solidFill>
                  <a:srgbClr val="006699"/>
                </a:solidFill>
                <a:effectLst/>
                <a:latin typeface="Montserrat" panose="00000500000000000000" pitchFamily="2" charset="0"/>
              </a:rPr>
              <a:t>void</a:t>
            </a:r>
            <a:r>
              <a:rPr lang="en-IN" b="0" i="0" dirty="0">
                <a:solidFill>
                  <a:srgbClr val="333333"/>
                </a:solidFill>
                <a:effectLst/>
                <a:latin typeface="Montserrat" panose="00000500000000000000" pitchFamily="2" charset="0"/>
              </a:rPr>
              <a:t> main(String </a:t>
            </a:r>
            <a:r>
              <a:rPr lang="en-IN" b="0" i="0" dirty="0" err="1">
                <a:solidFill>
                  <a:srgbClr val="333333"/>
                </a:solidFill>
                <a:effectLst/>
                <a:latin typeface="Montserrat" panose="00000500000000000000" pitchFamily="2" charset="0"/>
              </a:rPr>
              <a:t>args</a:t>
            </a:r>
            <a:r>
              <a:rPr lang="en-IN" b="0" i="0" dirty="0">
                <a:solidFill>
                  <a:srgbClr val="333333"/>
                </a:solidFill>
                <a:effectLst/>
                <a:latin typeface="Montserrat" panose="00000500000000000000" pitchFamily="2" charset="0"/>
              </a:rPr>
              <a:t>[]){  </a:t>
            </a:r>
          </a:p>
          <a:p>
            <a:pPr marL="0" indent="0" algn="l">
              <a:buNone/>
            </a:pPr>
            <a:r>
              <a:rPr lang="en-IN" b="0" i="0" dirty="0">
                <a:solidFill>
                  <a:srgbClr val="333333"/>
                </a:solidFill>
                <a:effectLst/>
                <a:latin typeface="Montserrat" panose="00000500000000000000" pitchFamily="2" charset="0"/>
              </a:rPr>
              <a:t>  Student s1=</a:t>
            </a:r>
            <a:r>
              <a:rPr lang="en-IN" b="1" i="0" dirty="0">
                <a:solidFill>
                  <a:srgbClr val="006699"/>
                </a:solidFill>
                <a:effectLst/>
                <a:latin typeface="Montserrat" panose="00000500000000000000" pitchFamily="2" charset="0"/>
              </a:rPr>
              <a:t>new</a:t>
            </a:r>
            <a:r>
              <a:rPr lang="en-IN" b="0" i="0" dirty="0">
                <a:solidFill>
                  <a:srgbClr val="333333"/>
                </a:solidFill>
                <a:effectLst/>
                <a:latin typeface="Montserrat" panose="00000500000000000000" pitchFamily="2" charset="0"/>
              </a:rPr>
              <a:t> Student();  </a:t>
            </a:r>
          </a:p>
          <a:p>
            <a:pPr marL="0" indent="0" algn="l">
              <a:buNone/>
            </a:pPr>
            <a:r>
              <a:rPr lang="en-IN" b="0" i="0" dirty="0">
                <a:solidFill>
                  <a:srgbClr val="333333"/>
                </a:solidFill>
                <a:effectLst/>
                <a:latin typeface="Montserrat" panose="00000500000000000000" pitchFamily="2" charset="0"/>
              </a:rPr>
              <a:t>  Student s2=</a:t>
            </a:r>
            <a:r>
              <a:rPr lang="en-IN" b="1" i="0" dirty="0">
                <a:solidFill>
                  <a:srgbClr val="006699"/>
                </a:solidFill>
                <a:effectLst/>
                <a:latin typeface="Montserrat" panose="00000500000000000000" pitchFamily="2" charset="0"/>
              </a:rPr>
              <a:t>new</a:t>
            </a:r>
            <a:r>
              <a:rPr lang="en-IN" b="0" i="0" dirty="0">
                <a:solidFill>
                  <a:srgbClr val="333333"/>
                </a:solidFill>
                <a:effectLst/>
                <a:latin typeface="Montserrat" panose="00000500000000000000" pitchFamily="2" charset="0"/>
              </a:rPr>
              <a:t> Student();  </a:t>
            </a:r>
          </a:p>
          <a:p>
            <a:pPr marL="0" indent="0" algn="l">
              <a:buNone/>
            </a:pPr>
            <a:r>
              <a:rPr lang="en-IN" b="0" i="0" dirty="0">
                <a:solidFill>
                  <a:srgbClr val="333333"/>
                </a:solidFill>
                <a:effectLst/>
                <a:latin typeface="Montserrat" panose="00000500000000000000" pitchFamily="2" charset="0"/>
              </a:rPr>
              <a:t>  s1.insertRecord(</a:t>
            </a:r>
            <a:r>
              <a:rPr lang="en-IN" b="0" i="0" dirty="0">
                <a:solidFill>
                  <a:srgbClr val="C00000"/>
                </a:solidFill>
                <a:effectLst/>
                <a:latin typeface="Montserrat" panose="00000500000000000000" pitchFamily="2" charset="0"/>
              </a:rPr>
              <a:t>111</a:t>
            </a:r>
            <a:r>
              <a:rPr lang="en-IN" b="0" i="0" dirty="0">
                <a:solidFill>
                  <a:srgbClr val="333333"/>
                </a:solidFill>
                <a:effectLst/>
                <a:latin typeface="Montserrat" panose="00000500000000000000" pitchFamily="2" charset="0"/>
              </a:rPr>
              <a:t>,"Karan");  </a:t>
            </a:r>
          </a:p>
          <a:p>
            <a:pPr marL="0" indent="0" algn="l">
              <a:buNone/>
            </a:pPr>
            <a:r>
              <a:rPr lang="en-IN" b="0" i="0" dirty="0">
                <a:solidFill>
                  <a:srgbClr val="333333"/>
                </a:solidFill>
                <a:effectLst/>
                <a:latin typeface="Montserrat" panose="00000500000000000000" pitchFamily="2" charset="0"/>
              </a:rPr>
              <a:t>  s2.insertRecord(</a:t>
            </a:r>
            <a:r>
              <a:rPr lang="en-IN" b="0" i="0" dirty="0">
                <a:solidFill>
                  <a:srgbClr val="C00000"/>
                </a:solidFill>
                <a:effectLst/>
                <a:latin typeface="Montserrat" panose="00000500000000000000" pitchFamily="2" charset="0"/>
              </a:rPr>
              <a:t>222</a:t>
            </a:r>
            <a:r>
              <a:rPr lang="en-IN" b="0" i="0" dirty="0">
                <a:solidFill>
                  <a:srgbClr val="333333"/>
                </a:solidFill>
                <a:effectLst/>
                <a:latin typeface="Montserrat" panose="00000500000000000000" pitchFamily="2" charset="0"/>
              </a:rPr>
              <a:t>,"Aryan");  </a:t>
            </a:r>
          </a:p>
          <a:p>
            <a:pPr marL="0" indent="0" algn="l">
              <a:buNone/>
            </a:pPr>
            <a:r>
              <a:rPr lang="en-IN" b="0" i="0" dirty="0">
                <a:solidFill>
                  <a:srgbClr val="333333"/>
                </a:solidFill>
                <a:effectLst/>
                <a:latin typeface="Montserrat" panose="00000500000000000000" pitchFamily="2" charset="0"/>
              </a:rPr>
              <a:t>  s1.displayInformation();  </a:t>
            </a:r>
          </a:p>
          <a:p>
            <a:pPr marL="0" indent="0" algn="l">
              <a:buNone/>
            </a:pPr>
            <a:r>
              <a:rPr lang="en-IN" b="0" i="0" dirty="0">
                <a:solidFill>
                  <a:srgbClr val="333333"/>
                </a:solidFill>
                <a:effectLst/>
                <a:latin typeface="Montserrat" panose="00000500000000000000" pitchFamily="2" charset="0"/>
              </a:rPr>
              <a:t>  s2.displayInformation();  </a:t>
            </a:r>
          </a:p>
          <a:p>
            <a:pPr marL="0" indent="0" algn="l">
              <a:buNone/>
            </a:pPr>
            <a:r>
              <a:rPr lang="en-IN" b="0" i="0" dirty="0">
                <a:solidFill>
                  <a:srgbClr val="333333"/>
                </a:solidFill>
                <a:effectLst/>
                <a:latin typeface="Montserrat" panose="00000500000000000000" pitchFamily="2" charset="0"/>
              </a:rPr>
              <a:t> }  </a:t>
            </a:r>
          </a:p>
          <a:p>
            <a:pPr marL="0" indent="0" algn="l">
              <a:buNone/>
            </a:pPr>
            <a:r>
              <a:rPr lang="en-IN" b="0" i="0" dirty="0">
                <a:solidFill>
                  <a:srgbClr val="333333"/>
                </a:solidFill>
                <a:effectLst/>
                <a:latin typeface="Montserrat" panose="00000500000000000000" pitchFamily="2" charset="0"/>
              </a:rPr>
              <a:t>}  </a:t>
            </a:r>
          </a:p>
          <a:p>
            <a:pPr marL="0" indent="0" algn="just">
              <a:buNone/>
            </a:pPr>
            <a:endParaRPr lang="en-US" b="0" i="0" dirty="0">
              <a:solidFill>
                <a:srgbClr val="333333"/>
              </a:solidFill>
              <a:effectLst/>
              <a:latin typeface="Montserrat" panose="00000500000000000000" pitchFamily="2" charset="0"/>
            </a:endParaRPr>
          </a:p>
        </p:txBody>
      </p:sp>
    </p:spTree>
    <p:extLst>
      <p:ext uri="{BB962C8B-B14F-4D97-AF65-F5344CB8AC3E}">
        <p14:creationId xmlns:p14="http://schemas.microsoft.com/office/powerpoint/2010/main" val="4076661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98902C-BC04-D7F2-BC50-635B1C186668}"/>
              </a:ext>
            </a:extLst>
          </p:cNvPr>
          <p:cNvSpPr>
            <a:spLocks noGrp="1"/>
          </p:cNvSpPr>
          <p:nvPr>
            <p:ph type="title"/>
          </p:nvPr>
        </p:nvSpPr>
        <p:spPr>
          <a:xfrm>
            <a:off x="228600" y="365125"/>
            <a:ext cx="11125200" cy="549275"/>
          </a:xfrm>
        </p:spPr>
        <p:txBody>
          <a:bodyPr>
            <a:normAutofit fontScale="90000"/>
          </a:bodyPr>
          <a:lstStyle/>
          <a:p>
            <a:r>
              <a:rPr lang="en-IN" sz="3600" b="1" i="0" dirty="0">
                <a:effectLst/>
                <a:latin typeface="Times New Roman" panose="02020603050405020304" pitchFamily="18" charset="0"/>
                <a:cs typeface="Times New Roman" panose="02020603050405020304" pitchFamily="18" charset="0"/>
              </a:rPr>
              <a:t>Initialization through a Constructor</a:t>
            </a:r>
            <a:r>
              <a:rPr lang="en-IN" b="0" i="0" dirty="0">
                <a:effectLst/>
                <a:latin typeface="Montserrat" panose="00000500000000000000" pitchFamily="2" charset="0"/>
              </a:rPr>
              <a:t/>
            </a:r>
            <a:br>
              <a:rPr lang="en-IN" b="0" i="0" dirty="0">
                <a:effectLst/>
                <a:latin typeface="Montserrat" panose="00000500000000000000" pitchFamily="2" charset="0"/>
              </a:rPr>
            </a:br>
            <a:endParaRPr lang="en-IN" dirty="0"/>
          </a:p>
        </p:txBody>
      </p:sp>
      <p:sp>
        <p:nvSpPr>
          <p:cNvPr id="3" name="Content Placeholder 2">
            <a:extLst>
              <a:ext uri="{FF2B5EF4-FFF2-40B4-BE49-F238E27FC236}">
                <a16:creationId xmlns="" xmlns:a16="http://schemas.microsoft.com/office/drawing/2014/main" id="{54F1B457-1F05-38D7-B33C-BD2816012953}"/>
              </a:ext>
            </a:extLst>
          </p:cNvPr>
          <p:cNvSpPr>
            <a:spLocks noGrp="1"/>
          </p:cNvSpPr>
          <p:nvPr>
            <p:ph idx="1"/>
          </p:nvPr>
        </p:nvSpPr>
        <p:spPr>
          <a:xfrm>
            <a:off x="228600" y="914400"/>
            <a:ext cx="11125200" cy="5262563"/>
          </a:xfrm>
        </p:spPr>
        <p:txBody>
          <a:bodyPr/>
          <a:lstStyle/>
          <a:p>
            <a:pPr marL="0" indent="0">
              <a:buNone/>
            </a:pPr>
            <a:r>
              <a:rPr lang="en-US" b="0" i="0" dirty="0">
                <a:solidFill>
                  <a:srgbClr val="333333"/>
                </a:solidFill>
                <a:effectLst/>
                <a:latin typeface="Montserrat" panose="00000500000000000000" pitchFamily="2" charset="0"/>
              </a:rPr>
              <a:t>The concept of object initialization through a constructor is essential to object-oriented programming in Java. Special methods inside a class called constructors are called when an object of that class is created with the new keyword. They </a:t>
            </a:r>
            <a:r>
              <a:rPr lang="en-US" b="0" i="0" dirty="0" err="1">
                <a:solidFill>
                  <a:srgbClr val="333333"/>
                </a:solidFill>
                <a:effectLst/>
                <a:latin typeface="Montserrat" panose="00000500000000000000" pitchFamily="2" charset="0"/>
              </a:rPr>
              <a:t>initialise</a:t>
            </a:r>
            <a:r>
              <a:rPr lang="en-US" b="0" i="0" dirty="0">
                <a:solidFill>
                  <a:srgbClr val="333333"/>
                </a:solidFill>
                <a:effectLst/>
                <a:latin typeface="Montserrat" panose="00000500000000000000" pitchFamily="2" charset="0"/>
              </a:rPr>
              <a:t> the state of objects by entering initial values in their fields or carrying out any required setup procedures. The constructor is automatically invoked upon object instantiation, guaranteeing correct initialization of the object prior to usage.</a:t>
            </a:r>
            <a:endParaRPr lang="en-IN" dirty="0"/>
          </a:p>
        </p:txBody>
      </p:sp>
    </p:spTree>
    <p:extLst>
      <p:ext uri="{BB962C8B-B14F-4D97-AF65-F5344CB8AC3E}">
        <p14:creationId xmlns:p14="http://schemas.microsoft.com/office/powerpoint/2010/main" val="1630688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 xmlns:a16="http://schemas.microsoft.com/office/drawing/2014/main" id="{7B1747E3-96A0-E63C-CDA8-05B12C20FF8A}"/>
              </a:ext>
            </a:extLst>
          </p:cNvPr>
          <p:cNvSpPr>
            <a:spLocks noGrp="1" noChangeArrowheads="1"/>
          </p:cNvSpPr>
          <p:nvPr>
            <p:ph idx="1"/>
          </p:nvPr>
        </p:nvSpPr>
        <p:spPr bwMode="auto">
          <a:xfrm>
            <a:off x="0" y="47576"/>
            <a:ext cx="11353800" cy="68326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333333"/>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class Student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1" i="0" u="none" strike="noStrike" cap="none" normalizeH="0" baseline="0" dirty="0">
                <a:ln>
                  <a:noFill/>
                </a:ln>
                <a:solidFill>
                  <a:srgbClr val="006699"/>
                </a:solidFill>
                <a:effectLst/>
                <a:latin typeface="Montserrat" panose="00000500000000000000" pitchFamily="2" charset="0"/>
              </a:rPr>
              <a:t>int</a:t>
            </a:r>
            <a:r>
              <a:rPr kumimoji="0" lang="en-US" altLang="en-US" sz="1800" b="0" i="0" u="none" strike="noStrike" cap="none" normalizeH="0" baseline="0" dirty="0">
                <a:ln>
                  <a:noFill/>
                </a:ln>
                <a:solidFill>
                  <a:srgbClr val="333333"/>
                </a:solidFill>
                <a:effectLst/>
                <a:latin typeface="Montserrat" panose="00000500000000000000" pitchFamily="2" charset="0"/>
              </a:rPr>
              <a:t> id;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String name;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 Constructor with parameters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1" i="0" u="none" strike="noStrike" cap="none" normalizeH="0" baseline="0" dirty="0">
                <a:ln>
                  <a:noFill/>
                </a:ln>
                <a:solidFill>
                  <a:srgbClr val="006699"/>
                </a:solidFill>
                <a:effectLst/>
                <a:latin typeface="Montserrat" panose="00000500000000000000" pitchFamily="2" charset="0"/>
              </a:rPr>
              <a:t>public</a:t>
            </a:r>
            <a:r>
              <a:rPr kumimoji="0" lang="en-US" altLang="en-US" sz="1800" b="0" i="0" u="none" strike="noStrike" cap="none" normalizeH="0" baseline="0" dirty="0">
                <a:ln>
                  <a:noFill/>
                </a:ln>
                <a:solidFill>
                  <a:srgbClr val="333333"/>
                </a:solidFill>
                <a:effectLst/>
                <a:latin typeface="Montserrat" panose="00000500000000000000" pitchFamily="2" charset="0"/>
              </a:rPr>
              <a:t> Student(</a:t>
            </a:r>
            <a:r>
              <a:rPr kumimoji="0" lang="en-US" altLang="en-US" sz="1800" b="1" i="0" u="none" strike="noStrike" cap="none" normalizeH="0" baseline="0" dirty="0">
                <a:ln>
                  <a:noFill/>
                </a:ln>
                <a:solidFill>
                  <a:srgbClr val="006699"/>
                </a:solidFill>
                <a:effectLst/>
                <a:latin typeface="Montserrat" panose="00000500000000000000" pitchFamily="2" charset="0"/>
              </a:rPr>
              <a:t>int</a:t>
            </a:r>
            <a:r>
              <a:rPr kumimoji="0" lang="en-US" altLang="en-US" sz="1800" b="0" i="0" u="none" strike="noStrike" cap="none" normalizeH="0" baseline="0" dirty="0">
                <a:ln>
                  <a:noFill/>
                </a:ln>
                <a:solidFill>
                  <a:srgbClr val="333333"/>
                </a:solidFill>
                <a:effectLst/>
                <a:latin typeface="Montserrat" panose="00000500000000000000" pitchFamily="2" charset="0"/>
              </a:rPr>
              <a:t> id, String name)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1" i="0" u="none" strike="noStrike" cap="none" normalizeH="0" baseline="0" dirty="0">
                <a:ln>
                  <a:noFill/>
                </a:ln>
                <a:solidFill>
                  <a:srgbClr val="006699"/>
                </a:solidFill>
                <a:effectLst/>
                <a:latin typeface="Montserrat" panose="00000500000000000000" pitchFamily="2" charset="0"/>
              </a:rPr>
              <a:t>this</a:t>
            </a:r>
            <a:r>
              <a:rPr kumimoji="0" lang="en-US" altLang="en-US" sz="1800" b="0" i="0" u="none" strike="noStrike" cap="none" normalizeH="0" baseline="0" dirty="0">
                <a:ln>
                  <a:noFill/>
                </a:ln>
                <a:solidFill>
                  <a:srgbClr val="333333"/>
                </a:solidFill>
                <a:effectLst/>
                <a:latin typeface="Montserrat" panose="00000500000000000000" pitchFamily="2" charset="0"/>
              </a:rPr>
              <a:t>.id = id;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1" i="0" u="none" strike="noStrike" cap="none" normalizeH="0" baseline="0" dirty="0">
                <a:ln>
                  <a:noFill/>
                </a:ln>
                <a:solidFill>
                  <a:srgbClr val="006699"/>
                </a:solidFill>
                <a:effectLst/>
                <a:latin typeface="Montserrat" panose="00000500000000000000" pitchFamily="2" charset="0"/>
              </a:rPr>
              <a:t>this</a:t>
            </a:r>
            <a:r>
              <a:rPr kumimoji="0" lang="en-US" altLang="en-US" sz="1800" b="0" i="0" u="none" strike="noStrike" cap="none" normalizeH="0" baseline="0" dirty="0">
                <a:ln>
                  <a:noFill/>
                </a:ln>
                <a:solidFill>
                  <a:srgbClr val="333333"/>
                </a:solidFill>
                <a:effectLst/>
                <a:latin typeface="Montserrat" panose="00000500000000000000" pitchFamily="2" charset="0"/>
              </a:rPr>
              <a:t>.name = name;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 Method to display student information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1" i="0" u="none" strike="noStrike" cap="none" normalizeH="0" baseline="0" dirty="0">
                <a:ln>
                  <a:noFill/>
                </a:ln>
                <a:solidFill>
                  <a:srgbClr val="006699"/>
                </a:solidFill>
                <a:effectLst/>
                <a:latin typeface="Montserrat" panose="00000500000000000000" pitchFamily="2" charset="0"/>
              </a:rPr>
              <a:t>public</a:t>
            </a: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1" i="0" u="none" strike="noStrike" cap="none" normalizeH="0" baseline="0" dirty="0">
                <a:ln>
                  <a:noFill/>
                </a:ln>
                <a:solidFill>
                  <a:srgbClr val="006699"/>
                </a:solidFill>
                <a:effectLst/>
                <a:latin typeface="Montserrat" panose="00000500000000000000" pitchFamily="2" charset="0"/>
              </a:rPr>
              <a:t>void</a:t>
            </a: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0" i="0" u="none" strike="noStrike" cap="none" normalizeH="0" baseline="0" dirty="0" err="1">
                <a:ln>
                  <a:noFill/>
                </a:ln>
                <a:solidFill>
                  <a:srgbClr val="333333"/>
                </a:solidFill>
                <a:effectLst/>
                <a:latin typeface="Montserrat" panose="00000500000000000000" pitchFamily="2" charset="0"/>
              </a:rPr>
              <a:t>displayInformation</a:t>
            </a:r>
            <a:r>
              <a:rPr kumimoji="0" lang="en-US" altLang="en-US" sz="1800" b="0" i="0" u="none" strike="noStrike" cap="none" normalizeH="0" baseline="0" dirty="0">
                <a:ln>
                  <a:noFill/>
                </a:ln>
                <a:solidFill>
                  <a:srgbClr val="333333"/>
                </a:solidFill>
                <a:effectLst/>
                <a:latin typeface="Montserrat" panose="00000500000000000000" pitchFamily="2" charset="0"/>
              </a:rPr>
              <a:t>()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0" i="0" u="none" strike="noStrike" cap="none" normalizeH="0" baseline="0" dirty="0" err="1">
                <a:ln>
                  <a:noFill/>
                </a:ln>
                <a:solidFill>
                  <a:srgbClr val="333333"/>
                </a:solidFill>
                <a:effectLst/>
                <a:latin typeface="Montserrat" panose="00000500000000000000" pitchFamily="2" charset="0"/>
              </a:rPr>
              <a:t>System.out.println</a:t>
            </a:r>
            <a:r>
              <a:rPr kumimoji="0" lang="en-US" altLang="en-US" sz="1800" b="0" i="0" u="none" strike="noStrike" cap="none" normalizeH="0" baseline="0" dirty="0">
                <a:ln>
                  <a:noFill/>
                </a:ln>
                <a:solidFill>
                  <a:srgbClr val="333333"/>
                </a:solidFill>
                <a:effectLst/>
                <a:latin typeface="Montserrat" panose="00000500000000000000" pitchFamily="2" charset="0"/>
              </a:rPr>
              <a:t>("Student ID: " + id);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0" i="0" u="none" strike="noStrike" cap="none" normalizeH="0" baseline="0" dirty="0" err="1">
                <a:ln>
                  <a:noFill/>
                </a:ln>
                <a:solidFill>
                  <a:srgbClr val="333333"/>
                </a:solidFill>
                <a:effectLst/>
                <a:latin typeface="Montserrat" panose="00000500000000000000" pitchFamily="2" charset="0"/>
              </a:rPr>
              <a:t>System.out.println</a:t>
            </a:r>
            <a:r>
              <a:rPr kumimoji="0" lang="en-US" altLang="en-US" sz="1800" b="0" i="0" u="none" strike="noStrike" cap="none" normalizeH="0" baseline="0" dirty="0">
                <a:ln>
                  <a:noFill/>
                </a:ln>
                <a:solidFill>
                  <a:srgbClr val="333333"/>
                </a:solidFill>
                <a:effectLst/>
                <a:latin typeface="Montserrat" panose="00000500000000000000" pitchFamily="2" charset="0"/>
              </a:rPr>
              <a:t>("Student Name: " + name);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rgbClr val="006699"/>
                </a:solidFill>
                <a:effectLst/>
                <a:latin typeface="Montserrat" panose="00000500000000000000" pitchFamily="2" charset="0"/>
              </a:rPr>
              <a:t>public</a:t>
            </a: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1" i="0" u="none" strike="noStrike" cap="none" normalizeH="0" baseline="0" dirty="0">
                <a:ln>
                  <a:noFill/>
                </a:ln>
                <a:solidFill>
                  <a:srgbClr val="006699"/>
                </a:solidFill>
                <a:effectLst/>
                <a:latin typeface="Montserrat" panose="00000500000000000000" pitchFamily="2" charset="0"/>
              </a:rPr>
              <a:t>class</a:t>
            </a: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0" i="0" u="none" strike="noStrike" cap="none" normalizeH="0" baseline="0" dirty="0" err="1">
                <a:ln>
                  <a:noFill/>
                </a:ln>
                <a:solidFill>
                  <a:srgbClr val="333333"/>
                </a:solidFill>
                <a:effectLst/>
                <a:latin typeface="Montserrat" panose="00000500000000000000" pitchFamily="2" charset="0"/>
              </a:rPr>
              <a:t>ObjectConstructor</a:t>
            </a:r>
            <a:r>
              <a:rPr kumimoji="0" lang="en-US" altLang="en-US" sz="1800" b="0" i="0" u="none" strike="noStrike" cap="none" normalizeH="0" baseline="0" dirty="0">
                <a:ln>
                  <a:noFill/>
                </a:ln>
                <a:solidFill>
                  <a:srgbClr val="333333"/>
                </a:solidFill>
                <a:effectLst/>
                <a:latin typeface="Montserrat" panose="00000500000000000000" pitchFamily="2" charset="0"/>
              </a:rPr>
              <a:t>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1" i="0" u="none" strike="noStrike" cap="none" normalizeH="0" baseline="0" dirty="0">
                <a:ln>
                  <a:noFill/>
                </a:ln>
                <a:solidFill>
                  <a:srgbClr val="006699"/>
                </a:solidFill>
                <a:effectLst/>
                <a:latin typeface="Montserrat" panose="00000500000000000000" pitchFamily="2" charset="0"/>
              </a:rPr>
              <a:t>public</a:t>
            </a: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1" i="0" u="none" strike="noStrike" cap="none" normalizeH="0" baseline="0" dirty="0">
                <a:ln>
                  <a:noFill/>
                </a:ln>
                <a:solidFill>
                  <a:srgbClr val="006699"/>
                </a:solidFill>
                <a:effectLst/>
                <a:latin typeface="Montserrat" panose="00000500000000000000" pitchFamily="2" charset="0"/>
              </a:rPr>
              <a:t>static</a:t>
            </a:r>
            <a:r>
              <a:rPr kumimoji="0" lang="en-US" altLang="en-US" sz="1800" b="0" i="0" u="none" strike="noStrike" cap="none" normalizeH="0" baseline="0" dirty="0">
                <a:ln>
                  <a:noFill/>
                </a:ln>
                <a:solidFill>
                  <a:srgbClr val="333333"/>
                </a:solidFill>
                <a:effectLst/>
                <a:latin typeface="Montserrat" panose="00000500000000000000" pitchFamily="2" charset="0"/>
              </a:rPr>
              <a:t> </a:t>
            </a:r>
            <a:r>
              <a:rPr kumimoji="0" lang="en-US" altLang="en-US" sz="1800" b="1" i="0" u="none" strike="noStrike" cap="none" normalizeH="0" baseline="0" dirty="0">
                <a:ln>
                  <a:noFill/>
                </a:ln>
                <a:solidFill>
                  <a:srgbClr val="006699"/>
                </a:solidFill>
                <a:effectLst/>
                <a:latin typeface="Montserrat" panose="00000500000000000000" pitchFamily="2" charset="0"/>
              </a:rPr>
              <a:t>void</a:t>
            </a:r>
            <a:r>
              <a:rPr kumimoji="0" lang="en-US" altLang="en-US" sz="1800" b="0" i="0" u="none" strike="noStrike" cap="none" normalizeH="0" baseline="0" dirty="0">
                <a:ln>
                  <a:noFill/>
                </a:ln>
                <a:solidFill>
                  <a:srgbClr val="333333"/>
                </a:solidFill>
                <a:effectLst/>
                <a:latin typeface="Montserrat" panose="00000500000000000000" pitchFamily="2" charset="0"/>
              </a:rPr>
              <a:t> main(String[] </a:t>
            </a:r>
            <a:r>
              <a:rPr kumimoji="0" lang="en-US" altLang="en-US" sz="1800" b="0" i="0" u="none" strike="noStrike" cap="none" normalizeH="0" baseline="0" dirty="0" err="1">
                <a:ln>
                  <a:noFill/>
                </a:ln>
                <a:solidFill>
                  <a:srgbClr val="333333"/>
                </a:solidFill>
                <a:effectLst/>
                <a:latin typeface="Montserrat" panose="00000500000000000000" pitchFamily="2" charset="0"/>
              </a:rPr>
              <a:t>args</a:t>
            </a:r>
            <a:r>
              <a:rPr kumimoji="0" lang="en-US" altLang="en-US" sz="1800" b="0" i="0" u="none" strike="noStrike" cap="none" normalizeH="0" baseline="0" dirty="0">
                <a:ln>
                  <a:noFill/>
                </a:ln>
                <a:solidFill>
                  <a:srgbClr val="333333"/>
                </a:solidFill>
                <a:effectLst/>
                <a:latin typeface="Montserrat" panose="00000500000000000000" pitchFamily="2" charset="0"/>
              </a:rPr>
              <a:t>)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 Creating objects of Student class with constructor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Student student1 = </a:t>
            </a:r>
            <a:r>
              <a:rPr kumimoji="0" lang="en-US" altLang="en-US" sz="1800" b="1" i="0" u="none" strike="noStrike" cap="none" normalizeH="0" baseline="0" dirty="0">
                <a:ln>
                  <a:noFill/>
                </a:ln>
                <a:solidFill>
                  <a:srgbClr val="006699"/>
                </a:solidFill>
                <a:effectLst/>
                <a:latin typeface="Montserrat" panose="00000500000000000000" pitchFamily="2" charset="0"/>
              </a:rPr>
              <a:t>new</a:t>
            </a:r>
            <a:r>
              <a:rPr kumimoji="0" lang="en-US" altLang="en-US" sz="1800" b="0" i="0" u="none" strike="noStrike" cap="none" normalizeH="0" baseline="0" dirty="0">
                <a:ln>
                  <a:noFill/>
                </a:ln>
                <a:solidFill>
                  <a:srgbClr val="333333"/>
                </a:solidFill>
                <a:effectLst/>
                <a:latin typeface="Montserrat" panose="00000500000000000000" pitchFamily="2" charset="0"/>
              </a:rPr>
              <a:t> Student(</a:t>
            </a:r>
            <a:r>
              <a:rPr kumimoji="0" lang="en-US" altLang="en-US" sz="1800" b="0" i="0" u="none" strike="noStrike" cap="none" normalizeH="0" baseline="0" dirty="0">
                <a:ln>
                  <a:noFill/>
                </a:ln>
                <a:solidFill>
                  <a:srgbClr val="C00000"/>
                </a:solidFill>
                <a:effectLst/>
                <a:latin typeface="Montserrat" panose="00000500000000000000" pitchFamily="2" charset="0"/>
              </a:rPr>
              <a:t>1</a:t>
            </a:r>
            <a:r>
              <a:rPr kumimoji="0" lang="en-US" altLang="en-US" sz="1800" b="0" i="0" u="none" strike="noStrike" cap="none" normalizeH="0" baseline="0" dirty="0">
                <a:ln>
                  <a:noFill/>
                </a:ln>
                <a:solidFill>
                  <a:srgbClr val="333333"/>
                </a:solidFill>
                <a:effectLst/>
                <a:latin typeface="Montserrat" panose="00000500000000000000" pitchFamily="2" charset="0"/>
              </a:rPr>
              <a:t>, "John Doe");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Student student2 = </a:t>
            </a:r>
            <a:r>
              <a:rPr kumimoji="0" lang="en-US" altLang="en-US" sz="1800" b="1" i="0" u="none" strike="noStrike" cap="none" normalizeH="0" baseline="0" dirty="0">
                <a:ln>
                  <a:noFill/>
                </a:ln>
                <a:solidFill>
                  <a:srgbClr val="006699"/>
                </a:solidFill>
                <a:effectLst/>
                <a:latin typeface="Montserrat" panose="00000500000000000000" pitchFamily="2" charset="0"/>
              </a:rPr>
              <a:t>new</a:t>
            </a:r>
            <a:r>
              <a:rPr kumimoji="0" lang="en-US" altLang="en-US" sz="1800" b="0" i="0" u="none" strike="noStrike" cap="none" normalizeH="0" baseline="0" dirty="0">
                <a:ln>
                  <a:noFill/>
                </a:ln>
                <a:solidFill>
                  <a:srgbClr val="333333"/>
                </a:solidFill>
                <a:effectLst/>
                <a:latin typeface="Montserrat" panose="00000500000000000000" pitchFamily="2" charset="0"/>
              </a:rPr>
              <a:t> Student(</a:t>
            </a:r>
            <a:r>
              <a:rPr kumimoji="0" lang="en-US" altLang="en-US" sz="1800" b="0" i="0" u="none" strike="noStrike" cap="none" normalizeH="0" baseline="0" dirty="0">
                <a:ln>
                  <a:noFill/>
                </a:ln>
                <a:solidFill>
                  <a:srgbClr val="C00000"/>
                </a:solidFill>
                <a:effectLst/>
                <a:latin typeface="Montserrat" panose="00000500000000000000" pitchFamily="2" charset="0"/>
              </a:rPr>
              <a:t>2</a:t>
            </a:r>
            <a:r>
              <a:rPr kumimoji="0" lang="en-US" altLang="en-US" sz="1800" b="0" i="0" u="none" strike="noStrike" cap="none" normalizeH="0" baseline="0" dirty="0">
                <a:ln>
                  <a:noFill/>
                </a:ln>
                <a:solidFill>
                  <a:srgbClr val="333333"/>
                </a:solidFill>
                <a:effectLst/>
                <a:latin typeface="Montserrat" panose="00000500000000000000" pitchFamily="2" charset="0"/>
              </a:rPr>
              <a:t>, "Jane Smith");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 Displaying information of the objects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student1.displayInformation();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student2.displayInformation();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rgbClr val="333333"/>
                </a:solidFill>
                <a:effectLst/>
                <a:latin typeface="Montserrat" panose="00000500000000000000" pitchFamily="2" charset="0"/>
              </a:rPr>
              <a:t>}  </a:t>
            </a:r>
          </a:p>
        </p:txBody>
      </p:sp>
    </p:spTree>
    <p:extLst>
      <p:ext uri="{BB962C8B-B14F-4D97-AF65-F5344CB8AC3E}">
        <p14:creationId xmlns:p14="http://schemas.microsoft.com/office/powerpoint/2010/main" val="4023752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520279F-8463-351A-34B3-C1DFA0DF2C9A}"/>
              </a:ext>
            </a:extLst>
          </p:cNvPr>
          <p:cNvSpPr>
            <a:spLocks noGrp="1"/>
          </p:cNvSpPr>
          <p:nvPr>
            <p:ph idx="1"/>
          </p:nvPr>
        </p:nvSpPr>
        <p:spPr>
          <a:xfrm>
            <a:off x="271463" y="885825"/>
            <a:ext cx="11082337" cy="5291138"/>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Montserrat" panose="00000500000000000000" pitchFamily="2" charset="0"/>
              </a:rPr>
              <a:t>Output: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333333"/>
                </a:solidFill>
                <a:effectLst/>
                <a:latin typeface="var(--bs-font-monospace)"/>
              </a:rPr>
              <a:t>Student ID: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333333"/>
                </a:solidFill>
                <a:effectLst/>
                <a:latin typeface="var(--bs-font-monospace)"/>
              </a:rPr>
              <a:t>Student Name: John Doe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333333"/>
                </a:solidFill>
                <a:effectLst/>
                <a:latin typeface="var(--bs-font-monospace)"/>
              </a:rPr>
              <a:t>Student ID: 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333333"/>
                </a:solidFill>
                <a:effectLst/>
                <a:latin typeface="var(--bs-font-monospace)"/>
              </a:rPr>
              <a:t>Student Name: Jane Smith</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1234609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 xmlns:a16="http://schemas.microsoft.com/office/drawing/2014/main" id="{BBFCF444-A4C7-A550-F35A-3476752B0B6D}"/>
              </a:ext>
            </a:extLst>
          </p:cNvPr>
          <p:cNvSpPr>
            <a:spLocks noGrp="1" noChangeArrowheads="1"/>
          </p:cNvSpPr>
          <p:nvPr>
            <p:ph idx="1"/>
          </p:nvPr>
        </p:nvSpPr>
        <p:spPr bwMode="auto">
          <a:xfrm>
            <a:off x="1" y="320151"/>
            <a:ext cx="11353800" cy="68326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333333"/>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2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Example of Employee on Class &amp; Object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class Employee{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a:t>
            </a:r>
            <a:r>
              <a:rPr kumimoji="0" lang="en-US" altLang="en-US" sz="2000" b="1" i="0" u="none" strike="noStrike" cap="none" normalizeH="0" baseline="0" dirty="0">
                <a:ln>
                  <a:noFill/>
                </a:ln>
                <a:solidFill>
                  <a:srgbClr val="006699"/>
                </a:solidFill>
                <a:effectLst/>
                <a:latin typeface="Montserrat" panose="00000500000000000000" pitchFamily="2" charset="0"/>
              </a:rPr>
              <a:t>int</a:t>
            </a:r>
            <a:r>
              <a:rPr kumimoji="0" lang="en-US" altLang="en-US" sz="2000" b="0" i="0" u="none" strike="noStrike" cap="none" normalizeH="0" baseline="0" dirty="0">
                <a:ln>
                  <a:noFill/>
                </a:ln>
                <a:solidFill>
                  <a:srgbClr val="333333"/>
                </a:solidFill>
                <a:effectLst/>
                <a:latin typeface="Montserrat" panose="00000500000000000000" pitchFamily="2" charset="0"/>
              </a:rPr>
              <a:t> id;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String name;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a:t>
            </a:r>
            <a:r>
              <a:rPr kumimoji="0" lang="en-US" altLang="en-US" sz="2000" b="1" i="0" u="none" strike="noStrike" cap="none" normalizeH="0" baseline="0" dirty="0">
                <a:ln>
                  <a:noFill/>
                </a:ln>
                <a:solidFill>
                  <a:srgbClr val="006699"/>
                </a:solidFill>
                <a:effectLst/>
                <a:latin typeface="Montserrat" panose="00000500000000000000" pitchFamily="2" charset="0"/>
              </a:rPr>
              <a:t>float</a:t>
            </a:r>
            <a:r>
              <a:rPr kumimoji="0" lang="en-US" altLang="en-US" sz="2000" b="0" i="0" u="none" strike="noStrike" cap="none" normalizeH="0" baseline="0" dirty="0">
                <a:ln>
                  <a:noFill/>
                </a:ln>
                <a:solidFill>
                  <a:srgbClr val="333333"/>
                </a:solidFill>
                <a:effectLst/>
                <a:latin typeface="Montserrat" panose="00000500000000000000" pitchFamily="2" charset="0"/>
              </a:rPr>
              <a:t> salary;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a:t>
            </a:r>
            <a:r>
              <a:rPr kumimoji="0" lang="en-US" altLang="en-US" sz="2000" b="1" i="0" u="none" strike="noStrike" cap="none" normalizeH="0" baseline="0" dirty="0">
                <a:ln>
                  <a:noFill/>
                </a:ln>
                <a:solidFill>
                  <a:srgbClr val="006699"/>
                </a:solidFill>
                <a:effectLst/>
                <a:latin typeface="Montserrat" panose="00000500000000000000" pitchFamily="2" charset="0"/>
              </a:rPr>
              <a:t>void</a:t>
            </a:r>
            <a:r>
              <a:rPr kumimoji="0" lang="en-US" altLang="en-US" sz="2000" b="0" i="0" u="none" strike="noStrike" cap="none" normalizeH="0" baseline="0" dirty="0">
                <a:ln>
                  <a:noFill/>
                </a:ln>
                <a:solidFill>
                  <a:srgbClr val="333333"/>
                </a:solidFill>
                <a:effectLst/>
                <a:latin typeface="Montserrat" panose="00000500000000000000" pitchFamily="2" charset="0"/>
              </a:rPr>
              <a:t> insert(</a:t>
            </a:r>
            <a:r>
              <a:rPr kumimoji="0" lang="en-US" altLang="en-US" sz="2000" b="1" i="0" u="none" strike="noStrike" cap="none" normalizeH="0" baseline="0" dirty="0">
                <a:ln>
                  <a:noFill/>
                </a:ln>
                <a:solidFill>
                  <a:srgbClr val="006699"/>
                </a:solidFill>
                <a:effectLst/>
                <a:latin typeface="Montserrat" panose="00000500000000000000" pitchFamily="2" charset="0"/>
              </a:rPr>
              <a:t>int</a:t>
            </a:r>
            <a:r>
              <a:rPr kumimoji="0" lang="en-US" altLang="en-US" sz="2000" b="0" i="0" u="none" strike="noStrike" cap="none" normalizeH="0" baseline="0" dirty="0">
                <a:ln>
                  <a:noFill/>
                </a:ln>
                <a:solidFill>
                  <a:srgbClr val="333333"/>
                </a:solidFill>
                <a:effectLst/>
                <a:latin typeface="Montserrat" panose="00000500000000000000" pitchFamily="2" charset="0"/>
              </a:rPr>
              <a:t> </a:t>
            </a:r>
            <a:r>
              <a:rPr kumimoji="0" lang="en-US" altLang="en-US" sz="2000" b="0" i="0" u="none" strike="noStrike" cap="none" normalizeH="0" baseline="0" dirty="0" err="1">
                <a:ln>
                  <a:noFill/>
                </a:ln>
                <a:solidFill>
                  <a:srgbClr val="333333"/>
                </a:solidFill>
                <a:effectLst/>
                <a:latin typeface="Montserrat" panose="00000500000000000000" pitchFamily="2" charset="0"/>
              </a:rPr>
              <a:t>i</a:t>
            </a:r>
            <a:r>
              <a:rPr kumimoji="0" lang="en-US" altLang="en-US" sz="2000" b="0" i="0" u="none" strike="noStrike" cap="none" normalizeH="0" baseline="0" dirty="0">
                <a:ln>
                  <a:noFill/>
                </a:ln>
                <a:solidFill>
                  <a:srgbClr val="333333"/>
                </a:solidFill>
                <a:effectLst/>
                <a:latin typeface="Montserrat" panose="00000500000000000000" pitchFamily="2" charset="0"/>
              </a:rPr>
              <a:t>, String n, </a:t>
            </a:r>
            <a:r>
              <a:rPr kumimoji="0" lang="en-US" altLang="en-US" sz="2000" b="1" i="0" u="none" strike="noStrike" cap="none" normalizeH="0" baseline="0" dirty="0">
                <a:ln>
                  <a:noFill/>
                </a:ln>
                <a:solidFill>
                  <a:srgbClr val="006699"/>
                </a:solidFill>
                <a:effectLst/>
                <a:latin typeface="Montserrat" panose="00000500000000000000" pitchFamily="2" charset="0"/>
              </a:rPr>
              <a:t>float</a:t>
            </a:r>
            <a:r>
              <a:rPr kumimoji="0" lang="en-US" altLang="en-US" sz="2000" b="0" i="0" u="none" strike="noStrike" cap="none" normalizeH="0" baseline="0" dirty="0">
                <a:ln>
                  <a:noFill/>
                </a:ln>
                <a:solidFill>
                  <a:srgbClr val="333333"/>
                </a:solidFill>
                <a:effectLst/>
                <a:latin typeface="Montserrat" panose="00000500000000000000" pitchFamily="2" charset="0"/>
              </a:rPr>
              <a:t> s)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id=</a:t>
            </a:r>
            <a:r>
              <a:rPr kumimoji="0" lang="en-US" altLang="en-US" sz="2000" b="0" i="0" u="none" strike="noStrike" cap="none" normalizeH="0" baseline="0" dirty="0" err="1">
                <a:ln>
                  <a:noFill/>
                </a:ln>
                <a:solidFill>
                  <a:srgbClr val="333333"/>
                </a:solidFill>
                <a:effectLst/>
                <a:latin typeface="Montserrat" panose="00000500000000000000" pitchFamily="2" charset="0"/>
              </a:rPr>
              <a:t>i</a:t>
            </a:r>
            <a:r>
              <a:rPr kumimoji="0" lang="en-US" altLang="en-US" sz="2000" b="0" i="0" u="none" strike="noStrike" cap="none" normalizeH="0" baseline="0" dirty="0">
                <a:ln>
                  <a:noFill/>
                </a:ln>
                <a:solidFill>
                  <a:srgbClr val="333333"/>
                </a:solidFill>
                <a:effectLst/>
                <a:latin typeface="Montserrat" panose="00000500000000000000" pitchFamily="2"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name=n;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salary=s;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a:t>
            </a:r>
            <a:r>
              <a:rPr kumimoji="0" lang="en-US" altLang="en-US" sz="2000" b="1" i="0" u="none" strike="noStrike" cap="none" normalizeH="0" baseline="0" dirty="0">
                <a:ln>
                  <a:noFill/>
                </a:ln>
                <a:solidFill>
                  <a:srgbClr val="006699"/>
                </a:solidFill>
                <a:effectLst/>
                <a:latin typeface="Montserrat" panose="00000500000000000000" pitchFamily="2" charset="0"/>
              </a:rPr>
              <a:t>void</a:t>
            </a:r>
            <a:r>
              <a:rPr kumimoji="0" lang="en-US" altLang="en-US" sz="2000" b="0" i="0" u="none" strike="noStrike" cap="none" normalizeH="0" baseline="0" dirty="0">
                <a:ln>
                  <a:noFill/>
                </a:ln>
                <a:solidFill>
                  <a:srgbClr val="333333"/>
                </a:solidFill>
                <a:effectLst/>
                <a:latin typeface="Montserrat" panose="00000500000000000000" pitchFamily="2" charset="0"/>
              </a:rPr>
              <a:t> display(){</a:t>
            </a:r>
            <a:r>
              <a:rPr kumimoji="0" lang="en-US" altLang="en-US" sz="2000" b="0" i="0" u="none" strike="noStrike" cap="none" normalizeH="0" baseline="0" dirty="0" err="1">
                <a:ln>
                  <a:noFill/>
                </a:ln>
                <a:solidFill>
                  <a:srgbClr val="333333"/>
                </a:solidFill>
                <a:effectLst/>
                <a:latin typeface="Montserrat" panose="00000500000000000000" pitchFamily="2" charset="0"/>
              </a:rPr>
              <a:t>System.out.println</a:t>
            </a:r>
            <a:r>
              <a:rPr kumimoji="0" lang="en-US" altLang="en-US" sz="2000" b="0" i="0" u="none" strike="noStrike" cap="none" normalizeH="0" baseline="0" dirty="0">
                <a:ln>
                  <a:noFill/>
                </a:ln>
                <a:solidFill>
                  <a:srgbClr val="333333"/>
                </a:solidFill>
                <a:effectLst/>
                <a:latin typeface="Montserrat" panose="00000500000000000000" pitchFamily="2" charset="0"/>
              </a:rPr>
              <a:t>(id+" "+name+" "+salary);}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rgbClr val="006699"/>
                </a:solidFill>
                <a:effectLst/>
                <a:latin typeface="Montserrat" panose="00000500000000000000" pitchFamily="2" charset="0"/>
              </a:rPr>
              <a:t>public</a:t>
            </a:r>
            <a:r>
              <a:rPr kumimoji="0" lang="en-US" altLang="en-US" sz="2000" b="0" i="0" u="none" strike="noStrike" cap="none" normalizeH="0" baseline="0" dirty="0">
                <a:ln>
                  <a:noFill/>
                </a:ln>
                <a:solidFill>
                  <a:srgbClr val="333333"/>
                </a:solidFill>
                <a:effectLst/>
                <a:latin typeface="Montserrat" panose="00000500000000000000" pitchFamily="2" charset="0"/>
              </a:rPr>
              <a:t> </a:t>
            </a:r>
            <a:r>
              <a:rPr kumimoji="0" lang="en-US" altLang="en-US" sz="2000" b="1" i="0" u="none" strike="noStrike" cap="none" normalizeH="0" baseline="0" dirty="0">
                <a:ln>
                  <a:noFill/>
                </a:ln>
                <a:solidFill>
                  <a:srgbClr val="006699"/>
                </a:solidFill>
                <a:effectLst/>
                <a:latin typeface="Montserrat" panose="00000500000000000000" pitchFamily="2" charset="0"/>
              </a:rPr>
              <a:t>class</a:t>
            </a:r>
            <a:r>
              <a:rPr kumimoji="0" lang="en-US" altLang="en-US" sz="2000" b="0" i="0" u="none" strike="noStrike" cap="none" normalizeH="0" baseline="0" dirty="0">
                <a:ln>
                  <a:noFill/>
                </a:ln>
                <a:solidFill>
                  <a:srgbClr val="333333"/>
                </a:solidFill>
                <a:effectLst/>
                <a:latin typeface="Montserrat" panose="00000500000000000000" pitchFamily="2" charset="0"/>
              </a:rPr>
              <a:t> </a:t>
            </a:r>
            <a:r>
              <a:rPr kumimoji="0" lang="en-US" altLang="en-US" sz="2000" b="0" i="0" u="none" strike="noStrike" cap="none" normalizeH="0" baseline="0" dirty="0" err="1">
                <a:ln>
                  <a:noFill/>
                </a:ln>
                <a:solidFill>
                  <a:srgbClr val="333333"/>
                </a:solidFill>
                <a:effectLst/>
                <a:latin typeface="Montserrat" panose="00000500000000000000" pitchFamily="2" charset="0"/>
              </a:rPr>
              <a:t>TestEmployee</a:t>
            </a:r>
            <a:r>
              <a:rPr kumimoji="0" lang="en-US" altLang="en-US" sz="2000" b="0" i="0" u="none" strike="noStrike" cap="none" normalizeH="0" baseline="0" dirty="0">
                <a:ln>
                  <a:noFill/>
                </a:ln>
                <a:solidFill>
                  <a:srgbClr val="333333"/>
                </a:solidFill>
                <a:effectLst/>
                <a:latin typeface="Montserrat" panose="00000500000000000000" pitchFamily="2" charset="0"/>
              </a:rPr>
              <a:t>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rgbClr val="006699"/>
                </a:solidFill>
                <a:effectLst/>
                <a:latin typeface="Montserrat" panose="00000500000000000000" pitchFamily="2" charset="0"/>
              </a:rPr>
              <a:t>public</a:t>
            </a:r>
            <a:r>
              <a:rPr kumimoji="0" lang="en-US" altLang="en-US" sz="2000" b="0" i="0" u="none" strike="noStrike" cap="none" normalizeH="0" baseline="0" dirty="0">
                <a:ln>
                  <a:noFill/>
                </a:ln>
                <a:solidFill>
                  <a:srgbClr val="333333"/>
                </a:solidFill>
                <a:effectLst/>
                <a:latin typeface="Montserrat" panose="00000500000000000000" pitchFamily="2" charset="0"/>
              </a:rPr>
              <a:t> </a:t>
            </a:r>
            <a:r>
              <a:rPr kumimoji="0" lang="en-US" altLang="en-US" sz="2000" b="1" i="0" u="none" strike="noStrike" cap="none" normalizeH="0" baseline="0" dirty="0">
                <a:ln>
                  <a:noFill/>
                </a:ln>
                <a:solidFill>
                  <a:srgbClr val="006699"/>
                </a:solidFill>
                <a:effectLst/>
                <a:latin typeface="Montserrat" panose="00000500000000000000" pitchFamily="2" charset="0"/>
              </a:rPr>
              <a:t>static</a:t>
            </a:r>
            <a:r>
              <a:rPr kumimoji="0" lang="en-US" altLang="en-US" sz="2000" b="0" i="0" u="none" strike="noStrike" cap="none" normalizeH="0" baseline="0" dirty="0">
                <a:ln>
                  <a:noFill/>
                </a:ln>
                <a:solidFill>
                  <a:srgbClr val="333333"/>
                </a:solidFill>
                <a:effectLst/>
                <a:latin typeface="Montserrat" panose="00000500000000000000" pitchFamily="2" charset="0"/>
              </a:rPr>
              <a:t> </a:t>
            </a:r>
            <a:r>
              <a:rPr kumimoji="0" lang="en-US" altLang="en-US" sz="2000" b="1" i="0" u="none" strike="noStrike" cap="none" normalizeH="0" baseline="0" dirty="0">
                <a:ln>
                  <a:noFill/>
                </a:ln>
                <a:solidFill>
                  <a:srgbClr val="006699"/>
                </a:solidFill>
                <a:effectLst/>
                <a:latin typeface="Montserrat" panose="00000500000000000000" pitchFamily="2" charset="0"/>
              </a:rPr>
              <a:t>void</a:t>
            </a:r>
            <a:r>
              <a:rPr kumimoji="0" lang="en-US" altLang="en-US" sz="2000" b="0" i="0" u="none" strike="noStrike" cap="none" normalizeH="0" baseline="0" dirty="0">
                <a:ln>
                  <a:noFill/>
                </a:ln>
                <a:solidFill>
                  <a:srgbClr val="333333"/>
                </a:solidFill>
                <a:effectLst/>
                <a:latin typeface="Montserrat" panose="00000500000000000000" pitchFamily="2" charset="0"/>
              </a:rPr>
              <a:t> main(String[] </a:t>
            </a:r>
            <a:r>
              <a:rPr kumimoji="0" lang="en-US" altLang="en-US" sz="2000" b="0" i="0" u="none" strike="noStrike" cap="none" normalizeH="0" baseline="0" dirty="0" err="1">
                <a:ln>
                  <a:noFill/>
                </a:ln>
                <a:solidFill>
                  <a:srgbClr val="333333"/>
                </a:solidFill>
                <a:effectLst/>
                <a:latin typeface="Montserrat" panose="00000500000000000000" pitchFamily="2" charset="0"/>
              </a:rPr>
              <a:t>args</a:t>
            </a:r>
            <a:r>
              <a:rPr kumimoji="0" lang="en-US" altLang="en-US" sz="2000" b="0" i="0" u="none" strike="noStrike" cap="none" normalizeH="0" baseline="0" dirty="0">
                <a:ln>
                  <a:noFill/>
                </a:ln>
                <a:solidFill>
                  <a:srgbClr val="333333"/>
                </a:solidFill>
                <a:effectLst/>
                <a:latin typeface="Montserrat" panose="00000500000000000000" pitchFamily="2" charset="0"/>
              </a:rPr>
              <a:t>)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Employee e1=</a:t>
            </a:r>
            <a:r>
              <a:rPr kumimoji="0" lang="en-US" altLang="en-US" sz="2000" b="1" i="0" u="none" strike="noStrike" cap="none" normalizeH="0" baseline="0" dirty="0">
                <a:ln>
                  <a:noFill/>
                </a:ln>
                <a:solidFill>
                  <a:srgbClr val="006699"/>
                </a:solidFill>
                <a:effectLst/>
                <a:latin typeface="Montserrat" panose="00000500000000000000" pitchFamily="2" charset="0"/>
              </a:rPr>
              <a:t>new</a:t>
            </a:r>
            <a:r>
              <a:rPr kumimoji="0" lang="en-US" altLang="en-US" sz="2000" b="0" i="0" u="none" strike="noStrike" cap="none" normalizeH="0" baseline="0" dirty="0">
                <a:ln>
                  <a:noFill/>
                </a:ln>
                <a:solidFill>
                  <a:srgbClr val="333333"/>
                </a:solidFill>
                <a:effectLst/>
                <a:latin typeface="Montserrat" panose="00000500000000000000" pitchFamily="2" charset="0"/>
              </a:rPr>
              <a:t> Employee();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Employee e2=</a:t>
            </a:r>
            <a:r>
              <a:rPr kumimoji="0" lang="en-US" altLang="en-US" sz="2000" b="1" i="0" u="none" strike="noStrike" cap="none" normalizeH="0" baseline="0" dirty="0">
                <a:ln>
                  <a:noFill/>
                </a:ln>
                <a:solidFill>
                  <a:srgbClr val="006699"/>
                </a:solidFill>
                <a:effectLst/>
                <a:latin typeface="Montserrat" panose="00000500000000000000" pitchFamily="2" charset="0"/>
              </a:rPr>
              <a:t>new</a:t>
            </a:r>
            <a:r>
              <a:rPr kumimoji="0" lang="en-US" altLang="en-US" sz="2000" b="0" i="0" u="none" strike="noStrike" cap="none" normalizeH="0" baseline="0" dirty="0">
                <a:ln>
                  <a:noFill/>
                </a:ln>
                <a:solidFill>
                  <a:srgbClr val="333333"/>
                </a:solidFill>
                <a:effectLst/>
                <a:latin typeface="Montserrat" panose="00000500000000000000" pitchFamily="2" charset="0"/>
              </a:rPr>
              <a:t> Employee();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Employee e3=</a:t>
            </a:r>
            <a:r>
              <a:rPr kumimoji="0" lang="en-US" altLang="en-US" sz="2000" b="1" i="0" u="none" strike="noStrike" cap="none" normalizeH="0" baseline="0" dirty="0">
                <a:ln>
                  <a:noFill/>
                </a:ln>
                <a:solidFill>
                  <a:srgbClr val="006699"/>
                </a:solidFill>
                <a:effectLst/>
                <a:latin typeface="Montserrat" panose="00000500000000000000" pitchFamily="2" charset="0"/>
              </a:rPr>
              <a:t>new</a:t>
            </a:r>
            <a:r>
              <a:rPr kumimoji="0" lang="en-US" altLang="en-US" sz="2000" b="0" i="0" u="none" strike="noStrike" cap="none" normalizeH="0" baseline="0" dirty="0">
                <a:ln>
                  <a:noFill/>
                </a:ln>
                <a:solidFill>
                  <a:srgbClr val="333333"/>
                </a:solidFill>
                <a:effectLst/>
                <a:latin typeface="Montserrat" panose="00000500000000000000" pitchFamily="2" charset="0"/>
              </a:rPr>
              <a:t> Employee();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e1.insert(</a:t>
            </a:r>
            <a:r>
              <a:rPr kumimoji="0" lang="en-US" altLang="en-US" sz="2000" b="0" i="0" u="none" strike="noStrike" cap="none" normalizeH="0" baseline="0" dirty="0">
                <a:ln>
                  <a:noFill/>
                </a:ln>
                <a:solidFill>
                  <a:srgbClr val="C00000"/>
                </a:solidFill>
                <a:effectLst/>
                <a:latin typeface="Montserrat" panose="00000500000000000000" pitchFamily="2" charset="0"/>
              </a:rPr>
              <a:t>101</a:t>
            </a:r>
            <a:r>
              <a:rPr kumimoji="0" lang="en-US" altLang="en-US" sz="2000" b="0" i="0" u="none" strike="noStrike" cap="none" normalizeH="0" baseline="0" dirty="0">
                <a:ln>
                  <a:noFill/>
                </a:ln>
                <a:solidFill>
                  <a:srgbClr val="333333"/>
                </a:solidFill>
                <a:effectLst/>
                <a:latin typeface="Montserrat" panose="00000500000000000000" pitchFamily="2" charset="0"/>
              </a:rPr>
              <a:t>,"ajeet",</a:t>
            </a:r>
            <a:r>
              <a:rPr kumimoji="0" lang="en-US" altLang="en-US" sz="2000" b="0" i="0" u="none" strike="noStrike" cap="none" normalizeH="0" baseline="0" dirty="0">
                <a:ln>
                  <a:noFill/>
                </a:ln>
                <a:solidFill>
                  <a:srgbClr val="C00000"/>
                </a:solidFill>
                <a:effectLst/>
                <a:latin typeface="Montserrat" panose="00000500000000000000" pitchFamily="2" charset="0"/>
              </a:rPr>
              <a:t>45000</a:t>
            </a:r>
            <a:r>
              <a:rPr kumimoji="0" lang="en-US" altLang="en-US" sz="2000" b="0" i="0" u="none" strike="noStrike" cap="none" normalizeH="0" baseline="0" dirty="0">
                <a:ln>
                  <a:noFill/>
                </a:ln>
                <a:solidFill>
                  <a:srgbClr val="333333"/>
                </a:solidFill>
                <a:effectLst/>
                <a:latin typeface="Montserrat" panose="00000500000000000000" pitchFamily="2"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e2.insert(</a:t>
            </a:r>
            <a:r>
              <a:rPr kumimoji="0" lang="en-US" altLang="en-US" sz="2000" b="0" i="0" u="none" strike="noStrike" cap="none" normalizeH="0" baseline="0" dirty="0">
                <a:ln>
                  <a:noFill/>
                </a:ln>
                <a:solidFill>
                  <a:srgbClr val="C00000"/>
                </a:solidFill>
                <a:effectLst/>
                <a:latin typeface="Montserrat" panose="00000500000000000000" pitchFamily="2" charset="0"/>
              </a:rPr>
              <a:t>102</a:t>
            </a:r>
            <a:r>
              <a:rPr kumimoji="0" lang="en-US" altLang="en-US" sz="2000" b="0" i="0" u="none" strike="noStrike" cap="none" normalizeH="0" baseline="0" dirty="0">
                <a:ln>
                  <a:noFill/>
                </a:ln>
                <a:solidFill>
                  <a:srgbClr val="333333"/>
                </a:solidFill>
                <a:effectLst/>
                <a:latin typeface="Montserrat" panose="00000500000000000000" pitchFamily="2" charset="0"/>
              </a:rPr>
              <a:t>,"irfan",</a:t>
            </a:r>
            <a:r>
              <a:rPr kumimoji="0" lang="en-US" altLang="en-US" sz="2000" b="0" i="0" u="none" strike="noStrike" cap="none" normalizeH="0" baseline="0" dirty="0">
                <a:ln>
                  <a:noFill/>
                </a:ln>
                <a:solidFill>
                  <a:srgbClr val="C00000"/>
                </a:solidFill>
                <a:effectLst/>
                <a:latin typeface="Montserrat" panose="00000500000000000000" pitchFamily="2" charset="0"/>
              </a:rPr>
              <a:t>25000</a:t>
            </a:r>
            <a:r>
              <a:rPr kumimoji="0" lang="en-US" altLang="en-US" sz="2000" b="0" i="0" u="none" strike="noStrike" cap="none" normalizeH="0" baseline="0" dirty="0">
                <a:ln>
                  <a:noFill/>
                </a:ln>
                <a:solidFill>
                  <a:srgbClr val="333333"/>
                </a:solidFill>
                <a:effectLst/>
                <a:latin typeface="Montserrat" panose="00000500000000000000" pitchFamily="2"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e3.insert(</a:t>
            </a:r>
            <a:r>
              <a:rPr kumimoji="0" lang="en-US" altLang="en-US" sz="2000" b="0" i="0" u="none" strike="noStrike" cap="none" normalizeH="0" baseline="0" dirty="0">
                <a:ln>
                  <a:noFill/>
                </a:ln>
                <a:solidFill>
                  <a:srgbClr val="C00000"/>
                </a:solidFill>
                <a:effectLst/>
                <a:latin typeface="Montserrat" panose="00000500000000000000" pitchFamily="2" charset="0"/>
              </a:rPr>
              <a:t>103</a:t>
            </a:r>
            <a:r>
              <a:rPr kumimoji="0" lang="en-US" altLang="en-US" sz="2000" b="0" i="0" u="none" strike="noStrike" cap="none" normalizeH="0" baseline="0" dirty="0">
                <a:ln>
                  <a:noFill/>
                </a:ln>
                <a:solidFill>
                  <a:srgbClr val="333333"/>
                </a:solidFill>
                <a:effectLst/>
                <a:latin typeface="Montserrat" panose="00000500000000000000" pitchFamily="2" charset="0"/>
              </a:rPr>
              <a:t>,"nakul",</a:t>
            </a:r>
            <a:r>
              <a:rPr kumimoji="0" lang="en-US" altLang="en-US" sz="2000" b="0" i="0" u="none" strike="noStrike" cap="none" normalizeH="0" baseline="0" dirty="0">
                <a:ln>
                  <a:noFill/>
                </a:ln>
                <a:solidFill>
                  <a:srgbClr val="C00000"/>
                </a:solidFill>
                <a:effectLst/>
                <a:latin typeface="Montserrat" panose="00000500000000000000" pitchFamily="2" charset="0"/>
              </a:rPr>
              <a:t>55000</a:t>
            </a:r>
            <a:r>
              <a:rPr kumimoji="0" lang="en-US" altLang="en-US" sz="2000" b="0" i="0" u="none" strike="noStrike" cap="none" normalizeH="0" baseline="0" dirty="0">
                <a:ln>
                  <a:noFill/>
                </a:ln>
                <a:solidFill>
                  <a:srgbClr val="333333"/>
                </a:solidFill>
                <a:effectLst/>
                <a:latin typeface="Montserrat" panose="00000500000000000000" pitchFamily="2"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333333"/>
                </a:solidFill>
                <a:effectLst/>
                <a:latin typeface="Montserrat" panose="00000500000000000000" pitchFamily="2" charset="0"/>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6040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6CD6440-F246-8433-38A8-9897E0FF99D9}"/>
              </a:ext>
            </a:extLst>
          </p:cNvPr>
          <p:cNvSpPr>
            <a:spLocks noGrp="1"/>
          </p:cNvSpPr>
          <p:nvPr>
            <p:ph idx="1"/>
          </p:nvPr>
        </p:nvSpPr>
        <p:spPr>
          <a:xfrm>
            <a:off x="342900" y="457200"/>
            <a:ext cx="11010900" cy="5719763"/>
          </a:xfrm>
        </p:spPr>
        <p:txBody>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rgbClr val="333333"/>
                </a:solidFill>
                <a:effectLst/>
                <a:latin typeface="Montserrat" panose="00000500000000000000" pitchFamily="2" charset="0"/>
              </a:rPr>
              <a:t> e1.display();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rgbClr val="333333"/>
                </a:solidFill>
                <a:effectLst/>
                <a:latin typeface="Montserrat" panose="00000500000000000000" pitchFamily="2" charset="0"/>
              </a:rPr>
              <a:t> e2.display();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rgbClr val="333333"/>
                </a:solidFill>
                <a:effectLst/>
                <a:latin typeface="Montserrat" panose="00000500000000000000" pitchFamily="2" charset="0"/>
              </a:rPr>
              <a:t> e3.display();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rgbClr val="333333"/>
                </a:solidFill>
                <a:effectLst/>
                <a:latin typeface="Montserrat" panose="00000500000000000000" pitchFamily="2"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rgbClr val="333333"/>
                </a:solidFill>
                <a:effectLst/>
                <a:latin typeface="Montserrat" panose="00000500000000000000" pitchFamily="2"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333333"/>
                </a:solidFill>
                <a:effectLst/>
                <a:latin typeface="Montserrat" panose="00000500000000000000" pitchFamily="2" charset="0"/>
              </a:rPr>
              <a:t>Output: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333333"/>
                </a:solidFill>
                <a:effectLst/>
                <a:latin typeface="var(--bs-font-monospace)"/>
              </a:rPr>
              <a:t>101 </a:t>
            </a:r>
            <a:r>
              <a:rPr kumimoji="0" lang="en-US" altLang="en-US" b="0" i="1" u="none" strike="noStrike" cap="none" normalizeH="0" baseline="0" dirty="0" err="1">
                <a:ln>
                  <a:noFill/>
                </a:ln>
                <a:solidFill>
                  <a:srgbClr val="333333"/>
                </a:solidFill>
                <a:effectLst/>
                <a:latin typeface="var(--bs-font-monospace)"/>
              </a:rPr>
              <a:t>ajeet</a:t>
            </a:r>
            <a:r>
              <a:rPr kumimoji="0" lang="en-US" altLang="en-US" b="0" i="1" u="none" strike="noStrike" cap="none" normalizeH="0" baseline="0" dirty="0">
                <a:ln>
                  <a:noFill/>
                </a:ln>
                <a:solidFill>
                  <a:srgbClr val="333333"/>
                </a:solidFill>
                <a:effectLst/>
                <a:latin typeface="var(--bs-font-monospace)"/>
              </a:rPr>
              <a:t> 45000.0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333333"/>
                </a:solidFill>
                <a:effectLst/>
                <a:latin typeface="var(--bs-font-monospace)"/>
              </a:rPr>
              <a:t>102 </a:t>
            </a:r>
            <a:r>
              <a:rPr kumimoji="0" lang="en-US" altLang="en-US" b="0" i="1" u="none" strike="noStrike" cap="none" normalizeH="0" baseline="0" dirty="0" err="1">
                <a:ln>
                  <a:noFill/>
                </a:ln>
                <a:solidFill>
                  <a:srgbClr val="333333"/>
                </a:solidFill>
                <a:effectLst/>
                <a:latin typeface="var(--bs-font-monospace)"/>
              </a:rPr>
              <a:t>irfan</a:t>
            </a:r>
            <a:r>
              <a:rPr kumimoji="0" lang="en-US" altLang="en-US" b="0" i="1" u="none" strike="noStrike" cap="none" normalizeH="0" baseline="0" dirty="0">
                <a:ln>
                  <a:noFill/>
                </a:ln>
                <a:solidFill>
                  <a:srgbClr val="333333"/>
                </a:solidFill>
                <a:effectLst/>
                <a:latin typeface="var(--bs-font-monospace)"/>
              </a:rPr>
              <a:t> 25000.0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333333"/>
                </a:solidFill>
                <a:effectLst/>
                <a:latin typeface="var(--bs-font-monospace)"/>
              </a:rPr>
              <a:t>103 </a:t>
            </a:r>
            <a:r>
              <a:rPr kumimoji="0" lang="en-US" altLang="en-US" b="0" i="1" u="none" strike="noStrike" cap="none" normalizeH="0" baseline="0" dirty="0" err="1">
                <a:ln>
                  <a:noFill/>
                </a:ln>
                <a:solidFill>
                  <a:srgbClr val="333333"/>
                </a:solidFill>
                <a:effectLst/>
                <a:latin typeface="var(--bs-font-monospace)"/>
              </a:rPr>
              <a:t>nakul</a:t>
            </a:r>
            <a:r>
              <a:rPr kumimoji="0" lang="en-US" altLang="en-US" b="0" i="1" u="none" strike="noStrike" cap="none" normalizeH="0" baseline="0" dirty="0">
                <a:ln>
                  <a:noFill/>
                </a:ln>
                <a:solidFill>
                  <a:srgbClr val="333333"/>
                </a:solidFill>
                <a:effectLst/>
                <a:latin typeface="var(--bs-font-monospace)"/>
              </a:rPr>
              <a:t> 55000.0</a:t>
            </a:r>
            <a:endParaRPr kumimoji="0" lang="en-US" altLang="en-US" sz="40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521067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0E0688-6DE5-4C6C-C95B-705E75283074}"/>
              </a:ext>
            </a:extLst>
          </p:cNvPr>
          <p:cNvSpPr>
            <a:spLocks noGrp="1"/>
          </p:cNvSpPr>
          <p:nvPr>
            <p:ph type="title"/>
          </p:nvPr>
        </p:nvSpPr>
        <p:spPr>
          <a:xfrm>
            <a:off x="514350" y="365125"/>
            <a:ext cx="10839450" cy="620713"/>
          </a:xfrm>
        </p:spPr>
        <p:txBody>
          <a:bodyPr>
            <a:normAutofit/>
          </a:bodyPr>
          <a:lstStyle/>
          <a:p>
            <a:r>
              <a:rPr lang="en-IN" sz="3600" b="1" dirty="0">
                <a:latin typeface="Times New Roman" panose="02020603050405020304" pitchFamily="18" charset="0"/>
                <a:cs typeface="Times New Roman" panose="02020603050405020304" pitchFamily="18" charset="0"/>
              </a:rPr>
              <a:t>Example: Class and Objects</a:t>
            </a:r>
          </a:p>
        </p:txBody>
      </p:sp>
      <p:sp>
        <p:nvSpPr>
          <p:cNvPr id="3" name="Content Placeholder 2">
            <a:extLst>
              <a:ext uri="{FF2B5EF4-FFF2-40B4-BE49-F238E27FC236}">
                <a16:creationId xmlns="" xmlns:a16="http://schemas.microsoft.com/office/drawing/2014/main" id="{4E3563CD-B504-C88C-E3C5-86312B291974}"/>
              </a:ext>
            </a:extLst>
          </p:cNvPr>
          <p:cNvSpPr>
            <a:spLocks noGrp="1"/>
          </p:cNvSpPr>
          <p:nvPr>
            <p:ph idx="1"/>
          </p:nvPr>
        </p:nvSpPr>
        <p:spPr>
          <a:xfrm>
            <a:off x="142875" y="1200150"/>
            <a:ext cx="11210925" cy="5657850"/>
          </a:xfrm>
        </p:spPr>
        <p:txBody>
          <a:bodyPr>
            <a:normAutofit fontScale="85000" lnSpcReduction="20000"/>
          </a:bodyPr>
          <a:lstStyle/>
          <a:p>
            <a:pPr marL="0" indent="0">
              <a:buNone/>
            </a:pPr>
            <a:r>
              <a:rPr lang="en-US" dirty="0"/>
              <a:t>// Define the class</a:t>
            </a:r>
          </a:p>
          <a:p>
            <a:pPr marL="0" indent="0">
              <a:buNone/>
            </a:pPr>
            <a:r>
              <a:rPr lang="en-US" dirty="0"/>
              <a:t>class Car {</a:t>
            </a:r>
          </a:p>
          <a:p>
            <a:pPr marL="0" indent="0">
              <a:buNone/>
            </a:pPr>
            <a:r>
              <a:rPr lang="en-US" dirty="0"/>
              <a:t>    // Fields (attributes)</a:t>
            </a:r>
          </a:p>
          <a:p>
            <a:pPr marL="0" indent="0">
              <a:buNone/>
            </a:pPr>
            <a:r>
              <a:rPr lang="en-US" dirty="0"/>
              <a:t>    String brand;</a:t>
            </a:r>
          </a:p>
          <a:p>
            <a:pPr marL="0" indent="0">
              <a:buNone/>
            </a:pPr>
            <a:r>
              <a:rPr lang="en-US" dirty="0"/>
              <a:t>    String color;</a:t>
            </a:r>
          </a:p>
          <a:p>
            <a:pPr marL="0" indent="0">
              <a:buNone/>
            </a:pPr>
            <a:r>
              <a:rPr lang="en-US" dirty="0"/>
              <a:t>    int speed;</a:t>
            </a:r>
          </a:p>
          <a:p>
            <a:pPr marL="0" indent="0">
              <a:buNone/>
            </a:pPr>
            <a:endParaRPr lang="en-US" dirty="0"/>
          </a:p>
          <a:p>
            <a:pPr marL="0" indent="0">
              <a:buNone/>
            </a:pPr>
            <a:r>
              <a:rPr lang="en-US" dirty="0"/>
              <a:t>    // Method (behavior)</a:t>
            </a:r>
          </a:p>
          <a:p>
            <a:pPr marL="0" indent="0">
              <a:buNone/>
            </a:pPr>
            <a:r>
              <a:rPr lang="en-US" dirty="0"/>
              <a:t>    void </a:t>
            </a:r>
            <a:r>
              <a:rPr lang="en-US" dirty="0" err="1"/>
              <a:t>displayDetails</a:t>
            </a:r>
            <a:r>
              <a:rPr lang="en-US" dirty="0"/>
              <a:t>() {</a:t>
            </a:r>
          </a:p>
          <a:p>
            <a:pPr marL="0" indent="0">
              <a:buNone/>
            </a:pPr>
            <a:r>
              <a:rPr lang="en-US" dirty="0"/>
              <a:t>        </a:t>
            </a:r>
            <a:r>
              <a:rPr lang="en-US" dirty="0" err="1"/>
              <a:t>System.out.println</a:t>
            </a:r>
            <a:r>
              <a:rPr lang="en-US" dirty="0"/>
              <a:t>("Brand: " + brand);</a:t>
            </a:r>
          </a:p>
          <a:p>
            <a:pPr marL="0" indent="0">
              <a:buNone/>
            </a:pPr>
            <a:r>
              <a:rPr lang="en-US" dirty="0"/>
              <a:t>        </a:t>
            </a:r>
            <a:r>
              <a:rPr lang="en-US" dirty="0" err="1"/>
              <a:t>System.out.println</a:t>
            </a:r>
            <a:r>
              <a:rPr lang="en-US" dirty="0"/>
              <a:t>("Color: " + color);</a:t>
            </a:r>
          </a:p>
          <a:p>
            <a:pPr marL="0" indent="0">
              <a:buNone/>
            </a:pPr>
            <a:r>
              <a:rPr lang="en-US" dirty="0"/>
              <a:t>        </a:t>
            </a:r>
            <a:r>
              <a:rPr lang="en-US" dirty="0" err="1"/>
              <a:t>System.out.println</a:t>
            </a:r>
            <a:r>
              <a:rPr lang="en-US" dirty="0"/>
              <a:t>("Speed: " + speed + " km/h");</a:t>
            </a:r>
          </a:p>
          <a:p>
            <a:pPr marL="0" indent="0">
              <a:buNone/>
            </a:pPr>
            <a:r>
              <a:rPr lang="en-US" dirty="0"/>
              <a:t>    }</a:t>
            </a:r>
          </a:p>
          <a:p>
            <a:pPr marL="0" indent="0">
              <a:buNone/>
            </a:pPr>
            <a:r>
              <a:rPr lang="en-US" dirty="0"/>
              <a: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627013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E3CB34C-CBE5-4DD9-4BA7-CD254F53A1DB}"/>
              </a:ext>
            </a:extLst>
          </p:cNvPr>
          <p:cNvSpPr>
            <a:spLocks noGrp="1"/>
          </p:cNvSpPr>
          <p:nvPr>
            <p:ph idx="1"/>
          </p:nvPr>
        </p:nvSpPr>
        <p:spPr>
          <a:xfrm>
            <a:off x="142875" y="142875"/>
            <a:ext cx="11210925" cy="6572250"/>
          </a:xfrm>
        </p:spPr>
        <p:txBody>
          <a:bodyPr>
            <a:normAutofit fontScale="40000" lnSpcReduction="20000"/>
          </a:bodyPr>
          <a:lstStyle/>
          <a:p>
            <a:pPr marL="0" indent="0">
              <a:buNone/>
            </a:pPr>
            <a:r>
              <a:rPr lang="en-US" sz="3800" dirty="0"/>
              <a:t>public class Main {</a:t>
            </a:r>
          </a:p>
          <a:p>
            <a:pPr marL="0" indent="0">
              <a:buNone/>
            </a:pPr>
            <a:r>
              <a:rPr lang="en-US" sz="3800" dirty="0"/>
              <a:t>    public static void main(String[] </a:t>
            </a:r>
            <a:r>
              <a:rPr lang="en-US" sz="3800" dirty="0" err="1"/>
              <a:t>args</a:t>
            </a:r>
            <a:r>
              <a:rPr lang="en-US" sz="3800" dirty="0"/>
              <a:t>) {</a:t>
            </a:r>
          </a:p>
          <a:p>
            <a:pPr marL="0" indent="0">
              <a:buNone/>
            </a:pPr>
            <a:r>
              <a:rPr lang="en-US" sz="3800" dirty="0"/>
              <a:t>        // Create an object of the Car class</a:t>
            </a:r>
          </a:p>
          <a:p>
            <a:pPr marL="0" indent="0">
              <a:buNone/>
            </a:pPr>
            <a:r>
              <a:rPr lang="en-US" sz="3800" dirty="0"/>
              <a:t>        Car car1 = new Car();</a:t>
            </a:r>
          </a:p>
          <a:p>
            <a:pPr marL="0" indent="0">
              <a:buNone/>
            </a:pPr>
            <a:endParaRPr lang="en-US" sz="3800" dirty="0"/>
          </a:p>
          <a:p>
            <a:pPr marL="0" indent="0">
              <a:buNone/>
            </a:pPr>
            <a:r>
              <a:rPr lang="en-US" sz="3800" dirty="0"/>
              <a:t>        // Set values for the object's fields</a:t>
            </a:r>
          </a:p>
          <a:p>
            <a:pPr marL="0" indent="0">
              <a:buNone/>
            </a:pPr>
            <a:r>
              <a:rPr lang="en-US" sz="3800" dirty="0"/>
              <a:t>        car1.brand = "Toyota";</a:t>
            </a:r>
          </a:p>
          <a:p>
            <a:pPr marL="0" indent="0">
              <a:buNone/>
            </a:pPr>
            <a:r>
              <a:rPr lang="en-US" sz="3800" dirty="0"/>
              <a:t>        car1.color = "Red";</a:t>
            </a:r>
          </a:p>
          <a:p>
            <a:pPr marL="0" indent="0">
              <a:buNone/>
            </a:pPr>
            <a:r>
              <a:rPr lang="en-US" sz="3800" dirty="0"/>
              <a:t>        car1.speed = 120;</a:t>
            </a:r>
          </a:p>
          <a:p>
            <a:pPr marL="0" indent="0">
              <a:buNone/>
            </a:pPr>
            <a:endParaRPr lang="en-US" sz="3800" dirty="0"/>
          </a:p>
          <a:p>
            <a:pPr marL="0" indent="0">
              <a:buNone/>
            </a:pPr>
            <a:r>
              <a:rPr lang="en-US" sz="3800" dirty="0"/>
              <a:t>        // Call the method using the object</a:t>
            </a:r>
          </a:p>
          <a:p>
            <a:pPr marL="0" indent="0">
              <a:buNone/>
            </a:pPr>
            <a:r>
              <a:rPr lang="en-US" sz="3800" dirty="0"/>
              <a:t>        car1.displayDetails();</a:t>
            </a:r>
          </a:p>
          <a:p>
            <a:pPr marL="0" indent="0">
              <a:buNone/>
            </a:pPr>
            <a:endParaRPr lang="en-US" sz="3800" dirty="0"/>
          </a:p>
          <a:p>
            <a:pPr marL="0" indent="0">
              <a:buNone/>
            </a:pPr>
            <a:r>
              <a:rPr lang="en-US" sz="3800" dirty="0"/>
              <a:t>        // Create another object</a:t>
            </a:r>
          </a:p>
          <a:p>
            <a:pPr marL="0" indent="0">
              <a:buNone/>
            </a:pPr>
            <a:r>
              <a:rPr lang="en-US" sz="3800" dirty="0"/>
              <a:t>        Car car2 = new Car();</a:t>
            </a:r>
          </a:p>
          <a:p>
            <a:pPr marL="0" indent="0">
              <a:buNone/>
            </a:pPr>
            <a:r>
              <a:rPr lang="en-US" sz="3800" dirty="0"/>
              <a:t>        car2.brand = "Honda";</a:t>
            </a:r>
          </a:p>
          <a:p>
            <a:pPr marL="0" indent="0">
              <a:buNone/>
            </a:pPr>
            <a:r>
              <a:rPr lang="en-US" sz="3800" dirty="0"/>
              <a:t>        car2.color = "Blue";</a:t>
            </a:r>
          </a:p>
          <a:p>
            <a:pPr marL="0" indent="0">
              <a:buNone/>
            </a:pPr>
            <a:r>
              <a:rPr lang="en-US" sz="3800" dirty="0"/>
              <a:t>        car2.speed = 150;</a:t>
            </a:r>
          </a:p>
          <a:p>
            <a:pPr marL="0" indent="0">
              <a:buNone/>
            </a:pPr>
            <a:endParaRPr lang="en-US" sz="3800" dirty="0"/>
          </a:p>
          <a:p>
            <a:pPr marL="0" indent="0">
              <a:buNone/>
            </a:pPr>
            <a:r>
              <a:rPr lang="en-US" sz="3800" dirty="0"/>
              <a:t>        car2.displayDetails();</a:t>
            </a:r>
          </a:p>
          <a:p>
            <a:pPr marL="0" indent="0">
              <a:buNone/>
            </a:pPr>
            <a:r>
              <a:rPr lang="en-US" sz="3800" dirty="0"/>
              <a:t>    }</a:t>
            </a:r>
          </a:p>
          <a:p>
            <a:pPr marL="0" indent="0">
              <a:buNone/>
            </a:pPr>
            <a:r>
              <a:rPr lang="en-US" sz="3800" dirty="0"/>
              <a:t>}</a:t>
            </a:r>
          </a:p>
          <a:p>
            <a:pPr marL="0" indent="0">
              <a:buNone/>
            </a:pPr>
            <a:endParaRPr lang="en-IN" dirty="0"/>
          </a:p>
        </p:txBody>
      </p:sp>
    </p:spTree>
    <p:extLst>
      <p:ext uri="{BB962C8B-B14F-4D97-AF65-F5344CB8AC3E}">
        <p14:creationId xmlns:p14="http://schemas.microsoft.com/office/powerpoint/2010/main" val="1891554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2D452F-1E1A-634D-9206-C5F9418F6BF7}"/>
              </a:ext>
            </a:extLst>
          </p:cNvPr>
          <p:cNvSpPr>
            <a:spLocks noGrp="1"/>
          </p:cNvSpPr>
          <p:nvPr>
            <p:ph type="title"/>
          </p:nvPr>
        </p:nvSpPr>
        <p:spPr/>
        <p:txBody>
          <a:bodyPr>
            <a:normAutofit/>
          </a:bodyPr>
          <a:lstStyle/>
          <a:p>
            <a:pPr marL="571500" indent="-571500">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rPr>
              <a:t>Output-</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2E155587-76D3-31B3-B815-BB17792CEA55}"/>
              </a:ext>
            </a:extLst>
          </p:cNvPr>
          <p:cNvSpPr>
            <a:spLocks noGrp="1"/>
          </p:cNvSpPr>
          <p:nvPr>
            <p:ph idx="1"/>
          </p:nvPr>
        </p:nvSpPr>
        <p:spPr/>
        <p:txBody>
          <a:bodyPr/>
          <a:lstStyle/>
          <a:p>
            <a:r>
              <a:rPr lang="en-US" dirty="0"/>
              <a:t>Brand: Toyota</a:t>
            </a:r>
          </a:p>
          <a:p>
            <a:r>
              <a:rPr lang="en-US" dirty="0"/>
              <a:t>Color: Red</a:t>
            </a:r>
          </a:p>
          <a:p>
            <a:r>
              <a:rPr lang="en-US" dirty="0"/>
              <a:t>Speed: 120 km/h</a:t>
            </a:r>
          </a:p>
          <a:p>
            <a:r>
              <a:rPr lang="en-US" dirty="0"/>
              <a:t>Brand: Honda</a:t>
            </a:r>
          </a:p>
          <a:p>
            <a:r>
              <a:rPr lang="en-US" dirty="0"/>
              <a:t>Color: Blue</a:t>
            </a:r>
          </a:p>
          <a:p>
            <a:r>
              <a:rPr lang="en-US" dirty="0"/>
              <a:t>Speed: 150 km/h</a:t>
            </a:r>
          </a:p>
          <a:p>
            <a:endParaRPr lang="en-IN" dirty="0"/>
          </a:p>
        </p:txBody>
      </p:sp>
    </p:spTree>
    <p:extLst>
      <p:ext uri="{BB962C8B-B14F-4D97-AF65-F5344CB8AC3E}">
        <p14:creationId xmlns:p14="http://schemas.microsoft.com/office/powerpoint/2010/main" val="660200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70B7E7E-42BB-2454-D564-6F33ECB2536D}"/>
              </a:ext>
            </a:extLst>
          </p:cNvPr>
          <p:cNvSpPr>
            <a:spLocks noGrp="1"/>
          </p:cNvSpPr>
          <p:nvPr>
            <p:ph type="title"/>
          </p:nvPr>
        </p:nvSpPr>
        <p:spPr>
          <a:xfrm>
            <a:off x="375781" y="365125"/>
            <a:ext cx="10978019" cy="674535"/>
          </a:xfrm>
        </p:spPr>
        <p:txBody>
          <a:bodyPr>
            <a:normAutofit/>
          </a:bodyPr>
          <a:lstStyle/>
          <a:p>
            <a:r>
              <a:rPr lang="en-IN" sz="3200" b="1" dirty="0">
                <a:latin typeface="Times New Roman" pitchFamily="18" charset="0"/>
                <a:cs typeface="Times New Roman" pitchFamily="18" charset="0"/>
              </a:rPr>
              <a:t>Abstraction in Java</a:t>
            </a:r>
          </a:p>
        </p:txBody>
      </p:sp>
      <p:sp>
        <p:nvSpPr>
          <p:cNvPr id="3" name="Content Placeholder 2">
            <a:extLst>
              <a:ext uri="{FF2B5EF4-FFF2-40B4-BE49-F238E27FC236}">
                <a16:creationId xmlns="" xmlns:a16="http://schemas.microsoft.com/office/drawing/2014/main" id="{AD35C442-1DF8-1F24-B707-B062EE034E13}"/>
              </a:ext>
            </a:extLst>
          </p:cNvPr>
          <p:cNvSpPr>
            <a:spLocks noGrp="1"/>
          </p:cNvSpPr>
          <p:nvPr>
            <p:ph idx="1"/>
          </p:nvPr>
        </p:nvSpPr>
        <p:spPr>
          <a:xfrm>
            <a:off x="200416" y="1215025"/>
            <a:ext cx="11153384" cy="4961938"/>
          </a:xfrm>
        </p:spPr>
        <p:txBody>
          <a:bodyPr/>
          <a:lstStyle/>
          <a:p>
            <a:r>
              <a:rPr lang="en-US" b="1" dirty="0"/>
              <a:t>Abstraction</a:t>
            </a:r>
            <a:r>
              <a:rPr lang="en-US" dirty="0"/>
              <a:t> is a process of hiding the implementation details and showing only functionality to the user.</a:t>
            </a:r>
          </a:p>
          <a:p>
            <a:r>
              <a:rPr lang="en-US" dirty="0"/>
              <a:t>Another way, it shows only essential things to the user and hides the internal details, for example, sending SMS where we type the text and send the message. We do not know the internal processing about the message delivery.</a:t>
            </a:r>
          </a:p>
          <a:p>
            <a:r>
              <a:rPr lang="en-US" dirty="0"/>
              <a:t>In Java, abstraction can be achieved using:</a:t>
            </a:r>
          </a:p>
          <a:p>
            <a:r>
              <a:rPr lang="en-US" b="1" dirty="0"/>
              <a:t>Abstract Classes</a:t>
            </a:r>
            <a:endParaRPr lang="en-US" dirty="0"/>
          </a:p>
          <a:p>
            <a:r>
              <a:rPr lang="en-US" b="1" dirty="0"/>
              <a:t>Interfaces</a:t>
            </a:r>
            <a:endParaRPr lang="en-US" dirty="0"/>
          </a:p>
          <a:p>
            <a:pPr marL="0" indent="0">
              <a:buNone/>
            </a:pPr>
            <a:endParaRPr lang="en-IN" dirty="0"/>
          </a:p>
        </p:txBody>
      </p:sp>
    </p:spTree>
    <p:extLst>
      <p:ext uri="{BB962C8B-B14F-4D97-AF65-F5344CB8AC3E}">
        <p14:creationId xmlns:p14="http://schemas.microsoft.com/office/powerpoint/2010/main" val="2163234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12" y="300625"/>
            <a:ext cx="10589713" cy="863970"/>
          </a:xfrm>
        </p:spPr>
        <p:txBody>
          <a:bodyPr>
            <a:normAutofit/>
          </a:bodyPr>
          <a:lstStyle/>
          <a:p>
            <a:pPr marL="514350" indent="-514350">
              <a:buFont typeface="+mj-lt"/>
              <a:buAutoNum type="arabicPeriod"/>
            </a:pPr>
            <a:r>
              <a:rPr lang="en-US" sz="2800" b="1" dirty="0">
                <a:latin typeface="Times New Roman" pitchFamily="18" charset="0"/>
                <a:cs typeface="Times New Roman" pitchFamily="18" charset="0"/>
              </a:rPr>
              <a:t>Using abstract class-</a:t>
            </a:r>
          </a:p>
        </p:txBody>
      </p:sp>
      <p:sp>
        <p:nvSpPr>
          <p:cNvPr id="3" name="Content Placeholder 2"/>
          <p:cNvSpPr>
            <a:spLocks noGrp="1"/>
          </p:cNvSpPr>
          <p:nvPr>
            <p:ph idx="1"/>
          </p:nvPr>
        </p:nvSpPr>
        <p:spPr>
          <a:xfrm>
            <a:off x="175364" y="1177447"/>
            <a:ext cx="11178436" cy="4999516"/>
          </a:xfrm>
        </p:spPr>
        <p:txBody>
          <a:bodyPr/>
          <a:lstStyle/>
          <a:p>
            <a:r>
              <a:rPr lang="en-US" dirty="0"/>
              <a:t>An abstract class in Java acts as a partially implemented class that itself cannot be instantiated. It exists only for sub classing purposes, and provides a template for its subcategories to follow. Abstract classes can have implementations with abstract methods. Abstract methods are declared to have no body, leaving their implementation to subclasses.</a:t>
            </a:r>
          </a:p>
          <a:p>
            <a:r>
              <a:rPr lang="en-US" dirty="0"/>
              <a:t>An abstract class must be declared with an abstract keyword.</a:t>
            </a:r>
          </a:p>
          <a:p>
            <a:r>
              <a:rPr lang="en-US" dirty="0"/>
              <a:t>It can have abstract and non-abstract methods.</a:t>
            </a:r>
          </a:p>
          <a:p>
            <a:r>
              <a:rPr lang="en-US" dirty="0"/>
              <a:t>It cannot be instantiated.</a:t>
            </a:r>
          </a:p>
          <a:p>
            <a:r>
              <a:rPr lang="en-US" dirty="0"/>
              <a:t>It can have constructors and static methods also.</a:t>
            </a:r>
          </a:p>
          <a:p>
            <a:r>
              <a:rPr lang="en-US" dirty="0"/>
              <a:t>It can have final methods which will force the subclass not to change the body of the method.</a:t>
            </a:r>
          </a:p>
          <a:p>
            <a:endParaRPr lang="en-US" dirty="0"/>
          </a:p>
        </p:txBody>
      </p:sp>
    </p:spTree>
    <p:extLst>
      <p:ext uri="{BB962C8B-B14F-4D97-AF65-F5344CB8AC3E}">
        <p14:creationId xmlns:p14="http://schemas.microsoft.com/office/powerpoint/2010/main" val="3423441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359" y="365125"/>
            <a:ext cx="10940441" cy="386437"/>
          </a:xfrm>
        </p:spPr>
        <p:txBody>
          <a:bodyPr>
            <a:normAutofit fontScale="90000"/>
          </a:bodyPr>
          <a:lstStyle/>
          <a:p>
            <a:r>
              <a:rPr lang="en-US" sz="2800" b="1" dirty="0">
                <a:latin typeface="Times New Roman" pitchFamily="18" charset="0"/>
                <a:cs typeface="Times New Roman" pitchFamily="18" charset="0"/>
              </a:rPr>
              <a:t>Syntax of Abstract Classes-</a:t>
            </a:r>
            <a:r>
              <a:rPr lang="en-US" dirty="0"/>
              <a:t/>
            </a:r>
            <a:br>
              <a:rPr lang="en-US" dirty="0"/>
            </a:br>
            <a:endParaRPr lang="en-US" dirty="0"/>
          </a:p>
        </p:txBody>
      </p:sp>
      <p:sp>
        <p:nvSpPr>
          <p:cNvPr id="3" name="Content Placeholder 2"/>
          <p:cNvSpPr>
            <a:spLocks noGrp="1"/>
          </p:cNvSpPr>
          <p:nvPr>
            <p:ph idx="1"/>
          </p:nvPr>
        </p:nvSpPr>
        <p:spPr>
          <a:xfrm>
            <a:off x="325677" y="576197"/>
            <a:ext cx="11028123" cy="5600766"/>
          </a:xfrm>
        </p:spPr>
        <p:txBody>
          <a:bodyPr/>
          <a:lstStyle/>
          <a:p>
            <a:pPr marL="0" indent="0">
              <a:buNone/>
            </a:pPr>
            <a:r>
              <a:rPr lang="en-US" dirty="0"/>
              <a:t>public </a:t>
            </a:r>
            <a:r>
              <a:rPr lang="en-US" b="1" dirty="0"/>
              <a:t>abstract</a:t>
            </a:r>
            <a:r>
              <a:rPr lang="en-US" dirty="0"/>
              <a:t> </a:t>
            </a:r>
            <a:r>
              <a:rPr lang="en-US" b="1" dirty="0"/>
              <a:t>class</a:t>
            </a:r>
            <a:r>
              <a:rPr lang="en-US" dirty="0"/>
              <a:t> Shape {  </a:t>
            </a:r>
          </a:p>
          <a:p>
            <a:pPr marL="0" indent="0">
              <a:buNone/>
            </a:pPr>
            <a:r>
              <a:rPr lang="en-US" dirty="0"/>
              <a:t>    </a:t>
            </a:r>
            <a:r>
              <a:rPr lang="en-US" b="1" dirty="0"/>
              <a:t>public</a:t>
            </a:r>
            <a:r>
              <a:rPr lang="en-US" dirty="0"/>
              <a:t> </a:t>
            </a:r>
            <a:r>
              <a:rPr lang="en-US" b="1" dirty="0"/>
              <a:t>abstract</a:t>
            </a:r>
            <a:r>
              <a:rPr lang="en-US" dirty="0"/>
              <a:t> </a:t>
            </a:r>
            <a:r>
              <a:rPr lang="en-US" b="1" dirty="0"/>
              <a:t>double</a:t>
            </a:r>
            <a:r>
              <a:rPr lang="en-US" dirty="0"/>
              <a:t> area();  </a:t>
            </a:r>
          </a:p>
          <a:p>
            <a:pPr marL="0" indent="0">
              <a:buNone/>
            </a:pPr>
            <a:r>
              <a:rPr lang="en-US" dirty="0"/>
              <a:t>    </a:t>
            </a:r>
            <a:r>
              <a:rPr lang="en-US" b="1" dirty="0"/>
              <a:t>public</a:t>
            </a:r>
            <a:r>
              <a:rPr lang="en-US" dirty="0"/>
              <a:t> </a:t>
            </a:r>
            <a:r>
              <a:rPr lang="en-US" b="1" dirty="0"/>
              <a:t>void</a:t>
            </a:r>
            <a:r>
              <a:rPr lang="en-US" dirty="0"/>
              <a:t> display() {  </a:t>
            </a:r>
          </a:p>
          <a:p>
            <a:pPr marL="0" indent="0">
              <a:buNone/>
            </a:pPr>
            <a:r>
              <a:rPr lang="en-US" dirty="0"/>
              <a:t>        </a:t>
            </a:r>
            <a:r>
              <a:rPr lang="en-US" dirty="0" err="1"/>
              <a:t>System.out.println</a:t>
            </a:r>
            <a:r>
              <a:rPr lang="en-US" dirty="0"/>
              <a:t>("This is a shape.");  </a:t>
            </a:r>
          </a:p>
          <a:p>
            <a:pPr marL="0" indent="0">
              <a:buNone/>
            </a:pPr>
            <a:r>
              <a:rPr lang="en-US" dirty="0"/>
              <a:t>    }  </a:t>
            </a:r>
          </a:p>
          <a:p>
            <a:pPr marL="0" indent="0">
              <a:buNone/>
            </a:pPr>
            <a:r>
              <a:rPr lang="en-US" dirty="0"/>
              <a:t>}  </a:t>
            </a:r>
          </a:p>
          <a:p>
            <a:pPr marL="0" indent="0">
              <a:buNone/>
            </a:pPr>
            <a:r>
              <a:rPr lang="en-US" dirty="0"/>
              <a:t>In this example, Shape is an abstract class with one abstract method area() and one concrete method display(). Subclasses of Shape must implement the area() method, but they can inherit the display() method.</a:t>
            </a:r>
          </a:p>
        </p:txBody>
      </p:sp>
    </p:spTree>
    <p:extLst>
      <p:ext uri="{BB962C8B-B14F-4D97-AF65-F5344CB8AC3E}">
        <p14:creationId xmlns:p14="http://schemas.microsoft.com/office/powerpoint/2010/main" val="1851076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682" y="365126"/>
            <a:ext cx="11266118" cy="311280"/>
          </a:xfrm>
        </p:spPr>
        <p:txBody>
          <a:bodyPr>
            <a:normAutofit fontScale="90000"/>
          </a:bodyPr>
          <a:lstStyle/>
          <a:p>
            <a:r>
              <a:rPr lang="en-US" sz="3600" b="1" dirty="0">
                <a:latin typeface="Times New Roman" pitchFamily="18" charset="0"/>
                <a:cs typeface="Times New Roman" pitchFamily="18" charset="0"/>
              </a:rPr>
              <a:t>When to Use Abstract Classes?</a:t>
            </a:r>
            <a:r>
              <a:rPr lang="en-US" dirty="0"/>
              <a:t/>
            </a:r>
            <a:br>
              <a:rPr lang="en-US" dirty="0"/>
            </a:br>
            <a:endParaRPr lang="en-US" dirty="0"/>
          </a:p>
        </p:txBody>
      </p:sp>
      <p:sp>
        <p:nvSpPr>
          <p:cNvPr id="3" name="Content Placeholder 2"/>
          <p:cNvSpPr>
            <a:spLocks noGrp="1"/>
          </p:cNvSpPr>
          <p:nvPr>
            <p:ph idx="1"/>
          </p:nvPr>
        </p:nvSpPr>
        <p:spPr>
          <a:xfrm>
            <a:off x="313151" y="789140"/>
            <a:ext cx="11040649" cy="5387823"/>
          </a:xfrm>
        </p:spPr>
        <p:txBody>
          <a:bodyPr/>
          <a:lstStyle/>
          <a:p>
            <a:r>
              <a:rPr lang="en-US" b="1" dirty="0"/>
              <a:t>Code Reusability:</a:t>
            </a:r>
            <a:r>
              <a:rPr lang="en-US" dirty="0"/>
              <a:t> Abstract classes facilitate code reuse by allowing common methods to be implemented once and inherited by multiple subclasses.</a:t>
            </a:r>
          </a:p>
          <a:p>
            <a:r>
              <a:rPr lang="en-US" b="1" dirty="0"/>
              <a:t>Defining a Common Interface:</a:t>
            </a:r>
            <a:r>
              <a:rPr lang="en-US" dirty="0"/>
              <a:t> Abstract classes can define a common interface for a group of related classes, ensuring consistency in their structure and behavior.</a:t>
            </a:r>
          </a:p>
          <a:p>
            <a:r>
              <a:rPr lang="en-US" b="1" dirty="0"/>
              <a:t>Enforcing Method Implementation:</a:t>
            </a:r>
            <a:r>
              <a:rPr lang="en-US" dirty="0"/>
              <a:t> Abstract classes can enforce the implementation of certain methods by declaring them as abstract, thereby ensuring that subclasses provide necessary functionality.</a:t>
            </a:r>
          </a:p>
          <a:p>
            <a:endParaRPr lang="en-US" dirty="0"/>
          </a:p>
        </p:txBody>
      </p:sp>
    </p:spTree>
    <p:extLst>
      <p:ext uri="{BB962C8B-B14F-4D97-AF65-F5344CB8AC3E}">
        <p14:creationId xmlns:p14="http://schemas.microsoft.com/office/powerpoint/2010/main" val="4244504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099" y="225468"/>
            <a:ext cx="11065701" cy="6726477"/>
          </a:xfrm>
        </p:spPr>
        <p:txBody>
          <a:bodyPr>
            <a:normAutofit fontScale="62500" lnSpcReduction="20000"/>
          </a:bodyPr>
          <a:lstStyle/>
          <a:p>
            <a:r>
              <a:rPr lang="en-US" b="1" dirty="0"/>
              <a:t>Example Using Abstract Class</a:t>
            </a:r>
          </a:p>
          <a:p>
            <a:r>
              <a:rPr lang="en-US" dirty="0"/>
              <a:t>An abstract class in Java is a class that cannot be instantiated and may have abstract methods (methods without implementation) and concrete methods (methods with implementation).</a:t>
            </a:r>
          </a:p>
          <a:p>
            <a:pPr marL="0" indent="0">
              <a:buNone/>
            </a:pPr>
            <a:r>
              <a:rPr lang="en-US" dirty="0"/>
              <a:t>// Abstract class</a:t>
            </a:r>
          </a:p>
          <a:p>
            <a:pPr marL="0" indent="0">
              <a:buNone/>
            </a:pPr>
            <a:r>
              <a:rPr lang="en-US" dirty="0"/>
              <a:t>abstract class Shape {</a:t>
            </a:r>
          </a:p>
          <a:p>
            <a:pPr marL="0" indent="0">
              <a:buNone/>
            </a:pPr>
            <a:r>
              <a:rPr lang="en-US" dirty="0"/>
              <a:t>    // Abstract method (no implementation)</a:t>
            </a:r>
          </a:p>
          <a:p>
            <a:pPr marL="0" indent="0">
              <a:buNone/>
            </a:pPr>
            <a:r>
              <a:rPr lang="en-US" dirty="0"/>
              <a:t>    abstract void draw();</a:t>
            </a:r>
          </a:p>
          <a:p>
            <a:pPr marL="0" indent="0">
              <a:buNone/>
            </a:pPr>
            <a:endParaRPr lang="en-US" dirty="0"/>
          </a:p>
          <a:p>
            <a:pPr marL="0" indent="0">
              <a:buNone/>
            </a:pPr>
            <a:r>
              <a:rPr lang="en-US" dirty="0"/>
              <a:t>    // Concrete method (with implementation)</a:t>
            </a:r>
          </a:p>
          <a:p>
            <a:pPr marL="0" indent="0">
              <a:buNone/>
            </a:pPr>
            <a:r>
              <a:rPr lang="en-US" dirty="0"/>
              <a:t>    void display() {</a:t>
            </a:r>
          </a:p>
          <a:p>
            <a:pPr marL="0" indent="0">
              <a:buNone/>
            </a:pPr>
            <a:r>
              <a:rPr lang="en-US" dirty="0"/>
              <a:t>        </a:t>
            </a:r>
            <a:r>
              <a:rPr lang="en-US" dirty="0" err="1"/>
              <a:t>System.out.println</a:t>
            </a:r>
            <a:r>
              <a:rPr lang="en-US" dirty="0"/>
              <a:t>("This is a shape.");</a:t>
            </a:r>
          </a:p>
          <a:p>
            <a:pPr marL="0" indent="0">
              <a:buNone/>
            </a:pPr>
            <a:r>
              <a:rPr lang="en-US" dirty="0"/>
              <a:t>    }</a:t>
            </a:r>
          </a:p>
          <a:p>
            <a:pPr marL="0" indent="0">
              <a:buNone/>
            </a:pPr>
            <a:r>
              <a:rPr lang="en-US" dirty="0"/>
              <a:t>}</a:t>
            </a:r>
          </a:p>
          <a:p>
            <a:pPr marL="0" indent="0">
              <a:buNone/>
            </a:pPr>
            <a:endParaRPr lang="en-US" dirty="0"/>
          </a:p>
          <a:p>
            <a:pPr marL="0" indent="0">
              <a:buNone/>
            </a:pPr>
            <a:r>
              <a:rPr lang="en-US" dirty="0"/>
              <a:t>// Subclass 1</a:t>
            </a:r>
          </a:p>
          <a:p>
            <a:pPr marL="0" indent="0">
              <a:buNone/>
            </a:pPr>
            <a:r>
              <a:rPr lang="en-US" dirty="0"/>
              <a:t>class Circle extends Shape {</a:t>
            </a:r>
          </a:p>
          <a:p>
            <a:pPr marL="0" indent="0">
              <a:buNone/>
            </a:pPr>
            <a:r>
              <a:rPr lang="en-US" dirty="0"/>
              <a:t>    @Override</a:t>
            </a:r>
          </a:p>
          <a:p>
            <a:pPr marL="0" indent="0">
              <a:buNone/>
            </a:pPr>
            <a:r>
              <a:rPr lang="en-US" dirty="0"/>
              <a:t>    void draw() {</a:t>
            </a:r>
          </a:p>
          <a:p>
            <a:pPr marL="0" indent="0">
              <a:buNone/>
            </a:pPr>
            <a:r>
              <a:rPr lang="en-US" dirty="0"/>
              <a:t>        </a:t>
            </a:r>
            <a:r>
              <a:rPr lang="en-US" dirty="0" err="1"/>
              <a:t>System.out.println</a:t>
            </a:r>
            <a:r>
              <a:rPr lang="en-US" dirty="0"/>
              <a:t>("Drawing a Circle");</a:t>
            </a:r>
          </a:p>
          <a:p>
            <a:pPr marL="0" indent="0">
              <a:buNone/>
            </a:pPr>
            <a:r>
              <a:rPr lang="en-US" dirty="0"/>
              <a:t>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270279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0208" y="250521"/>
            <a:ext cx="11253593" cy="6438378"/>
          </a:xfrm>
        </p:spPr>
        <p:txBody>
          <a:bodyPr>
            <a:normAutofit fontScale="70000" lnSpcReduction="20000"/>
          </a:bodyPr>
          <a:lstStyle/>
          <a:p>
            <a:pPr marL="0" indent="0">
              <a:buNone/>
            </a:pPr>
            <a:r>
              <a:rPr lang="en-US" dirty="0"/>
              <a:t>// Subclass 2</a:t>
            </a:r>
          </a:p>
          <a:p>
            <a:pPr marL="0" indent="0">
              <a:buNone/>
            </a:pPr>
            <a:r>
              <a:rPr lang="en-US" dirty="0"/>
              <a:t>class Rectangle extends Shape {</a:t>
            </a:r>
          </a:p>
          <a:p>
            <a:pPr marL="0" indent="0">
              <a:buNone/>
            </a:pPr>
            <a:r>
              <a:rPr lang="en-US" dirty="0"/>
              <a:t>    @Override</a:t>
            </a:r>
          </a:p>
          <a:p>
            <a:pPr marL="0" indent="0">
              <a:buNone/>
            </a:pPr>
            <a:r>
              <a:rPr lang="en-US" dirty="0"/>
              <a:t>    void draw() {</a:t>
            </a:r>
          </a:p>
          <a:p>
            <a:pPr marL="0" indent="0">
              <a:buNone/>
            </a:pPr>
            <a:r>
              <a:rPr lang="en-US" dirty="0"/>
              <a:t>        </a:t>
            </a:r>
            <a:r>
              <a:rPr lang="en-US" dirty="0" err="1"/>
              <a:t>System.out.println</a:t>
            </a:r>
            <a:r>
              <a:rPr lang="en-US" dirty="0"/>
              <a:t>("Drawing a Rectangle");</a:t>
            </a:r>
          </a:p>
          <a:p>
            <a:pPr marL="0" indent="0">
              <a:buNone/>
            </a:pPr>
            <a:r>
              <a:rPr lang="en-US" dirty="0"/>
              <a:t>    }</a:t>
            </a:r>
          </a:p>
          <a:p>
            <a:pPr marL="0" indent="0">
              <a:buNone/>
            </a:pPr>
            <a:r>
              <a:rPr lang="en-US" dirty="0"/>
              <a:t>}</a:t>
            </a:r>
          </a:p>
          <a:p>
            <a:pPr marL="0" indent="0">
              <a:buNone/>
            </a:pPr>
            <a:endParaRPr lang="en-US" dirty="0"/>
          </a:p>
          <a:p>
            <a:pPr marL="0" indent="0">
              <a:buNone/>
            </a:pPr>
            <a:r>
              <a:rPr lang="en-US" dirty="0"/>
              <a:t>public class Main {</a:t>
            </a:r>
          </a:p>
          <a:p>
            <a:pPr marL="0" indent="0">
              <a:buNone/>
            </a:pPr>
            <a:r>
              <a:rPr lang="en-US" dirty="0"/>
              <a:t>    public static void main(String[] </a:t>
            </a:r>
            <a:r>
              <a:rPr lang="en-US" dirty="0" err="1"/>
              <a:t>args</a:t>
            </a:r>
            <a:r>
              <a:rPr lang="en-US" dirty="0"/>
              <a:t>) {</a:t>
            </a:r>
          </a:p>
          <a:p>
            <a:pPr marL="0" indent="0">
              <a:buNone/>
            </a:pPr>
            <a:r>
              <a:rPr lang="en-US" dirty="0"/>
              <a:t>        Shape shape1 = new Circle();</a:t>
            </a:r>
          </a:p>
          <a:p>
            <a:pPr marL="0" indent="0">
              <a:buNone/>
            </a:pPr>
            <a:r>
              <a:rPr lang="en-US" dirty="0"/>
              <a:t>        shape1.draw(); // Output: Drawing a Circle</a:t>
            </a:r>
          </a:p>
          <a:p>
            <a:pPr marL="0" indent="0">
              <a:buNone/>
            </a:pPr>
            <a:r>
              <a:rPr lang="en-US" dirty="0"/>
              <a:t>        shape1.display(); // Output: This is a shape.</a:t>
            </a:r>
          </a:p>
          <a:p>
            <a:pPr marL="0" indent="0">
              <a:buNone/>
            </a:pPr>
            <a:endParaRPr lang="en-US" dirty="0"/>
          </a:p>
          <a:p>
            <a:pPr marL="0" indent="0">
              <a:buNone/>
            </a:pPr>
            <a:r>
              <a:rPr lang="en-US" dirty="0"/>
              <a:t>        Shape shape2 = new Rectangle();</a:t>
            </a:r>
          </a:p>
          <a:p>
            <a:pPr marL="0" indent="0">
              <a:buNone/>
            </a:pPr>
            <a:r>
              <a:rPr lang="en-US" dirty="0"/>
              <a:t>        shape2.draw(); // Output: Drawing a Rectangle</a:t>
            </a:r>
          </a:p>
          <a:p>
            <a:pPr marL="0" indent="0">
              <a:buNone/>
            </a:pPr>
            <a:r>
              <a:rPr lang="en-US" dirty="0"/>
              <a:t>        shape2.display(); // Output: This is a shape.</a:t>
            </a:r>
          </a:p>
          <a:p>
            <a:pPr marL="0" indent="0">
              <a:buNone/>
            </a:pPr>
            <a:r>
              <a:rPr lang="en-US" dirty="0"/>
              <a:t>    }</a:t>
            </a:r>
          </a:p>
          <a:p>
            <a:pPr marL="0" indent="0">
              <a:buNone/>
            </a:pP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063109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364" y="713984"/>
            <a:ext cx="11178436" cy="5462979"/>
          </a:xfrm>
        </p:spPr>
        <p:txBody>
          <a:bodyPr/>
          <a:lstStyle/>
          <a:p>
            <a:r>
              <a:rPr lang="en-US" b="1" dirty="0"/>
              <a:t>Explanation</a:t>
            </a:r>
          </a:p>
          <a:p>
            <a:r>
              <a:rPr lang="en-US" dirty="0"/>
              <a:t>The Shape class is abstract, meaning it provides a blueprint for other classes.</a:t>
            </a:r>
          </a:p>
          <a:p>
            <a:r>
              <a:rPr lang="en-US" dirty="0"/>
              <a:t>It has an abstract method draw(), which must be implemented by its subclasses (Circle and Rectangle).</a:t>
            </a:r>
          </a:p>
          <a:p>
            <a:r>
              <a:rPr lang="en-US" dirty="0"/>
              <a:t>Subclasses provide specific implementations of the draw() method.</a:t>
            </a:r>
          </a:p>
          <a:p>
            <a:r>
              <a:rPr lang="en-US" dirty="0"/>
              <a:t>The display() method is implemented in the abstract class and is inherited by all subclasses.</a:t>
            </a:r>
          </a:p>
          <a:p>
            <a:pPr marL="0" indent="0">
              <a:buNone/>
            </a:pPr>
            <a:endParaRPr lang="en-US" dirty="0"/>
          </a:p>
        </p:txBody>
      </p:sp>
    </p:spTree>
    <p:extLst>
      <p:ext uri="{BB962C8B-B14F-4D97-AF65-F5344CB8AC3E}">
        <p14:creationId xmlns:p14="http://schemas.microsoft.com/office/powerpoint/2010/main" val="2243103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468" y="365125"/>
            <a:ext cx="11128332" cy="336333"/>
          </a:xfrm>
        </p:spPr>
        <p:txBody>
          <a:bodyPr>
            <a:normAutofit fontScale="90000"/>
          </a:bodyPr>
          <a:lstStyle/>
          <a:p>
            <a:r>
              <a:rPr lang="en-US" sz="3600" b="1" dirty="0">
                <a:latin typeface="Times New Roman" pitchFamily="18" charset="0"/>
                <a:cs typeface="Times New Roman" pitchFamily="18" charset="0"/>
              </a:rPr>
              <a:t>2. Using Interfaces</a:t>
            </a:r>
          </a:p>
        </p:txBody>
      </p:sp>
      <p:sp>
        <p:nvSpPr>
          <p:cNvPr id="3" name="Content Placeholder 2"/>
          <p:cNvSpPr>
            <a:spLocks noGrp="1"/>
          </p:cNvSpPr>
          <p:nvPr>
            <p:ph idx="1"/>
          </p:nvPr>
        </p:nvSpPr>
        <p:spPr>
          <a:xfrm>
            <a:off x="137786" y="939452"/>
            <a:ext cx="11216014" cy="5237511"/>
          </a:xfrm>
        </p:spPr>
        <p:txBody>
          <a:bodyPr>
            <a:normAutofit lnSpcReduction="10000"/>
          </a:bodyPr>
          <a:lstStyle/>
          <a:p>
            <a:pPr algn="just"/>
            <a:r>
              <a:rPr lang="en-US" b="0" i="0" dirty="0">
                <a:solidFill>
                  <a:srgbClr val="333333"/>
                </a:solidFill>
                <a:effectLst/>
                <a:latin typeface="Montserrat" panose="00000500000000000000" pitchFamily="2" charset="0"/>
              </a:rPr>
              <a:t>An </a:t>
            </a:r>
            <a:r>
              <a:rPr lang="en-US" b="1" i="0" dirty="0">
                <a:solidFill>
                  <a:srgbClr val="333333"/>
                </a:solidFill>
                <a:effectLst/>
                <a:latin typeface="Montserrat" panose="00000500000000000000" pitchFamily="2" charset="0"/>
              </a:rPr>
              <a:t>interface in Java</a:t>
            </a:r>
            <a:r>
              <a:rPr lang="en-US" b="0" i="0" dirty="0">
                <a:solidFill>
                  <a:srgbClr val="333333"/>
                </a:solidFill>
                <a:effectLst/>
                <a:latin typeface="Montserrat" panose="00000500000000000000" pitchFamily="2" charset="0"/>
              </a:rPr>
              <a:t> is a blueprint of a class. It has static constants and abstract methods.</a:t>
            </a:r>
          </a:p>
          <a:p>
            <a:pPr algn="just"/>
            <a:r>
              <a:rPr lang="en-US" b="0" i="0" dirty="0">
                <a:solidFill>
                  <a:srgbClr val="333333"/>
                </a:solidFill>
                <a:effectLst/>
                <a:latin typeface="Montserrat" panose="00000500000000000000" pitchFamily="2" charset="0"/>
              </a:rPr>
              <a:t>The interface in Java is </a:t>
            </a:r>
            <a:r>
              <a:rPr lang="en-US" b="0" i="1" dirty="0">
                <a:solidFill>
                  <a:srgbClr val="333333"/>
                </a:solidFill>
                <a:effectLst/>
                <a:latin typeface="Montserrat" panose="00000500000000000000" pitchFamily="2" charset="0"/>
              </a:rPr>
              <a:t>a mechanism to achieve </a:t>
            </a:r>
            <a:r>
              <a:rPr lang="en-US" b="0" i="1" u="none" strike="noStrike" dirty="0">
                <a:solidFill>
                  <a:srgbClr val="008000"/>
                </a:solidFill>
                <a:effectLst/>
                <a:latin typeface="Montserrat" panose="00000500000000000000" pitchFamily="2" charset="0"/>
                <a:hlinkClick r:id="rId2"/>
              </a:rPr>
              <a:t>abstraction</a:t>
            </a:r>
            <a:r>
              <a:rPr lang="en-US" b="0" i="0" dirty="0">
                <a:solidFill>
                  <a:srgbClr val="333333"/>
                </a:solidFill>
                <a:effectLst/>
                <a:latin typeface="Montserrat" panose="00000500000000000000" pitchFamily="2" charset="0"/>
              </a:rPr>
              <a:t>. There can be only abstract methods in the Java interface, not method body. It is used to achieve abstraction and multiple </a:t>
            </a:r>
            <a:r>
              <a:rPr lang="en-US" b="0" i="0" u="none" strike="noStrike" dirty="0">
                <a:solidFill>
                  <a:srgbClr val="008000"/>
                </a:solidFill>
                <a:effectLst/>
                <a:latin typeface="Montserrat" panose="00000500000000000000" pitchFamily="2" charset="0"/>
                <a:hlinkClick r:id="rId3"/>
              </a:rPr>
              <a:t>inheritance in Java</a:t>
            </a:r>
            <a:r>
              <a:rPr lang="en-US" b="0" i="0" dirty="0">
                <a:solidFill>
                  <a:srgbClr val="333333"/>
                </a:solidFill>
                <a:effectLst/>
                <a:latin typeface="Montserrat" panose="00000500000000000000" pitchFamily="2" charset="0"/>
              </a:rPr>
              <a:t>.</a:t>
            </a:r>
          </a:p>
          <a:p>
            <a:r>
              <a:rPr lang="en-US" b="0" i="0" dirty="0">
                <a:solidFill>
                  <a:srgbClr val="333333"/>
                </a:solidFill>
                <a:effectLst/>
                <a:latin typeface="Montserrat" panose="00000500000000000000" pitchFamily="2" charset="0"/>
              </a:rPr>
              <a:t>In other words, you can say that interfaces can have abstract methods and variables. It cannot have a method body.</a:t>
            </a:r>
          </a:p>
          <a:p>
            <a:pPr algn="just">
              <a:buFont typeface="Arial" panose="020B0604020202020204" pitchFamily="34" charset="0"/>
              <a:buChar char="•"/>
            </a:pPr>
            <a:r>
              <a:rPr lang="en-US" b="0" i="0" dirty="0">
                <a:solidFill>
                  <a:srgbClr val="333333"/>
                </a:solidFill>
                <a:effectLst/>
                <a:latin typeface="Montserrat" panose="00000500000000000000" pitchFamily="2" charset="0"/>
              </a:rPr>
              <a:t>Java Interface also represents the IS-A relationship.</a:t>
            </a:r>
          </a:p>
          <a:p>
            <a:pPr algn="just">
              <a:buFont typeface="Arial" panose="020B0604020202020204" pitchFamily="34" charset="0"/>
              <a:buChar char="•"/>
            </a:pPr>
            <a:r>
              <a:rPr lang="en-US" b="0" i="0" dirty="0">
                <a:solidFill>
                  <a:srgbClr val="333333"/>
                </a:solidFill>
                <a:effectLst/>
                <a:latin typeface="Montserrat" panose="00000500000000000000" pitchFamily="2" charset="0"/>
              </a:rPr>
              <a:t>It cannot be instantiated just like the abstract class.</a:t>
            </a:r>
          </a:p>
          <a:p>
            <a:pPr algn="just">
              <a:buFont typeface="Arial" panose="020B0604020202020204" pitchFamily="34" charset="0"/>
              <a:buChar char="•"/>
            </a:pPr>
            <a:r>
              <a:rPr lang="en-US" b="0" i="0" dirty="0">
                <a:solidFill>
                  <a:srgbClr val="333333"/>
                </a:solidFill>
                <a:effectLst/>
                <a:latin typeface="Montserrat" panose="00000500000000000000" pitchFamily="2" charset="0"/>
              </a:rPr>
              <a:t>Since Java 8, we can have default and static methods in an interface.</a:t>
            </a:r>
          </a:p>
          <a:p>
            <a:pPr algn="just">
              <a:buFont typeface="Arial" panose="020B0604020202020204" pitchFamily="34" charset="0"/>
              <a:buChar char="•"/>
            </a:pPr>
            <a:r>
              <a:rPr lang="en-US" b="0" i="0" dirty="0">
                <a:solidFill>
                  <a:srgbClr val="333333"/>
                </a:solidFill>
                <a:effectLst/>
                <a:latin typeface="Montserrat" panose="00000500000000000000" pitchFamily="2" charset="0"/>
              </a:rPr>
              <a:t>Since Java 9, we can have private methods in an interface.</a:t>
            </a:r>
          </a:p>
          <a:p>
            <a:endParaRPr lang="en-US" dirty="0"/>
          </a:p>
        </p:txBody>
      </p:sp>
    </p:spTree>
    <p:extLst>
      <p:ext uri="{BB962C8B-B14F-4D97-AF65-F5344CB8AC3E}">
        <p14:creationId xmlns:p14="http://schemas.microsoft.com/office/powerpoint/2010/main" val="3767748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837E259-7DED-9D47-6206-3A0D4AF9223E}"/>
              </a:ext>
            </a:extLst>
          </p:cNvPr>
          <p:cNvSpPr>
            <a:spLocks noGrp="1"/>
          </p:cNvSpPr>
          <p:nvPr>
            <p:ph idx="1"/>
          </p:nvPr>
        </p:nvSpPr>
        <p:spPr>
          <a:xfrm>
            <a:off x="114300" y="257175"/>
            <a:ext cx="11239500" cy="6757988"/>
          </a:xfrm>
        </p:spPr>
        <p:txBody>
          <a:bodyPr>
            <a:normAutofit fontScale="77500" lnSpcReduction="20000"/>
          </a:bodyPr>
          <a:lstStyle/>
          <a:p>
            <a:pPr algn="l"/>
            <a:r>
              <a:rPr lang="en-US" sz="3200" b="1" i="0" dirty="0">
                <a:effectLst/>
                <a:latin typeface="Times New Roman" panose="02020603050405020304" pitchFamily="18" charset="0"/>
                <a:cs typeface="Times New Roman" panose="02020603050405020304" pitchFamily="18" charset="0"/>
              </a:rPr>
              <a:t>Why use Java interface?</a:t>
            </a:r>
          </a:p>
          <a:p>
            <a:pPr algn="just"/>
            <a:r>
              <a:rPr lang="en-US" b="0" i="0" dirty="0">
                <a:solidFill>
                  <a:srgbClr val="333333"/>
                </a:solidFill>
                <a:effectLst/>
                <a:latin typeface="Montserrat" panose="00000500000000000000" pitchFamily="2" charset="0"/>
              </a:rPr>
              <a:t>There are mainly three reasons to use interface. They are given below.</a:t>
            </a:r>
          </a:p>
          <a:p>
            <a:pPr algn="just">
              <a:buFont typeface="Arial" panose="020B0604020202020204" pitchFamily="34" charset="0"/>
              <a:buChar char="•"/>
            </a:pPr>
            <a:r>
              <a:rPr lang="en-US" b="0" i="0" dirty="0">
                <a:solidFill>
                  <a:srgbClr val="333333"/>
                </a:solidFill>
                <a:effectLst/>
                <a:latin typeface="Montserrat" panose="00000500000000000000" pitchFamily="2" charset="0"/>
              </a:rPr>
              <a:t>It is used to achieve abstraction.</a:t>
            </a:r>
          </a:p>
          <a:p>
            <a:pPr algn="just">
              <a:buFont typeface="Arial" panose="020B0604020202020204" pitchFamily="34" charset="0"/>
              <a:buChar char="•"/>
            </a:pPr>
            <a:r>
              <a:rPr lang="en-US" b="0" i="0" dirty="0">
                <a:solidFill>
                  <a:srgbClr val="333333"/>
                </a:solidFill>
                <a:effectLst/>
                <a:latin typeface="Montserrat" panose="00000500000000000000" pitchFamily="2" charset="0"/>
              </a:rPr>
              <a:t>By interface, we can support the functionality of multiple inheritance.</a:t>
            </a:r>
          </a:p>
          <a:p>
            <a:pPr algn="just">
              <a:buFont typeface="Arial" panose="020B0604020202020204" pitchFamily="34" charset="0"/>
              <a:buChar char="•"/>
            </a:pPr>
            <a:r>
              <a:rPr lang="en-US" b="0" i="0" dirty="0">
                <a:solidFill>
                  <a:srgbClr val="333333"/>
                </a:solidFill>
                <a:effectLst/>
                <a:latin typeface="Montserrat" panose="00000500000000000000" pitchFamily="2" charset="0"/>
              </a:rPr>
              <a:t>It can be used to achieve loose coupling.</a:t>
            </a:r>
          </a:p>
          <a:p>
            <a:pPr algn="l"/>
            <a:r>
              <a:rPr lang="en-US" b="0" i="0" dirty="0">
                <a:effectLst/>
                <a:latin typeface="Montserrat" panose="00000500000000000000" pitchFamily="2" charset="0"/>
              </a:rPr>
              <a:t>How to declare an interface?</a:t>
            </a:r>
          </a:p>
          <a:p>
            <a:pPr algn="just"/>
            <a:r>
              <a:rPr lang="en-US" b="0" i="0" dirty="0">
                <a:solidFill>
                  <a:srgbClr val="333333"/>
                </a:solidFill>
                <a:effectLst/>
                <a:latin typeface="Montserrat" panose="00000500000000000000" pitchFamily="2" charset="0"/>
              </a:rPr>
              <a:t>An interface is declared by using the interface keyword. It provides total abstraction; means all the methods in an interface are declared with the empty body, and all the fields are public, static and final by default. A class that implements an interface must implement all the methods declared in the interface.</a:t>
            </a:r>
          </a:p>
          <a:p>
            <a:pPr algn="l">
              <a:spcBef>
                <a:spcPts val="750"/>
              </a:spcBef>
              <a:spcAft>
                <a:spcPts val="750"/>
              </a:spcAft>
            </a:pPr>
            <a:r>
              <a:rPr lang="en-US" b="0" i="0" dirty="0">
                <a:effectLst/>
                <a:latin typeface="Segoe UI" panose="020B0502040204020203" pitchFamily="34" charset="0"/>
              </a:rPr>
              <a:t>Syntax:</a:t>
            </a:r>
          </a:p>
          <a:p>
            <a:pPr marL="0" indent="0" algn="l">
              <a:spcAft>
                <a:spcPts val="600"/>
              </a:spcAft>
              <a:buNone/>
            </a:pPr>
            <a:r>
              <a:rPr lang="en-US" b="1" i="0" dirty="0">
                <a:solidFill>
                  <a:srgbClr val="006699"/>
                </a:solidFill>
                <a:effectLst/>
                <a:latin typeface="Montserrat" panose="00000500000000000000" pitchFamily="2" charset="0"/>
              </a:rPr>
              <a:t>interface</a:t>
            </a:r>
            <a:r>
              <a:rPr lang="en-US" b="0" i="0" dirty="0">
                <a:solidFill>
                  <a:srgbClr val="333333"/>
                </a:solidFill>
                <a:effectLst/>
                <a:latin typeface="Montserrat" panose="00000500000000000000" pitchFamily="2" charset="0"/>
              </a:rPr>
              <a:t> &lt;</a:t>
            </a:r>
            <a:r>
              <a:rPr lang="en-US" b="0" i="0" dirty="0" err="1">
                <a:solidFill>
                  <a:srgbClr val="333333"/>
                </a:solidFill>
                <a:effectLst/>
                <a:latin typeface="Montserrat" panose="00000500000000000000" pitchFamily="2" charset="0"/>
              </a:rPr>
              <a:t>interface_name</a:t>
            </a:r>
            <a:r>
              <a:rPr lang="en-US" b="0" i="0" dirty="0">
                <a:solidFill>
                  <a:srgbClr val="333333"/>
                </a:solidFill>
                <a:effectLst/>
                <a:latin typeface="Montserrat" panose="00000500000000000000" pitchFamily="2" charset="0"/>
              </a:rPr>
              <a:t>&gt;{  </a:t>
            </a:r>
          </a:p>
          <a:p>
            <a:pPr marL="0" indent="0" algn="l">
              <a:spcAft>
                <a:spcPts val="600"/>
              </a:spcAft>
              <a:buNone/>
            </a:pPr>
            <a:r>
              <a:rPr lang="en-US" b="0" i="0" dirty="0">
                <a:solidFill>
                  <a:srgbClr val="333333"/>
                </a:solidFill>
                <a:effectLst/>
                <a:latin typeface="Montserrat" panose="00000500000000000000" pitchFamily="2" charset="0"/>
              </a:rPr>
              <a:t>      </a:t>
            </a:r>
          </a:p>
          <a:p>
            <a:pPr marL="0" indent="0" algn="l">
              <a:spcAft>
                <a:spcPts val="600"/>
              </a:spcAft>
              <a:buNone/>
            </a:pPr>
            <a:r>
              <a:rPr lang="en-US" b="0" i="0" dirty="0">
                <a:solidFill>
                  <a:srgbClr val="333333"/>
                </a:solidFill>
                <a:effectLst/>
                <a:latin typeface="Montserrat" panose="00000500000000000000" pitchFamily="2" charset="0"/>
              </a:rPr>
              <a:t>    // declare constant fields  </a:t>
            </a:r>
          </a:p>
          <a:p>
            <a:pPr marL="0" indent="0" algn="l">
              <a:spcAft>
                <a:spcPts val="600"/>
              </a:spcAft>
              <a:buNone/>
            </a:pPr>
            <a:r>
              <a:rPr lang="en-US" b="0" i="0" dirty="0">
                <a:solidFill>
                  <a:srgbClr val="333333"/>
                </a:solidFill>
                <a:effectLst/>
                <a:latin typeface="Montserrat" panose="00000500000000000000" pitchFamily="2" charset="0"/>
              </a:rPr>
              <a:t>    // declare methods that abstract   </a:t>
            </a:r>
          </a:p>
          <a:p>
            <a:pPr marL="0" indent="0" algn="l">
              <a:spcAft>
                <a:spcPts val="600"/>
              </a:spcAft>
              <a:buNone/>
            </a:pPr>
            <a:r>
              <a:rPr lang="en-US" b="0" i="0" dirty="0">
                <a:solidFill>
                  <a:srgbClr val="333333"/>
                </a:solidFill>
                <a:effectLst/>
                <a:latin typeface="Montserrat" panose="00000500000000000000" pitchFamily="2" charset="0"/>
              </a:rPr>
              <a:t>    // by default.  </a:t>
            </a:r>
          </a:p>
          <a:p>
            <a:pPr marL="0" indent="0" algn="l">
              <a:spcAft>
                <a:spcPts val="600"/>
              </a:spcAft>
              <a:buNone/>
            </a:pPr>
            <a:r>
              <a:rPr lang="en-US" b="0" i="0" dirty="0">
                <a:solidFill>
                  <a:srgbClr val="333333"/>
                </a:solidFill>
                <a:effectLst/>
                <a:latin typeface="Montserrat" panose="00000500000000000000" pitchFamily="2" charset="0"/>
              </a:rPr>
              <a:t>}  </a:t>
            </a:r>
          </a:p>
          <a:p>
            <a:pPr marL="0" indent="0" algn="l">
              <a:spcAft>
                <a:spcPts val="600"/>
              </a:spcAft>
              <a:buNone/>
            </a:pPr>
            <a:endParaRPr lang="en-US" dirty="0">
              <a:solidFill>
                <a:srgbClr val="333333"/>
              </a:solidFill>
              <a:latin typeface="Montserrat" panose="00000500000000000000" pitchFamily="2" charset="0"/>
            </a:endParaRPr>
          </a:p>
          <a:p>
            <a:pPr marL="0" indent="0" algn="l">
              <a:spcAft>
                <a:spcPts val="600"/>
              </a:spcAft>
              <a:buNone/>
            </a:pPr>
            <a:endParaRPr lang="en-US" b="0" i="0" dirty="0">
              <a:solidFill>
                <a:srgbClr val="333333"/>
              </a:solidFill>
              <a:effectLst/>
              <a:latin typeface="Montserrat" panose="00000500000000000000" pitchFamily="2" charset="0"/>
            </a:endParaRPr>
          </a:p>
          <a:p>
            <a:pPr marL="0" indent="0" algn="l">
              <a:spcAft>
                <a:spcPts val="600"/>
              </a:spcAft>
              <a:buNone/>
            </a:pPr>
            <a:endParaRPr lang="en-US" b="0" i="0" dirty="0">
              <a:solidFill>
                <a:srgbClr val="333333"/>
              </a:solidFill>
              <a:effectLst/>
              <a:latin typeface="Montserrat" panose="00000500000000000000" pitchFamily="2" charset="0"/>
            </a:endParaRPr>
          </a:p>
          <a:p>
            <a:endParaRPr lang="en-IN" dirty="0"/>
          </a:p>
        </p:txBody>
      </p:sp>
    </p:spTree>
    <p:extLst>
      <p:ext uri="{BB962C8B-B14F-4D97-AF65-F5344CB8AC3E}">
        <p14:creationId xmlns:p14="http://schemas.microsoft.com/office/powerpoint/2010/main" val="2996106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98CD951-0F1D-71B6-78FD-4657D6742935}"/>
              </a:ext>
            </a:extLst>
          </p:cNvPr>
          <p:cNvSpPr>
            <a:spLocks noGrp="1"/>
          </p:cNvSpPr>
          <p:nvPr>
            <p:ph idx="1"/>
          </p:nvPr>
        </p:nvSpPr>
        <p:spPr>
          <a:xfrm>
            <a:off x="271463" y="300038"/>
            <a:ext cx="11082337" cy="5876925"/>
          </a:xfrm>
        </p:spPr>
        <p:txBody>
          <a:bodyPr>
            <a:normAutofit/>
          </a:bodyPr>
          <a:lstStyle/>
          <a:p>
            <a:pPr algn="just"/>
            <a:r>
              <a:rPr lang="en-US" b="1" i="0" dirty="0">
                <a:solidFill>
                  <a:srgbClr val="333333"/>
                </a:solidFill>
                <a:effectLst/>
                <a:latin typeface="Montserrat" panose="00000500000000000000" pitchFamily="2" charset="0"/>
              </a:rPr>
              <a:t>Example:</a:t>
            </a:r>
            <a:endParaRPr lang="en-US" b="0" i="0" dirty="0">
              <a:solidFill>
                <a:srgbClr val="333333"/>
              </a:solidFill>
              <a:effectLst/>
              <a:latin typeface="Montserrat" panose="00000500000000000000" pitchFamily="2" charset="0"/>
            </a:endParaRPr>
          </a:p>
          <a:p>
            <a:pPr marL="0" indent="0" algn="l">
              <a:spcAft>
                <a:spcPts val="600"/>
              </a:spcAft>
              <a:buNone/>
            </a:pPr>
            <a:r>
              <a:rPr lang="en-US" b="1" i="0" dirty="0">
                <a:solidFill>
                  <a:srgbClr val="006699"/>
                </a:solidFill>
                <a:effectLst/>
                <a:latin typeface="Montserrat" panose="00000500000000000000" pitchFamily="2" charset="0"/>
              </a:rPr>
              <a:t>interface</a:t>
            </a:r>
            <a:r>
              <a:rPr lang="en-US" b="0" i="0" dirty="0">
                <a:solidFill>
                  <a:srgbClr val="333333"/>
                </a:solidFill>
                <a:effectLst/>
                <a:latin typeface="Montserrat" panose="00000500000000000000" pitchFamily="2" charset="0"/>
              </a:rPr>
              <a:t> Animal {  </a:t>
            </a:r>
          </a:p>
          <a:p>
            <a:pPr marL="0" indent="0" algn="l">
              <a:spcAft>
                <a:spcPts val="600"/>
              </a:spcAft>
              <a:buNone/>
            </a:pPr>
            <a:r>
              <a:rPr lang="en-US" b="0" i="0" dirty="0">
                <a:solidFill>
                  <a:srgbClr val="333333"/>
                </a:solidFill>
                <a:effectLst/>
                <a:latin typeface="Montserrat" panose="00000500000000000000" pitchFamily="2" charset="0"/>
              </a:rPr>
              <a:t>    </a:t>
            </a:r>
            <a:r>
              <a:rPr lang="en-US" b="1" i="0" dirty="0">
                <a:solidFill>
                  <a:srgbClr val="006699"/>
                </a:solidFill>
                <a:effectLst/>
                <a:latin typeface="Montserrat" panose="00000500000000000000" pitchFamily="2" charset="0"/>
              </a:rPr>
              <a:t>void</a:t>
            </a:r>
            <a:r>
              <a:rPr lang="en-US" b="0" i="0" dirty="0">
                <a:solidFill>
                  <a:srgbClr val="333333"/>
                </a:solidFill>
                <a:effectLst/>
                <a:latin typeface="Montserrat" panose="00000500000000000000" pitchFamily="2" charset="0"/>
              </a:rPr>
              <a:t> eat();  </a:t>
            </a:r>
          </a:p>
          <a:p>
            <a:pPr marL="0" indent="0" algn="l">
              <a:spcAft>
                <a:spcPts val="600"/>
              </a:spcAft>
              <a:buNone/>
            </a:pPr>
            <a:r>
              <a:rPr lang="en-US" b="0" i="0" dirty="0">
                <a:solidFill>
                  <a:srgbClr val="333333"/>
                </a:solidFill>
                <a:effectLst/>
                <a:latin typeface="Montserrat" panose="00000500000000000000" pitchFamily="2" charset="0"/>
              </a:rPr>
              <a:t>    </a:t>
            </a:r>
            <a:r>
              <a:rPr lang="en-US" b="1" i="0" dirty="0">
                <a:solidFill>
                  <a:srgbClr val="006699"/>
                </a:solidFill>
                <a:effectLst/>
                <a:latin typeface="Montserrat" panose="00000500000000000000" pitchFamily="2" charset="0"/>
              </a:rPr>
              <a:t>void</a:t>
            </a:r>
            <a:r>
              <a:rPr lang="en-US" b="0" i="0" dirty="0">
                <a:solidFill>
                  <a:srgbClr val="333333"/>
                </a:solidFill>
                <a:effectLst/>
                <a:latin typeface="Montserrat" panose="00000500000000000000" pitchFamily="2" charset="0"/>
              </a:rPr>
              <a:t> sleep();  </a:t>
            </a:r>
          </a:p>
          <a:p>
            <a:pPr marL="0" indent="0" algn="l">
              <a:spcAft>
                <a:spcPts val="600"/>
              </a:spcAft>
              <a:buNone/>
            </a:pPr>
            <a:r>
              <a:rPr lang="en-US" b="0" i="0" dirty="0">
                <a:solidFill>
                  <a:srgbClr val="333333"/>
                </a:solidFill>
                <a:effectLst/>
                <a:latin typeface="Montserrat" panose="00000500000000000000" pitchFamily="2" charset="0"/>
              </a:rPr>
              <a:t>}  </a:t>
            </a:r>
          </a:p>
          <a:p>
            <a:pPr algn="just"/>
            <a:r>
              <a:rPr lang="en-US" b="0" i="0" dirty="0">
                <a:solidFill>
                  <a:srgbClr val="333333"/>
                </a:solidFill>
                <a:effectLst/>
                <a:latin typeface="Montserrat" panose="00000500000000000000" pitchFamily="2" charset="0"/>
              </a:rPr>
              <a:t>In this example, the Animal interface declares two method signatures: eat() and sleep(). Any class implementing the Animal interface must provide concrete implementations for these methods.</a:t>
            </a:r>
          </a:p>
          <a:p>
            <a:endParaRPr lang="en-IN" dirty="0"/>
          </a:p>
        </p:txBody>
      </p:sp>
    </p:spTree>
    <p:extLst>
      <p:ext uri="{BB962C8B-B14F-4D97-AF65-F5344CB8AC3E}">
        <p14:creationId xmlns:p14="http://schemas.microsoft.com/office/powerpoint/2010/main" val="2837794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8D86AF-2A03-8934-52C2-2657334561F2}"/>
              </a:ext>
            </a:extLst>
          </p:cNvPr>
          <p:cNvSpPr>
            <a:spLocks noGrp="1"/>
          </p:cNvSpPr>
          <p:nvPr>
            <p:ph type="title"/>
          </p:nvPr>
        </p:nvSpPr>
        <p:spPr>
          <a:xfrm>
            <a:off x="271463" y="365126"/>
            <a:ext cx="11082337" cy="635000"/>
          </a:xfrm>
        </p:spPr>
        <p:txBody>
          <a:bodyPr>
            <a:normAutofit fontScale="90000"/>
          </a:bodyPr>
          <a:lstStyle/>
          <a:p>
            <a:r>
              <a:rPr lang="en-IN" sz="4000" b="1" i="0" dirty="0">
                <a:effectLst/>
                <a:latin typeface="Times New Roman" panose="02020603050405020304" pitchFamily="18" charset="0"/>
                <a:cs typeface="Times New Roman" panose="02020603050405020304" pitchFamily="18" charset="0"/>
              </a:rPr>
              <a:t>Java Interface Example: Drawable</a:t>
            </a:r>
            <a:r>
              <a:rPr lang="en-IN" b="0" i="0" dirty="0">
                <a:effectLst/>
                <a:latin typeface="Segoe UI" panose="020B0502040204020203" pitchFamily="34" charset="0"/>
              </a:rPr>
              <a:t/>
            </a:r>
            <a:br>
              <a:rPr lang="en-IN" b="0" i="0" dirty="0">
                <a:effectLst/>
                <a:latin typeface="Segoe UI" panose="020B0502040204020203" pitchFamily="34" charset="0"/>
              </a:rPr>
            </a:br>
            <a:endParaRPr lang="en-IN" dirty="0"/>
          </a:p>
        </p:txBody>
      </p:sp>
      <p:sp>
        <p:nvSpPr>
          <p:cNvPr id="3" name="Content Placeholder 2">
            <a:extLst>
              <a:ext uri="{FF2B5EF4-FFF2-40B4-BE49-F238E27FC236}">
                <a16:creationId xmlns="" xmlns:a16="http://schemas.microsoft.com/office/drawing/2014/main" id="{59CDD2E2-C0C9-D005-B7D6-416FCF3BAD4D}"/>
              </a:ext>
            </a:extLst>
          </p:cNvPr>
          <p:cNvSpPr>
            <a:spLocks noGrp="1"/>
          </p:cNvSpPr>
          <p:nvPr>
            <p:ph idx="1"/>
          </p:nvPr>
        </p:nvSpPr>
        <p:spPr>
          <a:xfrm>
            <a:off x="271463" y="771526"/>
            <a:ext cx="11082337" cy="6086474"/>
          </a:xfrm>
        </p:spPr>
        <p:txBody>
          <a:bodyPr>
            <a:normAutofit fontScale="55000" lnSpcReduction="20000"/>
          </a:bodyPr>
          <a:lstStyle/>
          <a:p>
            <a:r>
              <a:rPr lang="en-US" sz="2900" b="0" i="0" dirty="0">
                <a:solidFill>
                  <a:srgbClr val="333333"/>
                </a:solidFill>
                <a:effectLst/>
                <a:latin typeface="Montserrat" panose="00000500000000000000" pitchFamily="2" charset="0"/>
              </a:rPr>
              <a:t>In this example, the Drawable interface has only one method. Its implementation is provided by Rectangle and Circle classes. In a real scenario, an interface is defined by someone else, but its implementation is provided by different implementation providers. Moreover, it is used by someone else. The implementation part is hidden by the user who uses the interface.</a:t>
            </a:r>
          </a:p>
          <a:p>
            <a:pPr marL="0" indent="0" algn="l">
              <a:buNone/>
            </a:pPr>
            <a:r>
              <a:rPr lang="en-IN" sz="2900" b="0" i="0" dirty="0">
                <a:solidFill>
                  <a:srgbClr val="333333"/>
                </a:solidFill>
                <a:effectLst/>
                <a:latin typeface="Montserrat" panose="00000500000000000000" pitchFamily="2" charset="0"/>
              </a:rPr>
              <a:t>//Interface declaration: by first user  </a:t>
            </a:r>
          </a:p>
          <a:p>
            <a:pPr marL="0" indent="0" algn="l">
              <a:buNone/>
            </a:pPr>
            <a:r>
              <a:rPr lang="en-IN" sz="2900" b="1" i="0" dirty="0">
                <a:solidFill>
                  <a:srgbClr val="006699"/>
                </a:solidFill>
                <a:effectLst/>
                <a:latin typeface="Montserrat" panose="00000500000000000000" pitchFamily="2" charset="0"/>
              </a:rPr>
              <a:t>interface</a:t>
            </a:r>
            <a:r>
              <a:rPr lang="en-IN" sz="2900" b="0" i="0" dirty="0">
                <a:solidFill>
                  <a:srgbClr val="333333"/>
                </a:solidFill>
                <a:effectLst/>
                <a:latin typeface="Montserrat" panose="00000500000000000000" pitchFamily="2" charset="0"/>
              </a:rPr>
              <a:t> Drawable{  </a:t>
            </a:r>
          </a:p>
          <a:p>
            <a:pPr marL="0" indent="0" algn="l">
              <a:buNone/>
            </a:pPr>
            <a:r>
              <a:rPr lang="en-IN" sz="2900" b="1" i="0" dirty="0">
                <a:solidFill>
                  <a:srgbClr val="006699"/>
                </a:solidFill>
                <a:effectLst/>
                <a:latin typeface="Montserrat" panose="00000500000000000000" pitchFamily="2" charset="0"/>
              </a:rPr>
              <a:t>void</a:t>
            </a:r>
            <a:r>
              <a:rPr lang="en-IN" sz="2900" b="0" i="0" dirty="0">
                <a:solidFill>
                  <a:srgbClr val="333333"/>
                </a:solidFill>
                <a:effectLst/>
                <a:latin typeface="Montserrat" panose="00000500000000000000" pitchFamily="2" charset="0"/>
              </a:rPr>
              <a:t> draw();  </a:t>
            </a:r>
          </a:p>
          <a:p>
            <a:pPr marL="0" indent="0" algn="l">
              <a:buNone/>
            </a:pPr>
            <a:r>
              <a:rPr lang="en-IN" sz="2900" b="0" i="0" dirty="0">
                <a:solidFill>
                  <a:srgbClr val="333333"/>
                </a:solidFill>
                <a:effectLst/>
                <a:latin typeface="Montserrat" panose="00000500000000000000" pitchFamily="2" charset="0"/>
              </a:rPr>
              <a:t>}  </a:t>
            </a:r>
          </a:p>
          <a:p>
            <a:pPr marL="0" indent="0" algn="l">
              <a:buNone/>
            </a:pPr>
            <a:r>
              <a:rPr lang="en-IN" sz="2900" b="0" i="0" dirty="0">
                <a:solidFill>
                  <a:srgbClr val="333333"/>
                </a:solidFill>
                <a:effectLst/>
                <a:latin typeface="Montserrat" panose="00000500000000000000" pitchFamily="2" charset="0"/>
              </a:rPr>
              <a:t>//Implementation: by second user  </a:t>
            </a:r>
          </a:p>
          <a:p>
            <a:pPr marL="0" indent="0" algn="l">
              <a:buNone/>
            </a:pPr>
            <a:r>
              <a:rPr lang="en-IN" sz="2900" b="1" i="0" dirty="0">
                <a:solidFill>
                  <a:srgbClr val="006699"/>
                </a:solidFill>
                <a:effectLst/>
                <a:latin typeface="Montserrat" panose="00000500000000000000" pitchFamily="2" charset="0"/>
              </a:rPr>
              <a:t>class</a:t>
            </a:r>
            <a:r>
              <a:rPr lang="en-IN" sz="2900" b="0" i="0" dirty="0">
                <a:solidFill>
                  <a:srgbClr val="333333"/>
                </a:solidFill>
                <a:effectLst/>
                <a:latin typeface="Montserrat" panose="00000500000000000000" pitchFamily="2" charset="0"/>
              </a:rPr>
              <a:t> Rectangle </a:t>
            </a:r>
            <a:r>
              <a:rPr lang="en-IN" sz="2900" b="1" i="0" dirty="0">
                <a:solidFill>
                  <a:srgbClr val="006699"/>
                </a:solidFill>
                <a:effectLst/>
                <a:latin typeface="Montserrat" panose="00000500000000000000" pitchFamily="2" charset="0"/>
              </a:rPr>
              <a:t>implements</a:t>
            </a:r>
            <a:r>
              <a:rPr lang="en-IN" sz="2900" b="0" i="0" dirty="0">
                <a:solidFill>
                  <a:srgbClr val="333333"/>
                </a:solidFill>
                <a:effectLst/>
                <a:latin typeface="Montserrat" panose="00000500000000000000" pitchFamily="2" charset="0"/>
              </a:rPr>
              <a:t> Drawable{  </a:t>
            </a:r>
          </a:p>
          <a:p>
            <a:pPr marL="0" indent="0" algn="l">
              <a:buNone/>
            </a:pPr>
            <a:r>
              <a:rPr lang="en-IN" sz="2900" b="1" i="0" dirty="0">
                <a:solidFill>
                  <a:srgbClr val="006699"/>
                </a:solidFill>
                <a:effectLst/>
                <a:latin typeface="Montserrat" panose="00000500000000000000" pitchFamily="2" charset="0"/>
              </a:rPr>
              <a:t>public</a:t>
            </a:r>
            <a:r>
              <a:rPr lang="en-IN" sz="2900" b="0" i="0" dirty="0">
                <a:solidFill>
                  <a:srgbClr val="333333"/>
                </a:solidFill>
                <a:effectLst/>
                <a:latin typeface="Montserrat" panose="00000500000000000000" pitchFamily="2" charset="0"/>
              </a:rPr>
              <a:t> </a:t>
            </a:r>
            <a:r>
              <a:rPr lang="en-IN" sz="2900" b="1" i="0" dirty="0">
                <a:solidFill>
                  <a:srgbClr val="006699"/>
                </a:solidFill>
                <a:effectLst/>
                <a:latin typeface="Montserrat" panose="00000500000000000000" pitchFamily="2" charset="0"/>
              </a:rPr>
              <a:t>void</a:t>
            </a:r>
            <a:r>
              <a:rPr lang="en-IN" sz="2900" b="0" i="0" dirty="0">
                <a:solidFill>
                  <a:srgbClr val="333333"/>
                </a:solidFill>
                <a:effectLst/>
                <a:latin typeface="Montserrat" panose="00000500000000000000" pitchFamily="2" charset="0"/>
              </a:rPr>
              <a:t> draw(){</a:t>
            </a:r>
            <a:r>
              <a:rPr lang="en-IN" sz="2900" b="0" i="0" dirty="0" err="1">
                <a:solidFill>
                  <a:srgbClr val="333333"/>
                </a:solidFill>
                <a:effectLst/>
                <a:latin typeface="Montserrat" panose="00000500000000000000" pitchFamily="2" charset="0"/>
              </a:rPr>
              <a:t>System.out.println</a:t>
            </a:r>
            <a:r>
              <a:rPr lang="en-IN" sz="2900" b="0" i="0" dirty="0">
                <a:solidFill>
                  <a:srgbClr val="333333"/>
                </a:solidFill>
                <a:effectLst/>
                <a:latin typeface="Montserrat" panose="00000500000000000000" pitchFamily="2" charset="0"/>
              </a:rPr>
              <a:t>("drawing rectangle");}  </a:t>
            </a:r>
          </a:p>
          <a:p>
            <a:pPr marL="0" indent="0" algn="l">
              <a:buNone/>
            </a:pPr>
            <a:r>
              <a:rPr lang="en-IN" sz="2900" b="0" i="0" dirty="0">
                <a:solidFill>
                  <a:srgbClr val="333333"/>
                </a:solidFill>
                <a:effectLst/>
                <a:latin typeface="Montserrat" panose="00000500000000000000" pitchFamily="2" charset="0"/>
              </a:rPr>
              <a:t>}  </a:t>
            </a:r>
          </a:p>
          <a:p>
            <a:pPr marL="0" indent="0" algn="l">
              <a:buNone/>
            </a:pPr>
            <a:r>
              <a:rPr lang="en-IN" sz="2900" b="1" i="0" dirty="0">
                <a:solidFill>
                  <a:srgbClr val="006699"/>
                </a:solidFill>
                <a:effectLst/>
                <a:latin typeface="Montserrat" panose="00000500000000000000" pitchFamily="2" charset="0"/>
              </a:rPr>
              <a:t>class</a:t>
            </a:r>
            <a:r>
              <a:rPr lang="en-IN" sz="2900" b="0" i="0" dirty="0">
                <a:solidFill>
                  <a:srgbClr val="333333"/>
                </a:solidFill>
                <a:effectLst/>
                <a:latin typeface="Montserrat" panose="00000500000000000000" pitchFamily="2" charset="0"/>
              </a:rPr>
              <a:t> Circle </a:t>
            </a:r>
            <a:r>
              <a:rPr lang="en-IN" sz="2900" b="1" i="0" dirty="0">
                <a:solidFill>
                  <a:srgbClr val="006699"/>
                </a:solidFill>
                <a:effectLst/>
                <a:latin typeface="Montserrat" panose="00000500000000000000" pitchFamily="2" charset="0"/>
              </a:rPr>
              <a:t>implements</a:t>
            </a:r>
            <a:r>
              <a:rPr lang="en-IN" sz="2900" b="0" i="0" dirty="0">
                <a:solidFill>
                  <a:srgbClr val="333333"/>
                </a:solidFill>
                <a:effectLst/>
                <a:latin typeface="Montserrat" panose="00000500000000000000" pitchFamily="2" charset="0"/>
              </a:rPr>
              <a:t> Drawable{  </a:t>
            </a:r>
          </a:p>
          <a:p>
            <a:pPr marL="0" indent="0" algn="l">
              <a:buNone/>
            </a:pPr>
            <a:r>
              <a:rPr lang="en-IN" sz="2900" b="1" i="0" dirty="0">
                <a:solidFill>
                  <a:srgbClr val="006699"/>
                </a:solidFill>
                <a:effectLst/>
                <a:latin typeface="Montserrat" panose="00000500000000000000" pitchFamily="2" charset="0"/>
              </a:rPr>
              <a:t>public</a:t>
            </a:r>
            <a:r>
              <a:rPr lang="en-IN" sz="2900" b="0" i="0" dirty="0">
                <a:solidFill>
                  <a:srgbClr val="333333"/>
                </a:solidFill>
                <a:effectLst/>
                <a:latin typeface="Montserrat" panose="00000500000000000000" pitchFamily="2" charset="0"/>
              </a:rPr>
              <a:t> </a:t>
            </a:r>
            <a:r>
              <a:rPr lang="en-IN" sz="2900" b="1" i="0" dirty="0">
                <a:solidFill>
                  <a:srgbClr val="006699"/>
                </a:solidFill>
                <a:effectLst/>
                <a:latin typeface="Montserrat" panose="00000500000000000000" pitchFamily="2" charset="0"/>
              </a:rPr>
              <a:t>void</a:t>
            </a:r>
            <a:r>
              <a:rPr lang="en-IN" sz="2900" b="0" i="0" dirty="0">
                <a:solidFill>
                  <a:srgbClr val="333333"/>
                </a:solidFill>
                <a:effectLst/>
                <a:latin typeface="Montserrat" panose="00000500000000000000" pitchFamily="2" charset="0"/>
              </a:rPr>
              <a:t> draw(){</a:t>
            </a:r>
            <a:r>
              <a:rPr lang="en-IN" sz="2900" b="0" i="0" dirty="0" err="1">
                <a:solidFill>
                  <a:srgbClr val="333333"/>
                </a:solidFill>
                <a:effectLst/>
                <a:latin typeface="Montserrat" panose="00000500000000000000" pitchFamily="2" charset="0"/>
              </a:rPr>
              <a:t>System.out.println</a:t>
            </a:r>
            <a:r>
              <a:rPr lang="en-IN" sz="2900" b="0" i="0" dirty="0">
                <a:solidFill>
                  <a:srgbClr val="333333"/>
                </a:solidFill>
                <a:effectLst/>
                <a:latin typeface="Montserrat" panose="00000500000000000000" pitchFamily="2" charset="0"/>
              </a:rPr>
              <a:t>("drawing circle");}  </a:t>
            </a:r>
          </a:p>
          <a:p>
            <a:pPr marL="0" indent="0" algn="l">
              <a:buNone/>
            </a:pPr>
            <a:r>
              <a:rPr lang="en-IN" sz="2900" b="0" i="0" dirty="0">
                <a:solidFill>
                  <a:srgbClr val="333333"/>
                </a:solidFill>
                <a:effectLst/>
                <a:latin typeface="Montserrat" panose="00000500000000000000" pitchFamily="2" charset="0"/>
              </a:rPr>
              <a:t>}  </a:t>
            </a:r>
          </a:p>
          <a:p>
            <a:pPr marL="0" indent="0" algn="l">
              <a:buNone/>
            </a:pPr>
            <a:r>
              <a:rPr lang="en-IN" sz="2900" b="0" i="0" dirty="0">
                <a:solidFill>
                  <a:srgbClr val="333333"/>
                </a:solidFill>
                <a:effectLst/>
                <a:latin typeface="Montserrat" panose="00000500000000000000" pitchFamily="2" charset="0"/>
              </a:rPr>
              <a:t>//Using interface: by third user  </a:t>
            </a:r>
          </a:p>
          <a:p>
            <a:pPr marL="0" indent="0" algn="l">
              <a:buNone/>
            </a:pPr>
            <a:r>
              <a:rPr lang="en-IN" sz="2900" b="1" i="0" dirty="0">
                <a:solidFill>
                  <a:srgbClr val="006699"/>
                </a:solidFill>
                <a:effectLst/>
                <a:latin typeface="Montserrat" panose="00000500000000000000" pitchFamily="2" charset="0"/>
              </a:rPr>
              <a:t>class</a:t>
            </a:r>
            <a:r>
              <a:rPr lang="en-IN" sz="2900" b="0" i="0" dirty="0">
                <a:solidFill>
                  <a:srgbClr val="333333"/>
                </a:solidFill>
                <a:effectLst/>
                <a:latin typeface="Montserrat" panose="00000500000000000000" pitchFamily="2" charset="0"/>
              </a:rPr>
              <a:t> TestInterface1{  </a:t>
            </a:r>
          </a:p>
          <a:p>
            <a:pPr marL="0" indent="0" algn="l">
              <a:buNone/>
            </a:pPr>
            <a:r>
              <a:rPr lang="en-IN" sz="2900" b="1" i="0" dirty="0">
                <a:solidFill>
                  <a:srgbClr val="006699"/>
                </a:solidFill>
                <a:effectLst/>
                <a:latin typeface="Montserrat" panose="00000500000000000000" pitchFamily="2" charset="0"/>
              </a:rPr>
              <a:t>public</a:t>
            </a:r>
            <a:r>
              <a:rPr lang="en-IN" sz="2900" b="0" i="0" dirty="0">
                <a:solidFill>
                  <a:srgbClr val="333333"/>
                </a:solidFill>
                <a:effectLst/>
                <a:latin typeface="Montserrat" panose="00000500000000000000" pitchFamily="2" charset="0"/>
              </a:rPr>
              <a:t> </a:t>
            </a:r>
            <a:r>
              <a:rPr lang="en-IN" sz="2900" b="1" i="0" dirty="0">
                <a:solidFill>
                  <a:srgbClr val="006699"/>
                </a:solidFill>
                <a:effectLst/>
                <a:latin typeface="Montserrat" panose="00000500000000000000" pitchFamily="2" charset="0"/>
              </a:rPr>
              <a:t>static</a:t>
            </a:r>
            <a:r>
              <a:rPr lang="en-IN" sz="2900" b="0" i="0" dirty="0">
                <a:solidFill>
                  <a:srgbClr val="333333"/>
                </a:solidFill>
                <a:effectLst/>
                <a:latin typeface="Montserrat" panose="00000500000000000000" pitchFamily="2" charset="0"/>
              </a:rPr>
              <a:t> </a:t>
            </a:r>
            <a:r>
              <a:rPr lang="en-IN" sz="2900" b="1" i="0" dirty="0">
                <a:solidFill>
                  <a:srgbClr val="006699"/>
                </a:solidFill>
                <a:effectLst/>
                <a:latin typeface="Montserrat" panose="00000500000000000000" pitchFamily="2" charset="0"/>
              </a:rPr>
              <a:t>void</a:t>
            </a:r>
            <a:r>
              <a:rPr lang="en-IN" sz="2900" b="0" i="0" dirty="0">
                <a:solidFill>
                  <a:srgbClr val="333333"/>
                </a:solidFill>
                <a:effectLst/>
                <a:latin typeface="Montserrat" panose="00000500000000000000" pitchFamily="2" charset="0"/>
              </a:rPr>
              <a:t> main(String </a:t>
            </a:r>
            <a:r>
              <a:rPr lang="en-IN" sz="2900" b="0" i="0" dirty="0" err="1">
                <a:solidFill>
                  <a:srgbClr val="333333"/>
                </a:solidFill>
                <a:effectLst/>
                <a:latin typeface="Montserrat" panose="00000500000000000000" pitchFamily="2" charset="0"/>
              </a:rPr>
              <a:t>args</a:t>
            </a:r>
            <a:r>
              <a:rPr lang="en-IN" sz="2900" b="0" i="0" dirty="0">
                <a:solidFill>
                  <a:srgbClr val="333333"/>
                </a:solidFill>
                <a:effectLst/>
                <a:latin typeface="Montserrat" panose="00000500000000000000" pitchFamily="2" charset="0"/>
              </a:rPr>
              <a:t>[]){  </a:t>
            </a:r>
          </a:p>
          <a:p>
            <a:pPr marL="0" indent="0" algn="l">
              <a:buNone/>
            </a:pPr>
            <a:r>
              <a:rPr lang="en-IN" sz="2900" b="0" i="0" dirty="0">
                <a:solidFill>
                  <a:srgbClr val="333333"/>
                </a:solidFill>
                <a:effectLst/>
                <a:latin typeface="Montserrat" panose="00000500000000000000" pitchFamily="2" charset="0"/>
              </a:rPr>
              <a:t>Drawable d=</a:t>
            </a:r>
            <a:r>
              <a:rPr lang="en-IN" sz="2900" b="1" i="0" dirty="0">
                <a:solidFill>
                  <a:srgbClr val="006699"/>
                </a:solidFill>
                <a:effectLst/>
                <a:latin typeface="Montserrat" panose="00000500000000000000" pitchFamily="2" charset="0"/>
              </a:rPr>
              <a:t>new</a:t>
            </a:r>
            <a:r>
              <a:rPr lang="en-IN" sz="2900" b="0" i="0" dirty="0">
                <a:solidFill>
                  <a:srgbClr val="333333"/>
                </a:solidFill>
                <a:effectLst/>
                <a:latin typeface="Montserrat" panose="00000500000000000000" pitchFamily="2" charset="0"/>
              </a:rPr>
              <a:t> Circle();//In real scenario, object is provided by method e.g. </a:t>
            </a:r>
            <a:r>
              <a:rPr lang="en-IN" sz="2900" b="0" i="0" dirty="0" err="1">
                <a:solidFill>
                  <a:srgbClr val="333333"/>
                </a:solidFill>
                <a:effectLst/>
                <a:latin typeface="Montserrat" panose="00000500000000000000" pitchFamily="2" charset="0"/>
              </a:rPr>
              <a:t>getDrawable</a:t>
            </a:r>
            <a:r>
              <a:rPr lang="en-IN" sz="2900" b="0" i="0" dirty="0">
                <a:solidFill>
                  <a:srgbClr val="333333"/>
                </a:solidFill>
                <a:effectLst/>
                <a:latin typeface="Montserrat" panose="00000500000000000000" pitchFamily="2" charset="0"/>
              </a:rPr>
              <a:t>()  </a:t>
            </a:r>
          </a:p>
          <a:p>
            <a:pPr marL="0" indent="0" algn="l">
              <a:buNone/>
            </a:pPr>
            <a:r>
              <a:rPr lang="en-IN" sz="2900" b="0" i="0" dirty="0" err="1">
                <a:solidFill>
                  <a:srgbClr val="333333"/>
                </a:solidFill>
                <a:effectLst/>
                <a:latin typeface="Montserrat" panose="00000500000000000000" pitchFamily="2" charset="0"/>
              </a:rPr>
              <a:t>d.draw</a:t>
            </a:r>
            <a:r>
              <a:rPr lang="en-IN" sz="2900" b="0" i="0" dirty="0">
                <a:solidFill>
                  <a:srgbClr val="333333"/>
                </a:solidFill>
                <a:effectLst/>
                <a:latin typeface="Montserrat" panose="00000500000000000000" pitchFamily="2" charset="0"/>
              </a:rPr>
              <a:t>();  </a:t>
            </a:r>
          </a:p>
          <a:p>
            <a:pPr marL="0" indent="0" algn="l">
              <a:buNone/>
            </a:pPr>
            <a:r>
              <a:rPr lang="en-IN" sz="2900" b="0" i="0" dirty="0">
                <a:solidFill>
                  <a:srgbClr val="333333"/>
                </a:solidFill>
                <a:effectLst/>
                <a:latin typeface="Montserrat" panose="00000500000000000000" pitchFamily="2" charset="0"/>
              </a:rPr>
              <a:t>}}  </a:t>
            </a:r>
          </a:p>
          <a:p>
            <a:endParaRPr lang="en-IN" dirty="0"/>
          </a:p>
        </p:txBody>
      </p:sp>
    </p:spTree>
    <p:extLst>
      <p:ext uri="{BB962C8B-B14F-4D97-AF65-F5344CB8AC3E}">
        <p14:creationId xmlns:p14="http://schemas.microsoft.com/office/powerpoint/2010/main" val="2694629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AE664C-970A-426F-32C7-8AB44D435311}"/>
              </a:ext>
            </a:extLst>
          </p:cNvPr>
          <p:cNvSpPr>
            <a:spLocks noGrp="1"/>
          </p:cNvSpPr>
          <p:nvPr>
            <p:ph type="title"/>
          </p:nvPr>
        </p:nvSpPr>
        <p:spPr>
          <a:xfrm>
            <a:off x="128588" y="365126"/>
            <a:ext cx="11225212" cy="177800"/>
          </a:xfrm>
        </p:spPr>
        <p:txBody>
          <a:bodyPr>
            <a:normAutofit fontScale="90000"/>
          </a:bodyPr>
          <a:lstStyle/>
          <a:p>
            <a:pPr marL="571500" indent="-571500">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rPr>
              <a:t>Polymorphism</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8B5F7460-BD9C-F57C-FD4B-DD514D1C7D7A}"/>
              </a:ext>
            </a:extLst>
          </p:cNvPr>
          <p:cNvSpPr>
            <a:spLocks noGrp="1"/>
          </p:cNvSpPr>
          <p:nvPr>
            <p:ph idx="1"/>
          </p:nvPr>
        </p:nvSpPr>
        <p:spPr>
          <a:xfrm>
            <a:off x="175364" y="839243"/>
            <a:ext cx="11178436" cy="5337719"/>
          </a:xfrm>
        </p:spPr>
        <p:txBody>
          <a:bodyPr>
            <a:normAutofit fontScale="85000" lnSpcReduction="10000"/>
          </a:bodyPr>
          <a:lstStyle/>
          <a:p>
            <a:r>
              <a:rPr lang="en-US" b="0" i="0" dirty="0">
                <a:solidFill>
                  <a:srgbClr val="273239"/>
                </a:solidFill>
                <a:effectLst/>
                <a:latin typeface="Nunito" pitchFamily="2" charset="0"/>
              </a:rPr>
              <a:t>The word ‘</a:t>
            </a:r>
            <a:r>
              <a:rPr lang="en-US" b="1" i="0" dirty="0">
                <a:solidFill>
                  <a:srgbClr val="273239"/>
                </a:solidFill>
                <a:effectLst/>
                <a:latin typeface="Nunito" pitchFamily="2" charset="0"/>
              </a:rPr>
              <a:t>polymorphism</a:t>
            </a:r>
            <a:r>
              <a:rPr lang="en-US" b="0" i="0" dirty="0">
                <a:solidFill>
                  <a:srgbClr val="273239"/>
                </a:solidFill>
                <a:effectLst/>
                <a:latin typeface="Nunito" pitchFamily="2" charset="0"/>
              </a:rPr>
              <a:t>’ means ‘</a:t>
            </a:r>
            <a:r>
              <a:rPr lang="en-US" b="1" i="0" dirty="0">
                <a:solidFill>
                  <a:srgbClr val="273239"/>
                </a:solidFill>
                <a:effectLst/>
                <a:latin typeface="Nunito" pitchFamily="2" charset="0"/>
              </a:rPr>
              <a:t>having many forms</a:t>
            </a:r>
            <a:r>
              <a:rPr lang="en-US" b="0" i="0" dirty="0">
                <a:solidFill>
                  <a:srgbClr val="273239"/>
                </a:solidFill>
                <a:effectLst/>
                <a:latin typeface="Nunito" pitchFamily="2" charset="0"/>
              </a:rPr>
              <a:t>’. In Java, polymorphism refers to the ability of a message to be displayed in more than one form. This concept is a key feature of </a:t>
            </a:r>
            <a:r>
              <a:rPr lang="en-US" b="1" i="0" dirty="0">
                <a:solidFill>
                  <a:srgbClr val="273239"/>
                </a:solidFill>
                <a:effectLst/>
                <a:latin typeface="Nunito" pitchFamily="2" charset="0"/>
              </a:rPr>
              <a:t>Object-Oriented Programming </a:t>
            </a:r>
            <a:r>
              <a:rPr lang="en-US" b="0" i="0" dirty="0">
                <a:solidFill>
                  <a:srgbClr val="273239"/>
                </a:solidFill>
                <a:effectLst/>
                <a:latin typeface="Nunito" pitchFamily="2" charset="0"/>
              </a:rPr>
              <a:t>and it allows objects to behave differently based on their specific class type.</a:t>
            </a:r>
          </a:p>
          <a:p>
            <a:r>
              <a:rPr lang="en-US" dirty="0"/>
              <a:t>Polymorphism in Java is a fundamental concept in object-oriented programming that allows methods or objects to behave differently based on their context. It enables code flexibility, reusability, and maintainability</a:t>
            </a:r>
          </a:p>
          <a:p>
            <a:r>
              <a:rPr lang="en-US" dirty="0"/>
              <a:t>Polymorphism is one of the core concepts of Object-Oriented Programming (OOP) in Java. It allows a single interface or method to have multiple implementations, increasing code flexibility and reusability.</a:t>
            </a:r>
            <a:r>
              <a:rPr lang="en-US" b="1" dirty="0"/>
              <a:t> Types of Polymorphism in Java</a:t>
            </a:r>
          </a:p>
          <a:p>
            <a:r>
              <a:rPr lang="en-US" b="1" dirty="0"/>
              <a:t>1. Compile-Time Polymorphism (Static Polymorphism)</a:t>
            </a:r>
          </a:p>
          <a:p>
            <a:r>
              <a:rPr lang="en-US" dirty="0"/>
              <a:t>Achieved through </a:t>
            </a:r>
            <a:r>
              <a:rPr lang="en-US" b="1" dirty="0"/>
              <a:t>method overloading</a:t>
            </a:r>
            <a:r>
              <a:rPr lang="en-US" dirty="0"/>
              <a:t>.</a:t>
            </a:r>
          </a:p>
          <a:p>
            <a:r>
              <a:rPr lang="en-US" dirty="0"/>
              <a:t>Resolved at </a:t>
            </a:r>
            <a:r>
              <a:rPr lang="en-US" b="1" dirty="0"/>
              <a:t>compile time</a:t>
            </a:r>
            <a:r>
              <a:rPr lang="en-US" dirty="0"/>
              <a:t>.</a:t>
            </a:r>
          </a:p>
          <a:p>
            <a:r>
              <a:rPr lang="en-US" dirty="0"/>
              <a:t>The method signature (name + parameters) determines which method will be called.</a:t>
            </a:r>
            <a:endParaRPr lang="en-IN" dirty="0"/>
          </a:p>
        </p:txBody>
      </p:sp>
    </p:spTree>
    <p:extLst>
      <p:ext uri="{BB962C8B-B14F-4D97-AF65-F5344CB8AC3E}">
        <p14:creationId xmlns:p14="http://schemas.microsoft.com/office/powerpoint/2010/main" val="29818789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677" y="365125"/>
            <a:ext cx="11028123" cy="536749"/>
          </a:xfrm>
        </p:spPr>
        <p:txBody>
          <a:bodyPr>
            <a:normAutofit fontScale="90000"/>
          </a:bodyPr>
          <a:lstStyle/>
          <a:p>
            <a:pPr marL="571500" indent="-571500">
              <a:buFont typeface="Arial" pitchFamily="34" charset="0"/>
              <a:buChar char="•"/>
            </a:pPr>
            <a:r>
              <a:rPr lang="en-US" sz="4000" b="1" dirty="0">
                <a:latin typeface="Times New Roman" pitchFamily="18" charset="0"/>
                <a:cs typeface="Times New Roman" pitchFamily="18" charset="0"/>
              </a:rPr>
              <a:t>Benefits and Use Cases:</a:t>
            </a:r>
            <a:r>
              <a:rPr lang="en-US" dirty="0"/>
              <a:t/>
            </a:r>
            <a:br>
              <a:rPr lang="en-US" dirty="0"/>
            </a:br>
            <a:endParaRPr lang="en-US" dirty="0"/>
          </a:p>
        </p:txBody>
      </p:sp>
      <p:sp>
        <p:nvSpPr>
          <p:cNvPr id="3" name="Content Placeholder 2"/>
          <p:cNvSpPr>
            <a:spLocks noGrp="1"/>
          </p:cNvSpPr>
          <p:nvPr>
            <p:ph idx="1"/>
          </p:nvPr>
        </p:nvSpPr>
        <p:spPr>
          <a:xfrm>
            <a:off x="375781" y="826718"/>
            <a:ext cx="10978019" cy="5350245"/>
          </a:xfrm>
        </p:spPr>
        <p:txBody>
          <a:bodyPr>
            <a:normAutofit fontScale="92500"/>
          </a:bodyPr>
          <a:lstStyle/>
          <a:p>
            <a:r>
              <a:rPr lang="en-US" dirty="0"/>
              <a:t>Compile-time polymorphism provides several benefits in Java development:</a:t>
            </a:r>
          </a:p>
          <a:p>
            <a:r>
              <a:rPr lang="en-US" b="1" dirty="0"/>
              <a:t>Code Reusability:</a:t>
            </a:r>
            <a:r>
              <a:rPr lang="en-US" dirty="0"/>
              <a:t> By allowing developers to reuse method names, method overloading improves code readability and cuts down on redundant code. For several iterations of a functionality, developers can offer a consistent interface by using the same method name with changing parameters.</a:t>
            </a:r>
          </a:p>
          <a:p>
            <a:r>
              <a:rPr lang="en-US" b="1" dirty="0"/>
              <a:t>Flexibility and Convenience:</a:t>
            </a:r>
            <a:r>
              <a:rPr lang="en-US" dirty="0"/>
              <a:t> Compile-time polymorphism enables programmers to create methods with different parameter types, making it more convenient for users to invoke the method using different data types. It allows for a more intuitive and natural usage of methods in different contexts.</a:t>
            </a:r>
          </a:p>
          <a:p>
            <a:r>
              <a:rPr lang="en-US" b="1" dirty="0"/>
              <a:t>Improved Readability:</a:t>
            </a:r>
            <a:r>
              <a:rPr lang="en-US" dirty="0"/>
              <a:t> In order to write self-explanatory code, developers should choose method names that are meaningful. It is simpler to comprehend and utilize the right method based on the argument types when numerous overloaded methods with the same name are available.</a:t>
            </a:r>
          </a:p>
          <a:p>
            <a:endParaRPr lang="en-US" dirty="0"/>
          </a:p>
        </p:txBody>
      </p:sp>
    </p:spTree>
    <p:extLst>
      <p:ext uri="{BB962C8B-B14F-4D97-AF65-F5344CB8AC3E}">
        <p14:creationId xmlns:p14="http://schemas.microsoft.com/office/powerpoint/2010/main" val="37384348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FD5F252-2DB3-29C3-3674-E9FEDF7FC15D}"/>
              </a:ext>
            </a:extLst>
          </p:cNvPr>
          <p:cNvSpPr>
            <a:spLocks noGrp="1"/>
          </p:cNvSpPr>
          <p:nvPr>
            <p:ph idx="1"/>
          </p:nvPr>
        </p:nvSpPr>
        <p:spPr>
          <a:xfrm>
            <a:off x="413359" y="663879"/>
            <a:ext cx="10940441" cy="5513084"/>
          </a:xfrm>
        </p:spPr>
        <p:txBody>
          <a:bodyPr>
            <a:normAutofit fontScale="70000" lnSpcReduction="20000"/>
          </a:bodyPr>
          <a:lstStyle/>
          <a:p>
            <a:pPr marL="0" indent="0">
              <a:buNone/>
            </a:pPr>
            <a:r>
              <a:rPr lang="en-IN" dirty="0"/>
              <a:t>class </a:t>
            </a:r>
            <a:r>
              <a:rPr lang="en-IN" dirty="0" err="1"/>
              <a:t>MathOperations</a:t>
            </a:r>
            <a:r>
              <a:rPr lang="en-IN" dirty="0"/>
              <a:t> {</a:t>
            </a:r>
          </a:p>
          <a:p>
            <a:pPr marL="0" indent="0">
              <a:buNone/>
            </a:pPr>
            <a:r>
              <a:rPr lang="en-IN" dirty="0"/>
              <a:t>    // Overloaded method with two </a:t>
            </a:r>
            <a:r>
              <a:rPr lang="en-IN" dirty="0" err="1"/>
              <a:t>int</a:t>
            </a:r>
            <a:r>
              <a:rPr lang="en-IN" dirty="0"/>
              <a:t> parameters</a:t>
            </a:r>
          </a:p>
          <a:p>
            <a:pPr marL="0" indent="0">
              <a:buNone/>
            </a:pPr>
            <a:r>
              <a:rPr lang="en-IN" dirty="0"/>
              <a:t>    </a:t>
            </a:r>
            <a:r>
              <a:rPr lang="en-IN" dirty="0" err="1"/>
              <a:t>int</a:t>
            </a:r>
            <a:r>
              <a:rPr lang="en-IN" dirty="0"/>
              <a:t> add(</a:t>
            </a:r>
            <a:r>
              <a:rPr lang="en-IN" dirty="0" err="1"/>
              <a:t>int</a:t>
            </a:r>
            <a:r>
              <a:rPr lang="en-IN" dirty="0"/>
              <a:t> a, </a:t>
            </a:r>
            <a:r>
              <a:rPr lang="en-IN" dirty="0" err="1"/>
              <a:t>int</a:t>
            </a:r>
            <a:r>
              <a:rPr lang="en-IN" dirty="0"/>
              <a:t> b) {</a:t>
            </a:r>
          </a:p>
          <a:p>
            <a:pPr marL="0" indent="0">
              <a:buNone/>
            </a:pPr>
            <a:r>
              <a:rPr lang="en-IN" dirty="0"/>
              <a:t>        return a + b;</a:t>
            </a:r>
          </a:p>
          <a:p>
            <a:pPr marL="0" indent="0">
              <a:buNone/>
            </a:pPr>
            <a:r>
              <a:rPr lang="en-IN" dirty="0"/>
              <a:t>    }</a:t>
            </a:r>
          </a:p>
          <a:p>
            <a:pPr marL="0" indent="0">
              <a:buNone/>
            </a:pPr>
            <a:endParaRPr lang="en-IN" dirty="0"/>
          </a:p>
          <a:p>
            <a:pPr marL="0" indent="0">
              <a:buNone/>
            </a:pPr>
            <a:r>
              <a:rPr lang="en-IN" dirty="0"/>
              <a:t>    // Overloaded method with three </a:t>
            </a:r>
            <a:r>
              <a:rPr lang="en-IN" dirty="0" err="1"/>
              <a:t>int</a:t>
            </a:r>
            <a:r>
              <a:rPr lang="en-IN" dirty="0"/>
              <a:t> parameters</a:t>
            </a:r>
          </a:p>
          <a:p>
            <a:pPr marL="0" indent="0">
              <a:buNone/>
            </a:pPr>
            <a:r>
              <a:rPr lang="en-IN" dirty="0"/>
              <a:t>    </a:t>
            </a:r>
            <a:r>
              <a:rPr lang="en-IN" dirty="0" err="1"/>
              <a:t>int</a:t>
            </a:r>
            <a:r>
              <a:rPr lang="en-IN" dirty="0"/>
              <a:t> add(</a:t>
            </a:r>
            <a:r>
              <a:rPr lang="en-IN" dirty="0" err="1"/>
              <a:t>int</a:t>
            </a:r>
            <a:r>
              <a:rPr lang="en-IN" dirty="0"/>
              <a:t> a, </a:t>
            </a:r>
            <a:r>
              <a:rPr lang="en-IN" dirty="0" err="1"/>
              <a:t>int</a:t>
            </a:r>
            <a:r>
              <a:rPr lang="en-IN" dirty="0"/>
              <a:t> b, </a:t>
            </a:r>
            <a:r>
              <a:rPr lang="en-IN" dirty="0" err="1"/>
              <a:t>int</a:t>
            </a:r>
            <a:r>
              <a:rPr lang="en-IN" dirty="0"/>
              <a:t> c) {</a:t>
            </a:r>
          </a:p>
          <a:p>
            <a:pPr marL="0" indent="0">
              <a:buNone/>
            </a:pPr>
            <a:r>
              <a:rPr lang="en-IN" dirty="0"/>
              <a:t>        return a + b + c;</a:t>
            </a:r>
          </a:p>
          <a:p>
            <a:pPr marL="0" indent="0">
              <a:buNone/>
            </a:pPr>
            <a:r>
              <a:rPr lang="en-IN" dirty="0"/>
              <a:t>    }</a:t>
            </a:r>
          </a:p>
          <a:p>
            <a:pPr marL="0" indent="0">
              <a:buNone/>
            </a:pPr>
            <a:endParaRPr lang="en-IN" dirty="0"/>
          </a:p>
          <a:p>
            <a:pPr marL="0" indent="0">
              <a:buNone/>
            </a:pPr>
            <a:r>
              <a:rPr lang="en-IN" dirty="0"/>
              <a:t>    // Overloaded method with two double parameters</a:t>
            </a:r>
          </a:p>
          <a:p>
            <a:pPr marL="0" indent="0">
              <a:buNone/>
            </a:pPr>
            <a:r>
              <a:rPr lang="en-IN" dirty="0"/>
              <a:t>    double add(double a, double b) {</a:t>
            </a:r>
          </a:p>
          <a:p>
            <a:pPr marL="0" indent="0">
              <a:buNone/>
            </a:pPr>
            <a:r>
              <a:rPr lang="en-IN" dirty="0"/>
              <a:t>        return a + b;</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864134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625" y="764088"/>
            <a:ext cx="11053175" cy="5412875"/>
          </a:xfrm>
        </p:spPr>
        <p:txBody>
          <a:bodyPr>
            <a:normAutofit fontScale="92500" lnSpcReduction="10000"/>
          </a:bodyPr>
          <a:lstStyle/>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MathOperations</a:t>
            </a:r>
            <a:r>
              <a:rPr lang="en-IN" dirty="0"/>
              <a:t> math = new </a:t>
            </a:r>
            <a:r>
              <a:rPr lang="en-IN" dirty="0" err="1"/>
              <a:t>MathOperations</a:t>
            </a:r>
            <a:r>
              <a:rPr lang="en-IN" dirty="0"/>
              <a:t>();</a:t>
            </a:r>
          </a:p>
          <a:p>
            <a:pPr marL="0" indent="0">
              <a:buNone/>
            </a:pPr>
            <a:r>
              <a:rPr lang="en-IN" dirty="0"/>
              <a:t>        </a:t>
            </a:r>
            <a:r>
              <a:rPr lang="en-IN" dirty="0" err="1"/>
              <a:t>System.out.println</a:t>
            </a:r>
            <a:r>
              <a:rPr lang="en-IN" dirty="0"/>
              <a:t>(</a:t>
            </a:r>
            <a:r>
              <a:rPr lang="en-IN" dirty="0" err="1"/>
              <a:t>math.add</a:t>
            </a:r>
            <a:r>
              <a:rPr lang="en-IN" dirty="0"/>
              <a:t>(5, 10));        // Calls add(</a:t>
            </a:r>
            <a:r>
              <a:rPr lang="en-IN" dirty="0" err="1"/>
              <a:t>int</a:t>
            </a:r>
            <a:r>
              <a:rPr lang="en-IN" dirty="0"/>
              <a:t>, </a:t>
            </a:r>
            <a:r>
              <a:rPr lang="en-IN" dirty="0" err="1"/>
              <a:t>int</a:t>
            </a:r>
            <a:r>
              <a:rPr lang="en-IN" dirty="0"/>
              <a:t>)</a:t>
            </a:r>
          </a:p>
          <a:p>
            <a:pPr marL="0" indent="0">
              <a:buNone/>
            </a:pPr>
            <a:r>
              <a:rPr lang="en-IN" dirty="0"/>
              <a:t>        </a:t>
            </a:r>
            <a:r>
              <a:rPr lang="en-IN" dirty="0" err="1"/>
              <a:t>System.out.println</a:t>
            </a:r>
            <a:r>
              <a:rPr lang="en-IN" dirty="0"/>
              <a:t>(</a:t>
            </a:r>
            <a:r>
              <a:rPr lang="en-IN" dirty="0" err="1"/>
              <a:t>math.add</a:t>
            </a:r>
            <a:r>
              <a:rPr lang="en-IN" dirty="0"/>
              <a:t>(5, 10, 15));    // Calls add(</a:t>
            </a:r>
            <a:r>
              <a:rPr lang="en-IN" dirty="0" err="1"/>
              <a:t>int</a:t>
            </a:r>
            <a:r>
              <a:rPr lang="en-IN" dirty="0"/>
              <a:t>, </a:t>
            </a:r>
            <a:r>
              <a:rPr lang="en-IN" dirty="0" err="1"/>
              <a:t>int</a:t>
            </a:r>
            <a:r>
              <a:rPr lang="en-IN" dirty="0"/>
              <a:t>, </a:t>
            </a:r>
            <a:r>
              <a:rPr lang="en-IN" dirty="0" err="1"/>
              <a:t>int</a:t>
            </a:r>
            <a:r>
              <a:rPr lang="en-IN" dirty="0"/>
              <a:t>)</a:t>
            </a:r>
          </a:p>
          <a:p>
            <a:pPr marL="0" indent="0">
              <a:buNone/>
            </a:pPr>
            <a:r>
              <a:rPr lang="en-IN" dirty="0"/>
              <a:t>        </a:t>
            </a:r>
            <a:r>
              <a:rPr lang="en-IN" dirty="0" err="1"/>
              <a:t>System.out.println</a:t>
            </a:r>
            <a:r>
              <a:rPr lang="en-IN" dirty="0"/>
              <a:t>(</a:t>
            </a:r>
            <a:r>
              <a:rPr lang="en-IN" dirty="0" err="1"/>
              <a:t>math.add</a:t>
            </a:r>
            <a:r>
              <a:rPr lang="en-IN" dirty="0"/>
              <a:t>(5.5, 2.5));     // Calls add(double, double)</a:t>
            </a:r>
          </a:p>
          <a:p>
            <a:pPr marL="0" indent="0">
              <a:buNone/>
            </a:pPr>
            <a:r>
              <a:rPr lang="en-IN" dirty="0"/>
              <a:t>    }</a:t>
            </a:r>
          </a:p>
          <a:p>
            <a:pPr marL="0" indent="0">
              <a:buNone/>
            </a:pPr>
            <a:r>
              <a:rPr lang="en-IN" dirty="0"/>
              <a:t>}</a:t>
            </a:r>
          </a:p>
          <a:p>
            <a:pPr marL="0" indent="0">
              <a:buNone/>
            </a:pPr>
            <a:r>
              <a:rPr lang="en-US" dirty="0"/>
              <a:t>Output-</a:t>
            </a:r>
          </a:p>
          <a:p>
            <a:pPr marL="0" indent="0">
              <a:buNone/>
            </a:pPr>
            <a:r>
              <a:rPr lang="en-IN" dirty="0"/>
              <a:t>15</a:t>
            </a:r>
          </a:p>
          <a:p>
            <a:pPr marL="0" indent="0">
              <a:buNone/>
            </a:pPr>
            <a:r>
              <a:rPr lang="en-IN" dirty="0"/>
              <a:t>30</a:t>
            </a:r>
          </a:p>
          <a:p>
            <a:pPr marL="0" indent="0">
              <a:buNone/>
            </a:pPr>
            <a:r>
              <a:rPr lang="en-IN" dirty="0"/>
              <a:t>8.0</a:t>
            </a:r>
          </a:p>
          <a:p>
            <a:pPr marL="0" indent="0">
              <a:buNone/>
            </a:pPr>
            <a:endParaRPr lang="en-IN" dirty="0"/>
          </a:p>
        </p:txBody>
      </p:sp>
    </p:spTree>
    <p:extLst>
      <p:ext uri="{BB962C8B-B14F-4D97-AF65-F5344CB8AC3E}">
        <p14:creationId xmlns:p14="http://schemas.microsoft.com/office/powerpoint/2010/main" val="13555745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0729" y="977030"/>
            <a:ext cx="11003071" cy="5199933"/>
          </a:xfrm>
        </p:spPr>
        <p:txBody>
          <a:bodyPr>
            <a:normAutofit/>
          </a:bodyPr>
          <a:lstStyle/>
          <a:p>
            <a:pPr fontAlgn="base"/>
            <a:r>
              <a:rPr lang="en-US" b="1" dirty="0"/>
              <a:t>Subtypes of Compile-time Polymorphism:</a:t>
            </a:r>
            <a:endParaRPr lang="en-US" dirty="0"/>
          </a:p>
          <a:p>
            <a:pPr fontAlgn="base"/>
            <a:r>
              <a:rPr lang="en-US" b="1" dirty="0"/>
              <a:t>Function Overloading</a:t>
            </a:r>
            <a:r>
              <a:rPr lang="en-US" dirty="0"/>
              <a:t>: It is a feature in C++/Java where multiple functions can have the same name but with different parameter lists. The compiler will decide which function to call based on the number and types of arguments passed to the function.</a:t>
            </a:r>
          </a:p>
          <a:p>
            <a:pPr fontAlgn="base"/>
            <a:r>
              <a:rPr lang="en-US" b="1" dirty="0"/>
              <a:t>Operator Overloading: </a:t>
            </a:r>
            <a:r>
              <a:rPr lang="en-US" dirty="0"/>
              <a:t>It is a feature in Java where the operators such as +, -, *, etc. can be given additional meanings when applied to user-defined data types.</a:t>
            </a:r>
          </a:p>
          <a:p>
            <a:pPr fontAlgn="base"/>
            <a:r>
              <a:rPr lang="en-US" b="1" dirty="0"/>
              <a:t>Template</a:t>
            </a:r>
            <a:r>
              <a:rPr lang="en-US" dirty="0"/>
              <a:t>: It is a powerful feature in java that allows us to write generic functions and classes. A template is a blueprint for creating a family of functions or classes.</a:t>
            </a:r>
          </a:p>
          <a:p>
            <a:endParaRPr lang="en-US" dirty="0"/>
          </a:p>
        </p:txBody>
      </p:sp>
    </p:spTree>
    <p:extLst>
      <p:ext uri="{BB962C8B-B14F-4D97-AF65-F5344CB8AC3E}">
        <p14:creationId xmlns:p14="http://schemas.microsoft.com/office/powerpoint/2010/main" val="36373043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364" y="588722"/>
            <a:ext cx="11178436" cy="6037545"/>
          </a:xfrm>
        </p:spPr>
        <p:txBody>
          <a:bodyPr>
            <a:normAutofit fontScale="62500" lnSpcReduction="20000"/>
          </a:bodyPr>
          <a:lstStyle/>
          <a:p>
            <a:pPr marL="0" indent="0">
              <a:buNone/>
            </a:pPr>
            <a:r>
              <a:rPr lang="en-US" b="1" dirty="0"/>
              <a:t>2. Runtime Polymorphism (Dynamic Polymorphism)</a:t>
            </a:r>
          </a:p>
          <a:p>
            <a:r>
              <a:rPr lang="en-US" dirty="0"/>
              <a:t>Achieved through </a:t>
            </a:r>
            <a:r>
              <a:rPr lang="en-US" b="1" dirty="0"/>
              <a:t>method overriding</a:t>
            </a:r>
            <a:r>
              <a:rPr lang="en-US" dirty="0"/>
              <a:t>.</a:t>
            </a:r>
          </a:p>
          <a:p>
            <a:r>
              <a:rPr lang="en-US" dirty="0"/>
              <a:t>Resolved at </a:t>
            </a:r>
            <a:r>
              <a:rPr lang="en-US" b="1" dirty="0"/>
              <a:t>runtime</a:t>
            </a:r>
            <a:r>
              <a:rPr lang="en-US" dirty="0"/>
              <a:t> using </a:t>
            </a:r>
            <a:r>
              <a:rPr lang="en-US" b="1" dirty="0"/>
              <a:t>dynamic method dispatch</a:t>
            </a:r>
            <a:r>
              <a:rPr lang="en-US" dirty="0"/>
              <a:t>.</a:t>
            </a:r>
          </a:p>
          <a:p>
            <a:r>
              <a:rPr lang="en-US" u="sng" dirty="0">
                <a:hlinkClick r:id="rId2"/>
              </a:rPr>
              <a:t>Runtime Polymorphism</a:t>
            </a:r>
            <a:r>
              <a:rPr lang="en-US" dirty="0"/>
              <a:t> in Java known as Dynamic Method Dispatch. It is a process in which a function call to the overridden method is resolved at Runtime. This type of polymorphism is achieved by Method Overriding. </a:t>
            </a:r>
            <a:r>
              <a:rPr lang="en-US" u="sng" dirty="0">
                <a:hlinkClick r:id="rId3"/>
              </a:rPr>
              <a:t>Method overriding</a:t>
            </a:r>
            <a:r>
              <a:rPr lang="en-US" dirty="0"/>
              <a:t>, on the other hand, occurs when a derived class has a definition for one of the member functions of the base class. That base function is said to be overridden.</a:t>
            </a:r>
          </a:p>
          <a:p>
            <a:r>
              <a:rPr lang="en-US" dirty="0"/>
              <a:t>The method in the subclass overrides the method in the superclass.</a:t>
            </a:r>
          </a:p>
          <a:p>
            <a:pPr marL="0" indent="0">
              <a:buNone/>
            </a:pPr>
            <a:r>
              <a:rPr lang="en-US" dirty="0"/>
              <a:t>class Animal {</a:t>
            </a:r>
          </a:p>
          <a:p>
            <a:pPr marL="0" indent="0">
              <a:buNone/>
            </a:pPr>
            <a:r>
              <a:rPr lang="en-US" dirty="0"/>
              <a:t>    void </a:t>
            </a:r>
            <a:r>
              <a:rPr lang="en-US" dirty="0" err="1"/>
              <a:t>makeSound</a:t>
            </a:r>
            <a:r>
              <a:rPr lang="en-US" dirty="0"/>
              <a:t>() {</a:t>
            </a:r>
          </a:p>
          <a:p>
            <a:pPr marL="0" indent="0">
              <a:buNone/>
            </a:pPr>
            <a:r>
              <a:rPr lang="en-US" dirty="0"/>
              <a:t>        </a:t>
            </a:r>
            <a:r>
              <a:rPr lang="en-US" dirty="0" err="1"/>
              <a:t>System.out.println</a:t>
            </a:r>
            <a:r>
              <a:rPr lang="en-US" dirty="0"/>
              <a:t>("Animal makes a sound");</a:t>
            </a:r>
          </a:p>
          <a:p>
            <a:pPr marL="0" indent="0">
              <a:buNone/>
            </a:pPr>
            <a:r>
              <a:rPr lang="en-US" dirty="0"/>
              <a:t>    }</a:t>
            </a:r>
          </a:p>
          <a:p>
            <a:pPr marL="0" indent="0">
              <a:buNone/>
            </a:pPr>
            <a:r>
              <a:rPr lang="en-US" dirty="0"/>
              <a:t>}</a:t>
            </a:r>
          </a:p>
          <a:p>
            <a:pPr marL="0" indent="0">
              <a:buNone/>
            </a:pPr>
            <a:endParaRPr lang="en-US" dirty="0"/>
          </a:p>
          <a:p>
            <a:pPr marL="0" indent="0">
              <a:buNone/>
            </a:pPr>
            <a:r>
              <a:rPr lang="en-US" dirty="0"/>
              <a:t>class Dog extends Animal {</a:t>
            </a:r>
          </a:p>
          <a:p>
            <a:pPr marL="0" indent="0">
              <a:buNone/>
            </a:pPr>
            <a:r>
              <a:rPr lang="en-US" dirty="0"/>
              <a:t>    @Override</a:t>
            </a:r>
          </a:p>
          <a:p>
            <a:pPr marL="0" indent="0">
              <a:buNone/>
            </a:pPr>
            <a:r>
              <a:rPr lang="en-US" dirty="0"/>
              <a:t>    void </a:t>
            </a:r>
            <a:r>
              <a:rPr lang="en-US" dirty="0" err="1"/>
              <a:t>makeSound</a:t>
            </a:r>
            <a:r>
              <a:rPr lang="en-US" dirty="0"/>
              <a:t>() {</a:t>
            </a:r>
          </a:p>
          <a:p>
            <a:pPr marL="0" indent="0">
              <a:buNone/>
            </a:pPr>
            <a:r>
              <a:rPr lang="en-US" dirty="0"/>
              <a:t>        </a:t>
            </a:r>
            <a:r>
              <a:rPr lang="en-US" dirty="0" err="1"/>
              <a:t>System.out.println</a:t>
            </a:r>
            <a:r>
              <a:rPr lang="en-US" dirty="0"/>
              <a:t>("Dog barks");</a:t>
            </a:r>
          </a:p>
          <a:p>
            <a:pPr marL="0" indent="0">
              <a:buNone/>
            </a:pPr>
            <a:r>
              <a:rPr lang="en-US" dirty="0"/>
              <a:t>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327735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2838" y="626301"/>
            <a:ext cx="11190962" cy="5550662"/>
          </a:xfrm>
        </p:spPr>
        <p:txBody>
          <a:bodyPr>
            <a:normAutofit fontScale="47500" lnSpcReduction="20000"/>
          </a:bodyPr>
          <a:lstStyle/>
          <a:p>
            <a:pPr marL="0" indent="0">
              <a:buNone/>
            </a:pPr>
            <a:r>
              <a:rPr lang="en-US" dirty="0"/>
              <a:t>class Cat extends Animal {</a:t>
            </a:r>
          </a:p>
          <a:p>
            <a:pPr marL="0" indent="0">
              <a:buNone/>
            </a:pPr>
            <a:r>
              <a:rPr lang="en-US" dirty="0"/>
              <a:t>    @Override</a:t>
            </a:r>
          </a:p>
          <a:p>
            <a:pPr marL="0" indent="0">
              <a:buNone/>
            </a:pPr>
            <a:r>
              <a:rPr lang="en-US" dirty="0"/>
              <a:t>    void </a:t>
            </a:r>
            <a:r>
              <a:rPr lang="en-US" dirty="0" err="1"/>
              <a:t>makeSound</a:t>
            </a:r>
            <a:r>
              <a:rPr lang="en-US" dirty="0"/>
              <a:t>() {</a:t>
            </a:r>
          </a:p>
          <a:p>
            <a:pPr marL="0" indent="0">
              <a:buNone/>
            </a:pPr>
            <a:r>
              <a:rPr lang="en-US" dirty="0"/>
              <a:t>        </a:t>
            </a:r>
            <a:r>
              <a:rPr lang="en-US" dirty="0" err="1"/>
              <a:t>System.out.println</a:t>
            </a:r>
            <a:r>
              <a:rPr lang="en-US" dirty="0"/>
              <a:t>("Cat meows");</a:t>
            </a:r>
          </a:p>
          <a:p>
            <a:pPr marL="0" indent="0">
              <a:buNone/>
            </a:pPr>
            <a:r>
              <a:rPr lang="en-US" dirty="0"/>
              <a:t>    }</a:t>
            </a:r>
          </a:p>
          <a:p>
            <a:pPr marL="0" indent="0">
              <a:buNone/>
            </a:pPr>
            <a:r>
              <a:rPr lang="en-US" dirty="0"/>
              <a:t>}</a:t>
            </a:r>
          </a:p>
          <a:p>
            <a:pPr marL="0" indent="0">
              <a:buNone/>
            </a:pPr>
            <a:endParaRPr lang="en-US" dirty="0"/>
          </a:p>
          <a:p>
            <a:pPr marL="0" indent="0">
              <a:buNone/>
            </a:pPr>
            <a:r>
              <a:rPr lang="en-US" dirty="0"/>
              <a:t>public class Main {</a:t>
            </a:r>
          </a:p>
          <a:p>
            <a:pPr marL="0" indent="0">
              <a:buNone/>
            </a:pPr>
            <a:r>
              <a:rPr lang="en-US" dirty="0"/>
              <a:t>    public static void main(String[] </a:t>
            </a:r>
            <a:r>
              <a:rPr lang="en-US" dirty="0" err="1"/>
              <a:t>args</a:t>
            </a:r>
            <a:r>
              <a:rPr lang="en-US" dirty="0"/>
              <a:t>) {</a:t>
            </a:r>
          </a:p>
          <a:p>
            <a:pPr marL="0" indent="0">
              <a:buNone/>
            </a:pPr>
            <a:r>
              <a:rPr lang="en-US" dirty="0"/>
              <a:t>        Animal </a:t>
            </a:r>
            <a:r>
              <a:rPr lang="en-US" dirty="0" err="1"/>
              <a:t>myAnimal</a:t>
            </a:r>
            <a:r>
              <a:rPr lang="en-US" dirty="0"/>
              <a:t>;  // Parent class reference</a:t>
            </a:r>
          </a:p>
          <a:p>
            <a:pPr marL="0" indent="0">
              <a:buNone/>
            </a:pPr>
            <a:endParaRPr lang="en-US" dirty="0"/>
          </a:p>
          <a:p>
            <a:pPr marL="0" indent="0">
              <a:buNone/>
            </a:pPr>
            <a:r>
              <a:rPr lang="en-US" dirty="0"/>
              <a:t>        </a:t>
            </a:r>
            <a:r>
              <a:rPr lang="en-US" dirty="0" err="1"/>
              <a:t>myAnimal</a:t>
            </a:r>
            <a:r>
              <a:rPr lang="en-US" dirty="0"/>
              <a:t> = new Dog();  // Dog object assigned</a:t>
            </a:r>
          </a:p>
          <a:p>
            <a:pPr marL="0" indent="0">
              <a:buNone/>
            </a:pPr>
            <a:r>
              <a:rPr lang="en-US" dirty="0"/>
              <a:t>        </a:t>
            </a:r>
            <a:r>
              <a:rPr lang="en-US" dirty="0" err="1"/>
              <a:t>myAnimal.makeSound</a:t>
            </a:r>
            <a:r>
              <a:rPr lang="en-US" dirty="0"/>
              <a:t>();  // Calls Dog's </a:t>
            </a:r>
            <a:r>
              <a:rPr lang="en-US" dirty="0" err="1"/>
              <a:t>makeSound</a:t>
            </a:r>
            <a:r>
              <a:rPr lang="en-US" dirty="0"/>
              <a:t>()</a:t>
            </a:r>
          </a:p>
          <a:p>
            <a:pPr marL="0" indent="0">
              <a:buNone/>
            </a:pPr>
            <a:endParaRPr lang="en-US" dirty="0"/>
          </a:p>
          <a:p>
            <a:pPr marL="0" indent="0">
              <a:buNone/>
            </a:pPr>
            <a:r>
              <a:rPr lang="en-US" dirty="0"/>
              <a:t>        </a:t>
            </a:r>
            <a:r>
              <a:rPr lang="en-US" dirty="0" err="1"/>
              <a:t>myAnimal</a:t>
            </a:r>
            <a:r>
              <a:rPr lang="en-US" dirty="0"/>
              <a:t> = new Cat();  // Cat object assigned</a:t>
            </a:r>
          </a:p>
          <a:p>
            <a:pPr marL="0" indent="0">
              <a:buNone/>
            </a:pPr>
            <a:r>
              <a:rPr lang="en-US" dirty="0"/>
              <a:t>        </a:t>
            </a:r>
            <a:r>
              <a:rPr lang="en-US" dirty="0" err="1"/>
              <a:t>myAnimal.makeSound</a:t>
            </a:r>
            <a:r>
              <a:rPr lang="en-US" dirty="0"/>
              <a:t>();  // Calls Cat's </a:t>
            </a:r>
            <a:r>
              <a:rPr lang="en-US" dirty="0" err="1"/>
              <a:t>makeSound</a:t>
            </a:r>
            <a:r>
              <a:rPr lang="en-US" dirty="0"/>
              <a:t>()</a:t>
            </a:r>
          </a:p>
          <a:p>
            <a:pPr marL="0" indent="0">
              <a:buNone/>
            </a:pPr>
            <a:r>
              <a:rPr lang="en-US" dirty="0"/>
              <a:t>    }</a:t>
            </a:r>
          </a:p>
          <a:p>
            <a:pPr marL="0" indent="0">
              <a:buNone/>
            </a:pPr>
            <a:r>
              <a:rPr lang="en-US" dirty="0"/>
              <a:t>}</a:t>
            </a:r>
          </a:p>
          <a:p>
            <a:pPr marL="0" indent="0">
              <a:buNone/>
            </a:pPr>
            <a:r>
              <a:rPr lang="en-US" dirty="0"/>
              <a:t>Output-</a:t>
            </a:r>
          </a:p>
          <a:p>
            <a:pPr marL="0" indent="0">
              <a:buNone/>
            </a:pPr>
            <a:r>
              <a:rPr lang="en-US" dirty="0"/>
              <a:t>Dog barks</a:t>
            </a:r>
          </a:p>
          <a:p>
            <a:pPr marL="0" indent="0">
              <a:buNone/>
            </a:pPr>
            <a:r>
              <a:rPr lang="en-US" dirty="0"/>
              <a:t>Cat meows</a:t>
            </a:r>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3416103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417" y="638826"/>
            <a:ext cx="11311002" cy="6475958"/>
          </a:xfrm>
        </p:spPr>
        <p:txBody>
          <a:bodyPr>
            <a:normAutofit fontScale="25000" lnSpcReduction="20000"/>
          </a:bodyPr>
          <a:lstStyle/>
          <a:p>
            <a:pPr fontAlgn="base"/>
            <a:r>
              <a:rPr lang="en-US" sz="7200" b="1" dirty="0"/>
              <a:t>Subtype of Run-Time Polymorphism-</a:t>
            </a:r>
            <a:endParaRPr lang="en-US" sz="7200" dirty="0"/>
          </a:p>
          <a:p>
            <a:pPr fontAlgn="base"/>
            <a:r>
              <a:rPr lang="en-US" sz="7200" b="1" dirty="0"/>
              <a:t>Virtual Functions</a:t>
            </a:r>
            <a:r>
              <a:rPr lang="en-US" sz="7200" dirty="0"/>
              <a:t>: It allows an object of a derived class to behave as if it were an object of the base class. The derived class can override the virtual function of the base class to provide its own implementation. The function call is resolved at runtime, depending on the actual type of the object.</a:t>
            </a:r>
            <a:r>
              <a:rPr lang="en-US" sz="7200" b="1" dirty="0"/>
              <a:t> </a:t>
            </a:r>
          </a:p>
          <a:p>
            <a:pPr marL="0" indent="0" fontAlgn="base">
              <a:buNone/>
            </a:pPr>
            <a:endParaRPr lang="en-US" sz="7200" b="1" dirty="0"/>
          </a:p>
          <a:p>
            <a:pPr fontAlgn="base"/>
            <a:r>
              <a:rPr lang="en-US" sz="7200" b="1" dirty="0"/>
              <a:t>Advantages of Polymorphism-</a:t>
            </a:r>
          </a:p>
          <a:p>
            <a:r>
              <a:rPr lang="en-US" sz="7200" b="1" dirty="0"/>
              <a:t>Code Reusability</a:t>
            </a:r>
            <a:r>
              <a:rPr lang="en-US" sz="7200" dirty="0"/>
              <a:t> – Methods can be reused with different data types.</a:t>
            </a:r>
          </a:p>
          <a:p>
            <a:r>
              <a:rPr lang="en-US" sz="7200" b="1" dirty="0"/>
              <a:t>Scalability</a:t>
            </a:r>
            <a:r>
              <a:rPr lang="en-US" sz="7200" dirty="0"/>
              <a:t> – Easy to extend and modify existing code.</a:t>
            </a:r>
          </a:p>
          <a:p>
            <a:r>
              <a:rPr lang="en-US" sz="7200" b="1" dirty="0"/>
              <a:t>Maintainability</a:t>
            </a:r>
            <a:r>
              <a:rPr lang="en-US" sz="7200" dirty="0"/>
              <a:t> – Code is cleaner and easier to understand.</a:t>
            </a:r>
          </a:p>
          <a:p>
            <a:r>
              <a:rPr lang="en-US" sz="7200" b="1" dirty="0"/>
              <a:t>Reduces Redundancy</a:t>
            </a:r>
            <a:r>
              <a:rPr lang="en-US" sz="7200" dirty="0"/>
              <a:t> – Avoids duplicate code by allowing multiple implementations under a single interface.</a:t>
            </a:r>
            <a:endParaRPr lang="en-US" sz="7200" b="1" dirty="0"/>
          </a:p>
          <a:p>
            <a:pPr fontAlgn="base"/>
            <a:r>
              <a:rPr lang="en-US" sz="7200" dirty="0"/>
              <a:t>Increases code reusability by allowing objects of different classes to be treated as objects of a common class.</a:t>
            </a:r>
          </a:p>
          <a:p>
            <a:pPr fontAlgn="base"/>
            <a:r>
              <a:rPr lang="en-US" sz="7200" dirty="0"/>
              <a:t>Improves readability and maintainability of code by reducing the amount of code that needs to be written and maintained.</a:t>
            </a:r>
          </a:p>
          <a:p>
            <a:pPr fontAlgn="base"/>
            <a:r>
              <a:rPr lang="en-US" sz="7200" dirty="0"/>
              <a:t>Supports dynamic binding, enabling the correct method to be called at runtime, based on the actual class of the object.</a:t>
            </a:r>
          </a:p>
          <a:p>
            <a:pPr fontAlgn="base"/>
            <a:r>
              <a:rPr lang="en-US" sz="7200" dirty="0"/>
              <a:t>Enables objects to be treated as a single type, making it easier to write generic code that can handle objects of different types.</a:t>
            </a:r>
          </a:p>
          <a:p>
            <a:pPr fontAlgn="base"/>
            <a:r>
              <a:rPr lang="en-US" sz="7200" b="1" dirty="0"/>
              <a:t>Disadvantages of Polymorphism</a:t>
            </a:r>
          </a:p>
          <a:p>
            <a:pPr fontAlgn="base"/>
            <a:r>
              <a:rPr lang="en-US" sz="7200" dirty="0"/>
              <a:t>Can make it more difficult to understand the behavior of an object, especially if the code is complex.</a:t>
            </a:r>
          </a:p>
          <a:p>
            <a:pPr fontAlgn="base"/>
            <a:r>
              <a:rPr lang="en-US" sz="7200" dirty="0"/>
              <a:t>This may lead to performance issues, as polymorphic behavior may require additional computations at runtime.</a:t>
            </a:r>
          </a:p>
          <a:p>
            <a:pPr fontAlgn="base"/>
            <a:endParaRPr lang="en-US" dirty="0"/>
          </a:p>
          <a:p>
            <a:pPr fontAlgn="base"/>
            <a:endParaRPr lang="en-US" dirty="0"/>
          </a:p>
          <a:p>
            <a:endParaRPr lang="en-US" dirty="0"/>
          </a:p>
        </p:txBody>
      </p:sp>
    </p:spTree>
    <p:extLst>
      <p:ext uri="{BB962C8B-B14F-4D97-AF65-F5344CB8AC3E}">
        <p14:creationId xmlns:p14="http://schemas.microsoft.com/office/powerpoint/2010/main" val="6329629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823608203"/>
              </p:ext>
            </p:extLst>
          </p:nvPr>
        </p:nvGraphicFramePr>
        <p:xfrm>
          <a:off x="437367" y="1129326"/>
          <a:ext cx="10515600" cy="2194560"/>
        </p:xfrm>
        <a:graphic>
          <a:graphicData uri="http://schemas.openxmlformats.org/drawingml/2006/table">
            <a:tbl>
              <a:tblPr/>
              <a:tblGrid>
                <a:gridCol w="3505200">
                  <a:extLst>
                    <a:ext uri="{9D8B030D-6E8A-4147-A177-3AD203B41FA5}">
                      <a16:colId xmlns="" xmlns:a16="http://schemas.microsoft.com/office/drawing/2014/main" val="20000"/>
                    </a:ext>
                  </a:extLst>
                </a:gridCol>
                <a:gridCol w="3505200">
                  <a:extLst>
                    <a:ext uri="{9D8B030D-6E8A-4147-A177-3AD203B41FA5}">
                      <a16:colId xmlns="" xmlns:a16="http://schemas.microsoft.com/office/drawing/2014/main" val="20001"/>
                    </a:ext>
                  </a:extLst>
                </a:gridCol>
                <a:gridCol w="3505200">
                  <a:extLst>
                    <a:ext uri="{9D8B030D-6E8A-4147-A177-3AD203B41FA5}">
                      <a16:colId xmlns="" xmlns:a16="http://schemas.microsoft.com/office/drawing/2014/main" val="20002"/>
                    </a:ext>
                  </a:extLst>
                </a:gridCol>
              </a:tblGrid>
              <a:tr h="0">
                <a:tc>
                  <a:txBody>
                    <a:bodyPr/>
                    <a:lstStyle/>
                    <a:p>
                      <a:r>
                        <a:rPr lang="en-US" dirty="0"/>
                        <a:t>Feature</a:t>
                      </a:r>
                    </a:p>
                  </a:txBody>
                  <a:tcPr anchor="ctr">
                    <a:lnL>
                      <a:noFill/>
                    </a:lnL>
                    <a:lnR>
                      <a:noFill/>
                    </a:lnR>
                    <a:lnT>
                      <a:noFill/>
                    </a:lnT>
                    <a:lnB>
                      <a:noFill/>
                    </a:lnB>
                  </a:tcPr>
                </a:tc>
                <a:tc>
                  <a:txBody>
                    <a:bodyPr/>
                    <a:lstStyle/>
                    <a:p>
                      <a:r>
                        <a:rPr lang="en-US" dirty="0"/>
                        <a:t>Compile-Time Polymorphism</a:t>
                      </a:r>
                    </a:p>
                  </a:txBody>
                  <a:tcPr anchor="ctr">
                    <a:lnL>
                      <a:noFill/>
                    </a:lnL>
                    <a:lnR>
                      <a:noFill/>
                    </a:lnR>
                    <a:lnT>
                      <a:noFill/>
                    </a:lnT>
                    <a:lnB>
                      <a:noFill/>
                    </a:lnB>
                  </a:tcPr>
                </a:tc>
                <a:tc>
                  <a:txBody>
                    <a:bodyPr/>
                    <a:lstStyle/>
                    <a:p>
                      <a:r>
                        <a:rPr lang="en-US"/>
                        <a:t>Runtime Polymorphism</a:t>
                      </a:r>
                    </a:p>
                  </a:txBody>
                  <a:tcPr anchor="ctr">
                    <a:lnL>
                      <a:noFill/>
                    </a:lnL>
                    <a:lnR>
                      <a:noFill/>
                    </a:lnR>
                    <a:lnT>
                      <a:noFill/>
                    </a:lnT>
                    <a:lnB>
                      <a:noFill/>
                    </a:lnB>
                  </a:tcPr>
                </a:tc>
                <a:extLst>
                  <a:ext uri="{0D108BD9-81ED-4DB2-BD59-A6C34878D82A}">
                    <a16:rowId xmlns="" xmlns:a16="http://schemas.microsoft.com/office/drawing/2014/main" val="10000"/>
                  </a:ext>
                </a:extLst>
              </a:tr>
              <a:tr h="0">
                <a:tc>
                  <a:txBody>
                    <a:bodyPr/>
                    <a:lstStyle/>
                    <a:p>
                      <a:r>
                        <a:rPr lang="en-US" b="1" dirty="0"/>
                        <a:t>Achieved Through</a:t>
                      </a:r>
                      <a:endParaRPr lang="en-US" dirty="0"/>
                    </a:p>
                  </a:txBody>
                  <a:tcPr anchor="ctr">
                    <a:lnL>
                      <a:noFill/>
                    </a:lnL>
                    <a:lnR>
                      <a:noFill/>
                    </a:lnR>
                    <a:lnT>
                      <a:noFill/>
                    </a:lnT>
                    <a:lnB>
                      <a:noFill/>
                    </a:lnB>
                  </a:tcPr>
                </a:tc>
                <a:tc>
                  <a:txBody>
                    <a:bodyPr/>
                    <a:lstStyle/>
                    <a:p>
                      <a:r>
                        <a:rPr lang="en-US"/>
                        <a:t>Method Overloading</a:t>
                      </a:r>
                    </a:p>
                  </a:txBody>
                  <a:tcPr anchor="ctr">
                    <a:lnL>
                      <a:noFill/>
                    </a:lnL>
                    <a:lnR>
                      <a:noFill/>
                    </a:lnR>
                    <a:lnT>
                      <a:noFill/>
                    </a:lnT>
                    <a:lnB>
                      <a:noFill/>
                    </a:lnB>
                  </a:tcPr>
                </a:tc>
                <a:tc>
                  <a:txBody>
                    <a:bodyPr/>
                    <a:lstStyle/>
                    <a:p>
                      <a:r>
                        <a:rPr lang="en-US"/>
                        <a:t>Method Overriding</a:t>
                      </a:r>
                    </a:p>
                  </a:txBody>
                  <a:tcPr anchor="ctr">
                    <a:lnL>
                      <a:noFill/>
                    </a:lnL>
                    <a:lnR>
                      <a:noFill/>
                    </a:lnR>
                    <a:lnT>
                      <a:noFill/>
                    </a:lnT>
                    <a:lnB>
                      <a:noFill/>
                    </a:lnB>
                  </a:tcPr>
                </a:tc>
                <a:extLst>
                  <a:ext uri="{0D108BD9-81ED-4DB2-BD59-A6C34878D82A}">
                    <a16:rowId xmlns="" xmlns:a16="http://schemas.microsoft.com/office/drawing/2014/main" val="10001"/>
                  </a:ext>
                </a:extLst>
              </a:tr>
              <a:tr h="0">
                <a:tc>
                  <a:txBody>
                    <a:bodyPr/>
                    <a:lstStyle/>
                    <a:p>
                      <a:r>
                        <a:rPr lang="en-US" b="1"/>
                        <a:t>Resolution Time</a:t>
                      </a:r>
                      <a:endParaRPr lang="en-US"/>
                    </a:p>
                  </a:txBody>
                  <a:tcPr anchor="ctr">
                    <a:lnL>
                      <a:noFill/>
                    </a:lnL>
                    <a:lnR>
                      <a:noFill/>
                    </a:lnR>
                    <a:lnT>
                      <a:noFill/>
                    </a:lnT>
                    <a:lnB>
                      <a:noFill/>
                    </a:lnB>
                  </a:tcPr>
                </a:tc>
                <a:tc>
                  <a:txBody>
                    <a:bodyPr/>
                    <a:lstStyle/>
                    <a:p>
                      <a:r>
                        <a:rPr lang="en-US"/>
                        <a:t>Compile Time</a:t>
                      </a:r>
                    </a:p>
                  </a:txBody>
                  <a:tcPr anchor="ctr">
                    <a:lnL>
                      <a:noFill/>
                    </a:lnL>
                    <a:lnR>
                      <a:noFill/>
                    </a:lnR>
                    <a:lnT>
                      <a:noFill/>
                    </a:lnT>
                    <a:lnB>
                      <a:noFill/>
                    </a:lnB>
                  </a:tcPr>
                </a:tc>
                <a:tc>
                  <a:txBody>
                    <a:bodyPr/>
                    <a:lstStyle/>
                    <a:p>
                      <a:r>
                        <a:rPr lang="en-US"/>
                        <a:t>Runtime</a:t>
                      </a:r>
                    </a:p>
                  </a:txBody>
                  <a:tcPr anchor="ctr">
                    <a:lnL>
                      <a:noFill/>
                    </a:lnL>
                    <a:lnR>
                      <a:noFill/>
                    </a:lnR>
                    <a:lnT>
                      <a:noFill/>
                    </a:lnT>
                    <a:lnB>
                      <a:noFill/>
                    </a:lnB>
                  </a:tcPr>
                </a:tc>
                <a:extLst>
                  <a:ext uri="{0D108BD9-81ED-4DB2-BD59-A6C34878D82A}">
                    <a16:rowId xmlns="" xmlns:a16="http://schemas.microsoft.com/office/drawing/2014/main" val="10002"/>
                  </a:ext>
                </a:extLst>
              </a:tr>
              <a:tr h="0">
                <a:tc>
                  <a:txBody>
                    <a:bodyPr/>
                    <a:lstStyle/>
                    <a:p>
                      <a:r>
                        <a:rPr lang="en-US" b="1"/>
                        <a:t>Binding Type</a:t>
                      </a:r>
                      <a:endParaRPr lang="en-US"/>
                    </a:p>
                  </a:txBody>
                  <a:tcPr anchor="ctr">
                    <a:lnL>
                      <a:noFill/>
                    </a:lnL>
                    <a:lnR>
                      <a:noFill/>
                    </a:lnR>
                    <a:lnT>
                      <a:noFill/>
                    </a:lnT>
                    <a:lnB>
                      <a:noFill/>
                    </a:lnB>
                  </a:tcPr>
                </a:tc>
                <a:tc>
                  <a:txBody>
                    <a:bodyPr/>
                    <a:lstStyle/>
                    <a:p>
                      <a:r>
                        <a:rPr lang="en-US"/>
                        <a:t>Static Binding</a:t>
                      </a:r>
                    </a:p>
                  </a:txBody>
                  <a:tcPr anchor="ctr">
                    <a:lnL>
                      <a:noFill/>
                    </a:lnL>
                    <a:lnR>
                      <a:noFill/>
                    </a:lnR>
                    <a:lnT>
                      <a:noFill/>
                    </a:lnT>
                    <a:lnB>
                      <a:noFill/>
                    </a:lnB>
                  </a:tcPr>
                </a:tc>
                <a:tc>
                  <a:txBody>
                    <a:bodyPr/>
                    <a:lstStyle/>
                    <a:p>
                      <a:r>
                        <a:rPr lang="en-US"/>
                        <a:t>Dynamic Binding</a:t>
                      </a:r>
                    </a:p>
                  </a:txBody>
                  <a:tcPr anchor="ctr">
                    <a:lnL>
                      <a:noFill/>
                    </a:lnL>
                    <a:lnR>
                      <a:noFill/>
                    </a:lnR>
                    <a:lnT>
                      <a:noFill/>
                    </a:lnT>
                    <a:lnB>
                      <a:noFill/>
                    </a:lnB>
                  </a:tcPr>
                </a:tc>
                <a:extLst>
                  <a:ext uri="{0D108BD9-81ED-4DB2-BD59-A6C34878D82A}">
                    <a16:rowId xmlns="" xmlns:a16="http://schemas.microsoft.com/office/drawing/2014/main" val="10003"/>
                  </a:ext>
                </a:extLst>
              </a:tr>
              <a:tr h="0">
                <a:tc>
                  <a:txBody>
                    <a:bodyPr/>
                    <a:lstStyle/>
                    <a:p>
                      <a:r>
                        <a:rPr lang="en-US" b="1"/>
                        <a:t>Flexibility</a:t>
                      </a:r>
                      <a:endParaRPr lang="en-US"/>
                    </a:p>
                  </a:txBody>
                  <a:tcPr anchor="ctr">
                    <a:lnL>
                      <a:noFill/>
                    </a:lnL>
                    <a:lnR>
                      <a:noFill/>
                    </a:lnR>
                    <a:lnT>
                      <a:noFill/>
                    </a:lnT>
                    <a:lnB>
                      <a:noFill/>
                    </a:lnB>
                  </a:tcPr>
                </a:tc>
                <a:tc>
                  <a:txBody>
                    <a:bodyPr/>
                    <a:lstStyle/>
                    <a:p>
                      <a:r>
                        <a:rPr lang="en-US"/>
                        <a:t>Less Flexible</a:t>
                      </a:r>
                    </a:p>
                  </a:txBody>
                  <a:tcPr anchor="ctr">
                    <a:lnL>
                      <a:noFill/>
                    </a:lnL>
                    <a:lnR>
                      <a:noFill/>
                    </a:lnR>
                    <a:lnT>
                      <a:noFill/>
                    </a:lnT>
                    <a:lnB>
                      <a:noFill/>
                    </a:lnB>
                  </a:tcPr>
                </a:tc>
                <a:tc>
                  <a:txBody>
                    <a:bodyPr/>
                    <a:lstStyle/>
                    <a:p>
                      <a:r>
                        <a:rPr lang="en-US"/>
                        <a:t>More Flexible</a:t>
                      </a:r>
                    </a:p>
                  </a:txBody>
                  <a:tcPr anchor="ctr">
                    <a:lnL>
                      <a:noFill/>
                    </a:lnL>
                    <a:lnR>
                      <a:noFill/>
                    </a:lnR>
                    <a:lnT>
                      <a:noFill/>
                    </a:lnT>
                    <a:lnB>
                      <a:noFill/>
                    </a:lnB>
                  </a:tcPr>
                </a:tc>
                <a:extLst>
                  <a:ext uri="{0D108BD9-81ED-4DB2-BD59-A6C34878D82A}">
                    <a16:rowId xmlns="" xmlns:a16="http://schemas.microsoft.com/office/drawing/2014/main" val="10004"/>
                  </a:ext>
                </a:extLst>
              </a:tr>
              <a:tr h="0">
                <a:tc>
                  <a:txBody>
                    <a:bodyPr/>
                    <a:lstStyle/>
                    <a:p>
                      <a:r>
                        <a:rPr lang="en-US" b="1"/>
                        <a:t>Performance</a:t>
                      </a:r>
                      <a:endParaRPr lang="en-US"/>
                    </a:p>
                  </a:txBody>
                  <a:tcPr anchor="ctr">
                    <a:lnL>
                      <a:noFill/>
                    </a:lnL>
                    <a:lnR>
                      <a:noFill/>
                    </a:lnR>
                    <a:lnT>
                      <a:noFill/>
                    </a:lnT>
                    <a:lnB>
                      <a:noFill/>
                    </a:lnB>
                  </a:tcPr>
                </a:tc>
                <a:tc>
                  <a:txBody>
                    <a:bodyPr/>
                    <a:lstStyle/>
                    <a:p>
                      <a:r>
                        <a:rPr lang="en-US"/>
                        <a:t>Faster Execution</a:t>
                      </a:r>
                    </a:p>
                  </a:txBody>
                  <a:tcPr anchor="ctr">
                    <a:lnL>
                      <a:noFill/>
                    </a:lnL>
                    <a:lnR>
                      <a:noFill/>
                    </a:lnR>
                    <a:lnT>
                      <a:noFill/>
                    </a:lnT>
                    <a:lnB>
                      <a:noFill/>
                    </a:lnB>
                  </a:tcPr>
                </a:tc>
                <a:tc>
                  <a:txBody>
                    <a:bodyPr/>
                    <a:lstStyle/>
                    <a:p>
                      <a:r>
                        <a:rPr lang="en-US" dirty="0"/>
                        <a:t>Slightly Slower</a:t>
                      </a:r>
                    </a:p>
                  </a:txBody>
                  <a:tcPr anchor="ctr">
                    <a:lnL>
                      <a:noFill/>
                    </a:lnL>
                    <a:lnR>
                      <a:noFill/>
                    </a:lnR>
                    <a:lnT>
                      <a:noFill/>
                    </a:lnT>
                    <a:lnB>
                      <a:noFill/>
                    </a:lnB>
                  </a:tcPr>
                </a:tc>
                <a:extLst>
                  <a:ext uri="{0D108BD9-81ED-4DB2-BD59-A6C34878D82A}">
                    <a16:rowId xmlns="" xmlns:a16="http://schemas.microsoft.com/office/drawing/2014/main" val="10005"/>
                  </a:ext>
                </a:extLst>
              </a:tr>
            </a:tbl>
          </a:graphicData>
        </a:graphic>
      </p:graphicFrame>
      <p:sp>
        <p:nvSpPr>
          <p:cNvPr id="5" name="Rectangle 1"/>
          <p:cNvSpPr>
            <a:spLocks noChangeArrowheads="1"/>
          </p:cNvSpPr>
          <p:nvPr/>
        </p:nvSpPr>
        <p:spPr bwMode="auto">
          <a:xfrm>
            <a:off x="526093" y="513773"/>
            <a:ext cx="12504107"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600" b="1" i="0" u="none" strike="noStrike" cap="none" normalizeH="0" baseline="0" dirty="0">
                <a:ln>
                  <a:noFill/>
                </a:ln>
                <a:solidFill>
                  <a:schemeClr val="tx1"/>
                </a:solidFill>
                <a:effectLst/>
                <a:latin typeface="Arial" charset="0"/>
                <a:cs typeface="Arial" charset="0"/>
              </a:rPr>
              <a:t>Key Differences Between Compile-Time and Runtime Polymorphism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38315446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6"/>
            <a:ext cx="11353800" cy="874952"/>
          </a:xfrm>
        </p:spPr>
        <p:txBody>
          <a:bodyPr>
            <a:normAutofit/>
          </a:bodyPr>
          <a:lstStyle/>
          <a:p>
            <a:pPr marL="571500" indent="-571500">
              <a:buFont typeface="Arial" pitchFamily="34" charset="0"/>
              <a:buChar char="•"/>
            </a:pPr>
            <a:r>
              <a:rPr lang="en-US" sz="3600" b="1" dirty="0">
                <a:latin typeface="Times New Roman" pitchFamily="18" charset="0"/>
                <a:cs typeface="Times New Roman" pitchFamily="18" charset="0"/>
              </a:rPr>
              <a:t>Inheritance In java</a:t>
            </a:r>
          </a:p>
        </p:txBody>
      </p:sp>
      <p:sp>
        <p:nvSpPr>
          <p:cNvPr id="3" name="Content Placeholder 2"/>
          <p:cNvSpPr>
            <a:spLocks noGrp="1"/>
          </p:cNvSpPr>
          <p:nvPr>
            <p:ph idx="1"/>
          </p:nvPr>
        </p:nvSpPr>
        <p:spPr>
          <a:xfrm>
            <a:off x="100208" y="1189973"/>
            <a:ext cx="11253592" cy="4986990"/>
          </a:xfrm>
        </p:spPr>
        <p:txBody>
          <a:bodyPr>
            <a:normAutofit fontScale="92500" lnSpcReduction="20000"/>
          </a:bodyPr>
          <a:lstStyle/>
          <a:p>
            <a:r>
              <a:rPr lang="en-US" dirty="0"/>
              <a:t>Java, Inheritance is an important pillar of OOP(Object-Oriented Programming). It is the mechanism in Java by which one class is allowed to inherit the features(fields and methods) of another class. </a:t>
            </a:r>
          </a:p>
          <a:p>
            <a:r>
              <a:rPr lang="en-US" dirty="0"/>
              <a:t>In Java, Inheritance means creating new classes based on existing ones. A class that inherits from another class can reuse the methods and fields of that class. In addition, you can add new fields and methods to your current class as well.  </a:t>
            </a:r>
          </a:p>
          <a:p>
            <a:pPr fontAlgn="base"/>
            <a:r>
              <a:rPr lang="en-US" b="1" dirty="0"/>
              <a:t>Why Do We Need Java Inheritance?</a:t>
            </a:r>
          </a:p>
          <a:p>
            <a:pPr fontAlgn="base"/>
            <a:r>
              <a:rPr lang="en-US" b="1" dirty="0"/>
              <a:t>Code Reusability: </a:t>
            </a:r>
            <a:r>
              <a:rPr lang="en-US" dirty="0"/>
              <a:t>The code written in the Superclass is common to all subclasses. Child classes can directly use the parent class code.</a:t>
            </a:r>
          </a:p>
          <a:p>
            <a:pPr fontAlgn="base"/>
            <a:r>
              <a:rPr lang="en-US" b="1" dirty="0"/>
              <a:t>Method Overriding: </a:t>
            </a:r>
            <a:r>
              <a:rPr lang="en-US" u="sng" dirty="0">
                <a:hlinkClick r:id="rId2"/>
              </a:rPr>
              <a:t>Method Overriding</a:t>
            </a:r>
            <a:r>
              <a:rPr lang="en-US" dirty="0"/>
              <a:t> is achievable only through Inheritance. It is one of the ways by which Java achieves Run Time Polymorphism.</a:t>
            </a:r>
          </a:p>
          <a:p>
            <a:pPr fontAlgn="base"/>
            <a:r>
              <a:rPr lang="en-US" b="1" dirty="0"/>
              <a:t>Abstraction: </a:t>
            </a:r>
            <a:r>
              <a:rPr lang="en-US" dirty="0"/>
              <a:t>The concept of abstract where we do not have to provide all details, is achieved through inheritance. </a:t>
            </a:r>
            <a:r>
              <a:rPr lang="en-US" u="sng" dirty="0">
                <a:hlinkClick r:id="rId3"/>
              </a:rPr>
              <a:t>Abstraction </a:t>
            </a:r>
            <a:r>
              <a:rPr lang="en-US" dirty="0"/>
              <a:t>only shows the functionality to the user.</a:t>
            </a:r>
          </a:p>
          <a:p>
            <a:endParaRPr lang="en-US" dirty="0"/>
          </a:p>
        </p:txBody>
      </p:sp>
    </p:spTree>
    <p:extLst>
      <p:ext uri="{BB962C8B-B14F-4D97-AF65-F5344CB8AC3E}">
        <p14:creationId xmlns:p14="http://schemas.microsoft.com/office/powerpoint/2010/main" val="14962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099" y="400833"/>
            <a:ext cx="11065701" cy="5776130"/>
          </a:xfrm>
        </p:spPr>
        <p:txBody>
          <a:bodyPr/>
          <a:lstStyle/>
          <a:p>
            <a:pPr fontAlgn="base"/>
            <a:r>
              <a:rPr lang="en-US" b="1" dirty="0"/>
              <a:t>How to Use Inheritance in Java?</a:t>
            </a:r>
          </a:p>
          <a:p>
            <a:pPr fontAlgn="base"/>
            <a:r>
              <a:rPr lang="en-US" dirty="0"/>
              <a:t>The </a:t>
            </a:r>
            <a:r>
              <a:rPr lang="en-US" b="1" dirty="0"/>
              <a:t>extends keyword </a:t>
            </a:r>
            <a:r>
              <a:rPr lang="en-US" dirty="0"/>
              <a:t>is used for inheritance in Java. Using the extends keyword indicates you are derived from an existing class. In other words, “extends” refers to increased functionality.</a:t>
            </a:r>
          </a:p>
          <a:p>
            <a:pPr fontAlgn="base"/>
            <a:r>
              <a:rPr lang="en-US" b="1" dirty="0"/>
              <a:t>Syntax : </a:t>
            </a:r>
            <a:endParaRPr lang="en-US" dirty="0"/>
          </a:p>
          <a:p>
            <a:r>
              <a:rPr lang="en-US" dirty="0"/>
              <a:t>class </a:t>
            </a:r>
            <a:r>
              <a:rPr lang="en-US" dirty="0" err="1"/>
              <a:t>DerivedClass</a:t>
            </a:r>
            <a:r>
              <a:rPr lang="en-US" dirty="0"/>
              <a:t> extends </a:t>
            </a:r>
            <a:r>
              <a:rPr lang="en-US" dirty="0" err="1"/>
              <a:t>BaseClass</a:t>
            </a:r>
            <a:r>
              <a:rPr lang="en-US" dirty="0"/>
              <a:t> </a:t>
            </a:r>
            <a:br>
              <a:rPr lang="en-US" dirty="0"/>
            </a:br>
            <a:r>
              <a:rPr lang="en-US" dirty="0"/>
              <a:t>{ </a:t>
            </a:r>
            <a:br>
              <a:rPr lang="en-US" dirty="0"/>
            </a:br>
            <a:r>
              <a:rPr lang="en-US" dirty="0"/>
              <a:t>//methods and fields </a:t>
            </a:r>
            <a:br>
              <a:rPr lang="en-US" dirty="0"/>
            </a:br>
            <a:r>
              <a:rPr lang="en-US" dirty="0"/>
              <a:t>} </a:t>
            </a:r>
          </a:p>
        </p:txBody>
      </p:sp>
    </p:spTree>
    <p:extLst>
      <p:ext uri="{BB962C8B-B14F-4D97-AF65-F5344CB8AC3E}">
        <p14:creationId xmlns:p14="http://schemas.microsoft.com/office/powerpoint/2010/main" val="33381380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416" y="137787"/>
            <a:ext cx="11153385" cy="6939418"/>
          </a:xfrm>
        </p:spPr>
        <p:txBody>
          <a:bodyPr>
            <a:normAutofit fontScale="25000" lnSpcReduction="20000"/>
          </a:bodyPr>
          <a:lstStyle/>
          <a:p>
            <a:pPr marL="0" indent="0">
              <a:buNone/>
            </a:pPr>
            <a:r>
              <a:rPr lang="en-US" sz="5500" dirty="0"/>
              <a:t>// Java Program to illustrate Inheritance (concise)</a:t>
            </a:r>
          </a:p>
          <a:p>
            <a:pPr marL="0" indent="0">
              <a:buNone/>
            </a:pPr>
            <a:endParaRPr lang="en-US" sz="5500" dirty="0"/>
          </a:p>
          <a:p>
            <a:pPr marL="0" indent="0">
              <a:buNone/>
            </a:pPr>
            <a:r>
              <a:rPr lang="en-US" sz="5500" dirty="0"/>
              <a:t>import java.io.*;</a:t>
            </a:r>
          </a:p>
          <a:p>
            <a:pPr marL="0" indent="0">
              <a:buNone/>
            </a:pPr>
            <a:endParaRPr lang="en-US" sz="5500" dirty="0"/>
          </a:p>
          <a:p>
            <a:pPr marL="0" indent="0">
              <a:buNone/>
            </a:pPr>
            <a:r>
              <a:rPr lang="en-US" sz="5500" dirty="0"/>
              <a:t>// Base or Super Class</a:t>
            </a:r>
          </a:p>
          <a:p>
            <a:pPr marL="0" indent="0">
              <a:buNone/>
            </a:pPr>
            <a:r>
              <a:rPr lang="en-US" sz="5500" dirty="0"/>
              <a:t>class Employee {</a:t>
            </a:r>
          </a:p>
          <a:p>
            <a:pPr marL="0" indent="0">
              <a:buNone/>
            </a:pPr>
            <a:r>
              <a:rPr lang="en-US" sz="5500" dirty="0"/>
              <a:t>    </a:t>
            </a:r>
            <a:r>
              <a:rPr lang="en-US" sz="5500" dirty="0" err="1"/>
              <a:t>int</a:t>
            </a:r>
            <a:r>
              <a:rPr lang="en-US" sz="5500" dirty="0"/>
              <a:t> salary = 60000;</a:t>
            </a:r>
          </a:p>
          <a:p>
            <a:pPr marL="0" indent="0">
              <a:buNone/>
            </a:pPr>
            <a:r>
              <a:rPr lang="en-US" sz="5500" dirty="0"/>
              <a:t>}</a:t>
            </a:r>
          </a:p>
          <a:p>
            <a:pPr marL="0" indent="0">
              <a:buNone/>
            </a:pPr>
            <a:endParaRPr lang="en-US" sz="5500" dirty="0"/>
          </a:p>
          <a:p>
            <a:pPr marL="0" indent="0">
              <a:buNone/>
            </a:pPr>
            <a:r>
              <a:rPr lang="en-US" sz="5500" dirty="0"/>
              <a:t>// Inherited or Sub Class</a:t>
            </a:r>
          </a:p>
          <a:p>
            <a:pPr marL="0" indent="0">
              <a:buNone/>
            </a:pPr>
            <a:r>
              <a:rPr lang="en-US" sz="5500" dirty="0"/>
              <a:t>class Engineer extends Employee {</a:t>
            </a:r>
          </a:p>
          <a:p>
            <a:pPr marL="0" indent="0">
              <a:buNone/>
            </a:pPr>
            <a:r>
              <a:rPr lang="en-US" sz="5500" dirty="0"/>
              <a:t>    </a:t>
            </a:r>
            <a:r>
              <a:rPr lang="en-US" sz="5500" dirty="0" err="1"/>
              <a:t>int</a:t>
            </a:r>
            <a:r>
              <a:rPr lang="en-US" sz="5500" dirty="0"/>
              <a:t> benefits = 10000;</a:t>
            </a:r>
          </a:p>
          <a:p>
            <a:pPr marL="0" indent="0">
              <a:buNone/>
            </a:pPr>
            <a:r>
              <a:rPr lang="en-US" sz="5500" dirty="0"/>
              <a:t>}</a:t>
            </a:r>
          </a:p>
          <a:p>
            <a:pPr marL="0" indent="0">
              <a:buNone/>
            </a:pPr>
            <a:endParaRPr lang="en-US" sz="5500" dirty="0"/>
          </a:p>
          <a:p>
            <a:pPr marL="0" indent="0">
              <a:buNone/>
            </a:pPr>
            <a:r>
              <a:rPr lang="en-US" sz="5500" dirty="0"/>
              <a:t>// Driver Class</a:t>
            </a:r>
          </a:p>
          <a:p>
            <a:pPr marL="0" indent="0">
              <a:buNone/>
            </a:pPr>
            <a:r>
              <a:rPr lang="en-US" sz="5500" dirty="0"/>
              <a:t>class </a:t>
            </a:r>
            <a:r>
              <a:rPr lang="en-US" sz="5500" dirty="0" err="1"/>
              <a:t>Gfg</a:t>
            </a:r>
            <a:r>
              <a:rPr lang="en-US" sz="5500" dirty="0"/>
              <a:t> {</a:t>
            </a:r>
          </a:p>
          <a:p>
            <a:pPr marL="0" indent="0">
              <a:buNone/>
            </a:pPr>
            <a:r>
              <a:rPr lang="en-US" sz="5500" dirty="0"/>
              <a:t>    public static void main(String </a:t>
            </a:r>
            <a:r>
              <a:rPr lang="en-US" sz="5500" dirty="0" err="1"/>
              <a:t>args</a:t>
            </a:r>
            <a:r>
              <a:rPr lang="en-US" sz="5500" dirty="0"/>
              <a:t>[])</a:t>
            </a:r>
          </a:p>
          <a:p>
            <a:pPr marL="0" indent="0">
              <a:buNone/>
            </a:pPr>
            <a:r>
              <a:rPr lang="en-US" sz="5500" dirty="0"/>
              <a:t>    {</a:t>
            </a:r>
          </a:p>
          <a:p>
            <a:pPr marL="0" indent="0">
              <a:buNone/>
            </a:pPr>
            <a:r>
              <a:rPr lang="en-US" sz="5500" dirty="0"/>
              <a:t>        Engineer E1 = new Engineer();</a:t>
            </a:r>
          </a:p>
          <a:p>
            <a:pPr marL="0" indent="0">
              <a:buNone/>
            </a:pPr>
            <a:r>
              <a:rPr lang="en-US" sz="5500" dirty="0"/>
              <a:t>        </a:t>
            </a:r>
            <a:r>
              <a:rPr lang="en-US" sz="5500" dirty="0" err="1"/>
              <a:t>System.out.println</a:t>
            </a:r>
            <a:r>
              <a:rPr lang="en-US" sz="5500" dirty="0"/>
              <a:t>("Salary : " + E1.salary</a:t>
            </a:r>
          </a:p>
          <a:p>
            <a:pPr marL="0" indent="0">
              <a:buNone/>
            </a:pPr>
            <a:r>
              <a:rPr lang="en-US" sz="5500" dirty="0"/>
              <a:t>                           + "\</a:t>
            </a:r>
            <a:r>
              <a:rPr lang="en-US" sz="5500" dirty="0" err="1"/>
              <a:t>nBenefits</a:t>
            </a:r>
            <a:r>
              <a:rPr lang="en-US" sz="5500" dirty="0"/>
              <a:t> : " + E1.benefits);</a:t>
            </a:r>
          </a:p>
          <a:p>
            <a:pPr marL="0" indent="0">
              <a:buNone/>
            </a:pPr>
            <a:r>
              <a:rPr lang="en-US" sz="5500" dirty="0"/>
              <a:t>    }</a:t>
            </a:r>
          </a:p>
          <a:p>
            <a:pPr marL="0" indent="0">
              <a:buNone/>
            </a:pPr>
            <a:r>
              <a:rPr lang="en-US" sz="5500" dirty="0"/>
              <a:t>}</a:t>
            </a:r>
          </a:p>
        </p:txBody>
      </p:sp>
    </p:spTree>
    <p:extLst>
      <p:ext uri="{BB962C8B-B14F-4D97-AF65-F5344CB8AC3E}">
        <p14:creationId xmlns:p14="http://schemas.microsoft.com/office/powerpoint/2010/main" val="20920719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312" y="250521"/>
            <a:ext cx="11203488" cy="5926442"/>
          </a:xfrm>
        </p:spPr>
        <p:txBody>
          <a:bodyPr>
            <a:normAutofit/>
          </a:bodyPr>
          <a:lstStyle/>
          <a:p>
            <a:pPr marL="0" indent="0">
              <a:buNone/>
            </a:pPr>
            <a:r>
              <a:rPr lang="en-US" dirty="0"/>
              <a:t>Output-</a:t>
            </a:r>
          </a:p>
          <a:p>
            <a:pPr marL="0" indent="0">
              <a:buNone/>
            </a:pPr>
            <a:r>
              <a:rPr lang="en-US" dirty="0"/>
              <a:t>Salary : 60000 </a:t>
            </a:r>
          </a:p>
          <a:p>
            <a:pPr marL="0" indent="0">
              <a:buNone/>
            </a:pPr>
            <a:r>
              <a:rPr lang="en-US" dirty="0"/>
              <a:t>Benefits : 10000</a:t>
            </a:r>
          </a:p>
          <a:p>
            <a:pPr marL="0" indent="0">
              <a:buNone/>
            </a:pPr>
            <a:endParaRPr lang="en-US" dirty="0"/>
          </a:p>
          <a:p>
            <a:pPr fontAlgn="base"/>
            <a:r>
              <a:rPr lang="en-US" b="1" dirty="0"/>
              <a:t>Java Inheritance Types</a:t>
            </a:r>
          </a:p>
          <a:p>
            <a:pPr fontAlgn="base"/>
            <a:r>
              <a:rPr lang="en-US" dirty="0"/>
              <a:t>Below are the different types of inheritance which are supported by Java.</a:t>
            </a:r>
          </a:p>
          <a:p>
            <a:pPr fontAlgn="base"/>
            <a:r>
              <a:rPr lang="en-US" dirty="0"/>
              <a:t>Single Inheritance</a:t>
            </a:r>
          </a:p>
          <a:p>
            <a:pPr fontAlgn="base"/>
            <a:r>
              <a:rPr lang="en-US" dirty="0"/>
              <a:t>Multilevel Inheritance</a:t>
            </a:r>
          </a:p>
          <a:p>
            <a:pPr fontAlgn="base"/>
            <a:r>
              <a:rPr lang="en-US" dirty="0"/>
              <a:t>Hierarchical Inheritance</a:t>
            </a:r>
          </a:p>
          <a:p>
            <a:pPr fontAlgn="base"/>
            <a:r>
              <a:rPr lang="en-US" dirty="0"/>
              <a:t>Multiple Inheritance</a:t>
            </a:r>
          </a:p>
          <a:p>
            <a:pPr fontAlgn="base"/>
            <a:r>
              <a:rPr lang="en-US" dirty="0"/>
              <a:t>Hybrid Inheritance</a:t>
            </a:r>
          </a:p>
          <a:p>
            <a:pPr marL="0" indent="0">
              <a:buNone/>
            </a:pPr>
            <a:endParaRPr lang="en-US" dirty="0"/>
          </a:p>
        </p:txBody>
      </p:sp>
    </p:spTree>
    <p:extLst>
      <p:ext uri="{BB962C8B-B14F-4D97-AF65-F5344CB8AC3E}">
        <p14:creationId xmlns:p14="http://schemas.microsoft.com/office/powerpoint/2010/main" val="40870021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786" y="0"/>
            <a:ext cx="11216014" cy="6676373"/>
          </a:xfrm>
        </p:spPr>
        <p:txBody>
          <a:bodyPr>
            <a:normAutofit fontScale="70000" lnSpcReduction="20000"/>
          </a:bodyPr>
          <a:lstStyle/>
          <a:p>
            <a:pPr marL="0" indent="0" fontAlgn="base">
              <a:buNone/>
            </a:pPr>
            <a:r>
              <a:rPr lang="en-US" b="1" dirty="0"/>
              <a:t>1. Single Inheritance</a:t>
            </a:r>
          </a:p>
          <a:p>
            <a:pPr fontAlgn="base"/>
            <a:r>
              <a:rPr lang="en-US" dirty="0"/>
              <a:t>In single inheritance, a sub-class is derived from only one super class. It inherits the properties and behavior of a single-parent class. Sometimes, it is also known as simple inheritance. </a:t>
            </a:r>
          </a:p>
          <a:p>
            <a:pPr marL="0" indent="0" algn="l" fontAlgn="base">
              <a:spcBef>
                <a:spcPts val="1800"/>
              </a:spcBef>
              <a:spcAft>
                <a:spcPts val="1800"/>
              </a:spcAft>
              <a:buNone/>
            </a:pPr>
            <a:r>
              <a:rPr lang="en-US" b="1" i="0" dirty="0">
                <a:solidFill>
                  <a:srgbClr val="273239"/>
                </a:solidFill>
                <a:effectLst/>
                <a:latin typeface="Nunito" pitchFamily="2" charset="0"/>
              </a:rPr>
              <a:t>2. Multilevel Inheritance-</a:t>
            </a:r>
            <a:r>
              <a:rPr lang="en-US" b="0" i="0" dirty="0">
                <a:solidFill>
                  <a:srgbClr val="273239"/>
                </a:solidFill>
                <a:effectLst/>
                <a:latin typeface="Nunito" pitchFamily="2" charset="0"/>
              </a:rPr>
              <a:t>In Multilevel Inheritance, a derived class will be inheriting a base class, and as well as the derived class also acts as the base class for other classes. In Java, a class cannot directly access the</a:t>
            </a:r>
            <a:r>
              <a:rPr lang="en-US" b="0" i="0" u="sng" dirty="0">
                <a:effectLst/>
                <a:latin typeface="Nunito" pitchFamily="2" charset="0"/>
                <a:hlinkClick r:id="rId2"/>
              </a:rPr>
              <a:t> grandparent’s members</a:t>
            </a:r>
            <a:r>
              <a:rPr lang="en-US" b="0" i="0" dirty="0">
                <a:solidFill>
                  <a:srgbClr val="273239"/>
                </a:solidFill>
                <a:effectLst/>
                <a:latin typeface="Nunito" pitchFamily="2" charset="0"/>
              </a:rPr>
              <a:t>.</a:t>
            </a:r>
          </a:p>
          <a:p>
            <a:pPr marL="0" indent="0" algn="l" fontAlgn="base">
              <a:spcBef>
                <a:spcPts val="1800"/>
              </a:spcBef>
              <a:spcAft>
                <a:spcPts val="1800"/>
              </a:spcAft>
              <a:buNone/>
            </a:pPr>
            <a:r>
              <a:rPr lang="en-US" b="1" i="0" dirty="0">
                <a:solidFill>
                  <a:srgbClr val="273239"/>
                </a:solidFill>
                <a:effectLst/>
                <a:latin typeface="Nunito" pitchFamily="2" charset="0"/>
              </a:rPr>
              <a:t>3. Hierarchical Inheritance-</a:t>
            </a:r>
            <a:r>
              <a:rPr lang="en-US" b="0" i="0" dirty="0">
                <a:solidFill>
                  <a:srgbClr val="273239"/>
                </a:solidFill>
                <a:effectLst/>
                <a:latin typeface="Nunito" pitchFamily="2" charset="0"/>
              </a:rPr>
              <a:t>In Hierarchical Inheritance, one class serves as a superclass (base class) for more than one subclass.</a:t>
            </a:r>
          </a:p>
          <a:p>
            <a:pPr marL="0" indent="0" algn="l" fontAlgn="base">
              <a:spcBef>
                <a:spcPts val="1800"/>
              </a:spcBef>
              <a:spcAft>
                <a:spcPts val="1800"/>
              </a:spcAft>
              <a:buNone/>
            </a:pPr>
            <a:r>
              <a:rPr lang="en-US" b="1" i="0" dirty="0">
                <a:solidFill>
                  <a:srgbClr val="273239"/>
                </a:solidFill>
                <a:effectLst/>
                <a:latin typeface="Nunito" pitchFamily="2" charset="0"/>
              </a:rPr>
              <a:t>4. Multiple Inheritance (Through Interfaces)-</a:t>
            </a:r>
            <a:r>
              <a:rPr lang="en-US" b="0" i="0" dirty="0">
                <a:solidFill>
                  <a:srgbClr val="273239"/>
                </a:solidFill>
                <a:effectLst/>
                <a:latin typeface="Nunito" pitchFamily="2" charset="0"/>
              </a:rPr>
              <a:t>In </a:t>
            </a:r>
            <a:r>
              <a:rPr lang="en-US" b="0" i="0" u="sng" dirty="0">
                <a:solidFill>
                  <a:srgbClr val="273239"/>
                </a:solidFill>
                <a:effectLst/>
                <a:latin typeface="Nunito" pitchFamily="2" charset="0"/>
                <a:hlinkClick r:id="rId3"/>
              </a:rPr>
              <a:t>Multiple inheritances</a:t>
            </a:r>
            <a:r>
              <a:rPr lang="en-US" b="0" i="0" dirty="0">
                <a:solidFill>
                  <a:srgbClr val="273239"/>
                </a:solidFill>
                <a:effectLst/>
                <a:latin typeface="Nunito" pitchFamily="2" charset="0"/>
              </a:rPr>
              <a:t>, one class can have more than one superclass and inherit features from all parent classes. Please note that Java does </a:t>
            </a:r>
            <a:r>
              <a:rPr lang="en-US" b="1" i="0" dirty="0">
                <a:solidFill>
                  <a:srgbClr val="273239"/>
                </a:solidFill>
                <a:effectLst/>
                <a:latin typeface="Nunito" pitchFamily="2" charset="0"/>
              </a:rPr>
              <a:t>not</a:t>
            </a:r>
            <a:r>
              <a:rPr lang="en-US" b="0" i="0" dirty="0">
                <a:solidFill>
                  <a:srgbClr val="273239"/>
                </a:solidFill>
                <a:effectLst/>
                <a:latin typeface="Nunito" pitchFamily="2" charset="0"/>
              </a:rPr>
              <a:t> support </a:t>
            </a:r>
            <a:r>
              <a:rPr lang="en-US" b="0" i="0" u="sng" dirty="0">
                <a:solidFill>
                  <a:srgbClr val="273239"/>
                </a:solidFill>
                <a:effectLst/>
                <a:latin typeface="Nunito" pitchFamily="2" charset="0"/>
                <a:hlinkClick r:id="rId3"/>
              </a:rPr>
              <a:t>multiple inheritances</a:t>
            </a:r>
            <a:r>
              <a:rPr lang="en-US" b="0" i="0" dirty="0">
                <a:solidFill>
                  <a:srgbClr val="273239"/>
                </a:solidFill>
                <a:effectLst/>
                <a:latin typeface="Nunito" pitchFamily="2" charset="0"/>
              </a:rPr>
              <a:t> with classes. In Java, we can achieve multiple inheritances only through </a:t>
            </a:r>
            <a:r>
              <a:rPr lang="en-US" b="0" i="0" u="sng" dirty="0">
                <a:solidFill>
                  <a:srgbClr val="273239"/>
                </a:solidFill>
                <a:effectLst/>
                <a:latin typeface="Nunito" pitchFamily="2" charset="0"/>
                <a:hlinkClick r:id="rId4"/>
              </a:rPr>
              <a:t>Interfaces</a:t>
            </a:r>
            <a:r>
              <a:rPr lang="en-US" b="0" i="0" dirty="0">
                <a:solidFill>
                  <a:srgbClr val="273239"/>
                </a:solidFill>
                <a:effectLst/>
                <a:latin typeface="Nunito" pitchFamily="2" charset="0"/>
              </a:rPr>
              <a:t>. </a:t>
            </a:r>
          </a:p>
          <a:p>
            <a:pPr marL="0" indent="0" algn="l" fontAlgn="base">
              <a:spcBef>
                <a:spcPts val="1800"/>
              </a:spcBef>
              <a:spcAft>
                <a:spcPts val="1800"/>
              </a:spcAft>
              <a:buNone/>
            </a:pPr>
            <a:r>
              <a:rPr lang="en-US" b="1" i="0" dirty="0">
                <a:solidFill>
                  <a:srgbClr val="273239"/>
                </a:solidFill>
                <a:effectLst/>
                <a:latin typeface="Nunito" pitchFamily="2" charset="0"/>
              </a:rPr>
              <a:t>5. Hybrid Inheritance-</a:t>
            </a:r>
            <a:r>
              <a:rPr lang="en-US" b="0" i="0" dirty="0">
                <a:solidFill>
                  <a:srgbClr val="273239"/>
                </a:solidFill>
                <a:effectLst/>
                <a:latin typeface="Nunito" pitchFamily="2" charset="0"/>
              </a:rPr>
              <a:t>It is a mix of two or more of the above types of inheritance. Since Java doesn’t support multiple inheritances with classes, hybrid inheritance involving multiple inheritance is also not possible with classes. In Java, we can achieve hybrid inheritance only through </a:t>
            </a:r>
            <a:r>
              <a:rPr lang="en-US" b="0" i="0" u="sng" dirty="0">
                <a:effectLst/>
                <a:latin typeface="Nunito" pitchFamily="2" charset="0"/>
                <a:hlinkClick r:id="rId4"/>
              </a:rPr>
              <a:t>Interfaces</a:t>
            </a:r>
            <a:r>
              <a:rPr lang="en-US" b="0" i="0" dirty="0">
                <a:solidFill>
                  <a:srgbClr val="273239"/>
                </a:solidFill>
                <a:effectLst/>
                <a:latin typeface="Nunito" pitchFamily="2" charset="0"/>
              </a:rPr>
              <a:t> if we want to involve multiple inheritance to implement Hybrid inheritance.</a:t>
            </a:r>
            <a:r>
              <a:rPr lang="en-US" dirty="0"/>
              <a:t/>
            </a:r>
            <a:br>
              <a:rPr lang="en-US" dirty="0"/>
            </a:br>
            <a:r>
              <a:rPr lang="en-US" b="0" i="0" dirty="0">
                <a:solidFill>
                  <a:srgbClr val="273239"/>
                </a:solidFill>
                <a:effectLst/>
                <a:latin typeface="Nunito" pitchFamily="2" charset="0"/>
              </a:rPr>
              <a:t>However, it is important to note that Hybrid inheritance does not necessarily require the use of Multiple Inheritance exclusively. It can be achieved through a combination of Multilevel Inheritance and Hierarchical Inheritance with classes, Hierarchical and Single Inheritance with classes. Therefore, it is indeed possible to implement Hybrid inheritance using classes alone, without relying on multiple inheritance type. </a:t>
            </a:r>
          </a:p>
          <a:p>
            <a:pPr marL="0" indent="0" algn="just" rtl="0" fontAlgn="base">
              <a:spcAft>
                <a:spcPts val="750"/>
              </a:spcAft>
              <a:buNone/>
            </a:pPr>
            <a:endParaRPr lang="en-US" b="0" i="0" dirty="0">
              <a:solidFill>
                <a:srgbClr val="273239"/>
              </a:solidFill>
              <a:effectLst/>
              <a:latin typeface="Nunito" pitchFamily="2" charset="0"/>
            </a:endParaRPr>
          </a:p>
          <a:p>
            <a:pPr marL="0" indent="0" algn="just" rtl="0" fontAlgn="base">
              <a:spcAft>
                <a:spcPts val="750"/>
              </a:spcAft>
              <a:buNone/>
            </a:pPr>
            <a:endParaRPr lang="en-US" b="0" i="0" dirty="0">
              <a:solidFill>
                <a:srgbClr val="273239"/>
              </a:solidFill>
              <a:effectLst/>
              <a:latin typeface="Nunito" pitchFamily="2" charset="0"/>
            </a:endParaRPr>
          </a:p>
          <a:p>
            <a:pPr fontAlgn="base"/>
            <a:endParaRPr lang="en-US" dirty="0"/>
          </a:p>
        </p:txBody>
      </p:sp>
      <p:sp>
        <p:nvSpPr>
          <p:cNvPr id="6" name="AutoShape 6" descr="Multilevel Inheritance">
            <a:extLst>
              <a:ext uri="{FF2B5EF4-FFF2-40B4-BE49-F238E27FC236}">
                <a16:creationId xmlns="" xmlns:a16="http://schemas.microsoft.com/office/drawing/2014/main" id="{B27CBC1C-89AC-AEFF-DF13-335B00E68ED5}"/>
              </a:ext>
            </a:extLst>
          </p:cNvPr>
          <p:cNvSpPr>
            <a:spLocks noChangeAspect="1" noChangeArrowheads="1"/>
          </p:cNvSpPr>
          <p:nvPr/>
        </p:nvSpPr>
        <p:spPr bwMode="auto">
          <a:xfrm>
            <a:off x="-123825" y="-460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502350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42875"/>
            <a:ext cx="11758612" cy="7000875"/>
          </a:xfrm>
        </p:spPr>
        <p:txBody>
          <a:bodyPr>
            <a:normAutofit fontScale="47500" lnSpcReduction="20000"/>
          </a:bodyPr>
          <a:lstStyle/>
          <a:p>
            <a:pPr marL="0" indent="0">
              <a:buNone/>
            </a:pPr>
            <a:r>
              <a:rPr lang="en-US" dirty="0"/>
              <a:t>1, Single Inheritance-</a:t>
            </a:r>
          </a:p>
          <a:p>
            <a:pPr marL="0" indent="0">
              <a:buNone/>
            </a:pPr>
            <a:r>
              <a:rPr lang="en-US" dirty="0"/>
              <a:t>// Base class (Parent class)</a:t>
            </a:r>
          </a:p>
          <a:p>
            <a:pPr marL="0" indent="0">
              <a:buNone/>
            </a:pPr>
            <a:r>
              <a:rPr lang="en-US" dirty="0"/>
              <a:t>class Animal {</a:t>
            </a:r>
          </a:p>
          <a:p>
            <a:pPr marL="0" indent="0">
              <a:buNone/>
            </a:pPr>
            <a:r>
              <a:rPr lang="en-US" dirty="0"/>
              <a:t>    void eat() {</a:t>
            </a:r>
          </a:p>
          <a:p>
            <a:pPr marL="0" indent="0">
              <a:buNone/>
            </a:pPr>
            <a:r>
              <a:rPr lang="en-US" dirty="0"/>
              <a:t>        </a:t>
            </a:r>
            <a:r>
              <a:rPr lang="en-US" dirty="0" err="1"/>
              <a:t>System.out.println</a:t>
            </a:r>
            <a:r>
              <a:rPr lang="en-US" dirty="0"/>
              <a:t>("This animal eats food.");</a:t>
            </a:r>
          </a:p>
          <a:p>
            <a:pPr marL="0" indent="0">
              <a:buNone/>
            </a:pPr>
            <a:r>
              <a:rPr lang="en-US" dirty="0"/>
              <a:t>    }</a:t>
            </a:r>
          </a:p>
          <a:p>
            <a:pPr marL="0" indent="0">
              <a:buNone/>
            </a:pPr>
            <a:r>
              <a:rPr lang="en-US" dirty="0"/>
              <a:t>}</a:t>
            </a:r>
          </a:p>
          <a:p>
            <a:pPr marL="0" indent="0">
              <a:buNone/>
            </a:pPr>
            <a:endParaRPr lang="en-US" dirty="0"/>
          </a:p>
          <a:p>
            <a:pPr marL="0" indent="0">
              <a:buNone/>
            </a:pPr>
            <a:r>
              <a:rPr lang="en-US" dirty="0"/>
              <a:t>// Derived class (Child class)</a:t>
            </a:r>
          </a:p>
          <a:p>
            <a:pPr marL="0" indent="0">
              <a:buNone/>
            </a:pPr>
            <a:r>
              <a:rPr lang="en-US" dirty="0"/>
              <a:t>class Dog extends Animal {</a:t>
            </a:r>
          </a:p>
          <a:p>
            <a:pPr marL="0" indent="0">
              <a:buNone/>
            </a:pPr>
            <a:r>
              <a:rPr lang="en-US" dirty="0"/>
              <a:t>    void bark() {</a:t>
            </a:r>
          </a:p>
          <a:p>
            <a:pPr marL="0" indent="0">
              <a:buNone/>
            </a:pPr>
            <a:r>
              <a:rPr lang="en-US" dirty="0"/>
              <a:t>        </a:t>
            </a:r>
            <a:r>
              <a:rPr lang="en-US" dirty="0" err="1"/>
              <a:t>System.out.println</a:t>
            </a:r>
            <a:r>
              <a:rPr lang="en-US" dirty="0"/>
              <a:t>("Dog barks.");</a:t>
            </a:r>
          </a:p>
          <a:p>
            <a:pPr marL="0" indent="0">
              <a:buNone/>
            </a:pPr>
            <a:r>
              <a:rPr lang="en-US" dirty="0"/>
              <a:t>    }</a:t>
            </a:r>
          </a:p>
          <a:p>
            <a:pPr marL="0" indent="0">
              <a:buNone/>
            </a:pPr>
            <a:r>
              <a:rPr lang="en-US" dirty="0"/>
              <a:t>}</a:t>
            </a:r>
          </a:p>
          <a:p>
            <a:pPr marL="0" indent="0">
              <a:buNone/>
            </a:pPr>
            <a:endParaRPr lang="en-US" dirty="0"/>
          </a:p>
          <a:p>
            <a:pPr marL="0" indent="0">
              <a:buNone/>
            </a:pPr>
            <a:r>
              <a:rPr lang="en-US" dirty="0"/>
              <a:t>// Main class</a:t>
            </a:r>
          </a:p>
          <a:p>
            <a:pPr marL="0" indent="0">
              <a:buNone/>
            </a:pPr>
            <a:r>
              <a:rPr lang="en-US" dirty="0"/>
              <a:t>public class </a:t>
            </a:r>
            <a:r>
              <a:rPr lang="en-US" dirty="0" err="1"/>
              <a:t>SingleInheritanceExample</a:t>
            </a:r>
            <a:r>
              <a:rPr lang="en-US" dirty="0"/>
              <a:t> {</a:t>
            </a:r>
          </a:p>
          <a:p>
            <a:pPr marL="0" indent="0">
              <a:buNone/>
            </a:pPr>
            <a:r>
              <a:rPr lang="en-US" dirty="0"/>
              <a:t>    public static void main(String[] </a:t>
            </a:r>
            <a:r>
              <a:rPr lang="en-US" dirty="0" err="1"/>
              <a:t>args</a:t>
            </a:r>
            <a:r>
              <a:rPr lang="en-US" dirty="0"/>
              <a:t>) {</a:t>
            </a:r>
          </a:p>
          <a:p>
            <a:pPr marL="0" indent="0">
              <a:buNone/>
            </a:pPr>
            <a:r>
              <a:rPr lang="en-US" dirty="0"/>
              <a:t>        Dog </a:t>
            </a:r>
            <a:r>
              <a:rPr lang="en-US" dirty="0" err="1"/>
              <a:t>myDog</a:t>
            </a:r>
            <a:r>
              <a:rPr lang="en-US" dirty="0"/>
              <a:t> = new Dog();</a:t>
            </a:r>
          </a:p>
          <a:p>
            <a:pPr marL="0" indent="0">
              <a:buNone/>
            </a:pPr>
            <a:r>
              <a:rPr lang="en-US" dirty="0"/>
              <a:t>        </a:t>
            </a:r>
            <a:r>
              <a:rPr lang="en-US" dirty="0" err="1"/>
              <a:t>myDog.eat</a:t>
            </a:r>
            <a:r>
              <a:rPr lang="en-US" dirty="0"/>
              <a:t>();  // Inherited from Animal class</a:t>
            </a:r>
          </a:p>
          <a:p>
            <a:pPr marL="0" indent="0">
              <a:buNone/>
            </a:pPr>
            <a:r>
              <a:rPr lang="en-US" dirty="0"/>
              <a:t>        </a:t>
            </a:r>
            <a:r>
              <a:rPr lang="en-US" dirty="0" err="1"/>
              <a:t>myDog.bark</a:t>
            </a:r>
            <a:r>
              <a:rPr lang="en-US" dirty="0"/>
              <a:t>(); // Defined in Dog class</a:t>
            </a:r>
          </a:p>
          <a:p>
            <a:pPr marL="0" indent="0">
              <a:buNone/>
            </a:pPr>
            <a:r>
              <a:rPr lang="en-US" dirty="0"/>
              <a:t>    }</a:t>
            </a:r>
          </a:p>
          <a:p>
            <a:pPr marL="0" indent="0">
              <a:buNone/>
            </a:pPr>
            <a:r>
              <a:rPr lang="en-US" dirty="0"/>
              <a:t>}</a:t>
            </a:r>
          </a:p>
          <a:p>
            <a:pPr marL="0" indent="0">
              <a:buNone/>
            </a:pPr>
            <a:r>
              <a:rPr lang="en-US" dirty="0"/>
              <a:t>Output-</a:t>
            </a:r>
          </a:p>
          <a:p>
            <a:pPr marL="0" indent="0">
              <a:buNone/>
            </a:pPr>
            <a:r>
              <a:rPr lang="en-US" dirty="0"/>
              <a:t>This animal eats food.</a:t>
            </a:r>
          </a:p>
          <a:p>
            <a:pPr marL="0" indent="0">
              <a:buNone/>
            </a:pPr>
            <a:r>
              <a:rPr lang="en-US" dirty="0"/>
              <a:t>Dog barks.</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7282949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11C4111-41F8-F54C-9774-964DD763F67A}"/>
              </a:ext>
            </a:extLst>
          </p:cNvPr>
          <p:cNvSpPr>
            <a:spLocks noGrp="1"/>
          </p:cNvSpPr>
          <p:nvPr>
            <p:ph idx="1"/>
          </p:nvPr>
        </p:nvSpPr>
        <p:spPr>
          <a:xfrm>
            <a:off x="314324" y="314325"/>
            <a:ext cx="11039475" cy="6357938"/>
          </a:xfrm>
        </p:spPr>
        <p:txBody>
          <a:bodyPr>
            <a:normAutofit fontScale="55000" lnSpcReduction="20000"/>
          </a:bodyPr>
          <a:lstStyle/>
          <a:p>
            <a:pPr marL="0" indent="0">
              <a:buNone/>
            </a:pPr>
            <a:r>
              <a:rPr lang="en-US" dirty="0"/>
              <a:t>2. Multilevel Inheritance-</a:t>
            </a:r>
          </a:p>
          <a:p>
            <a:pPr marL="0" indent="0">
              <a:buNone/>
            </a:pPr>
            <a:r>
              <a:rPr lang="en-US" dirty="0"/>
              <a:t>// Base class (Parent class)</a:t>
            </a:r>
          </a:p>
          <a:p>
            <a:pPr marL="0" indent="0">
              <a:buNone/>
            </a:pPr>
            <a:r>
              <a:rPr lang="en-US" dirty="0"/>
              <a:t>class Animal {</a:t>
            </a:r>
          </a:p>
          <a:p>
            <a:pPr marL="0" indent="0">
              <a:buNone/>
            </a:pPr>
            <a:r>
              <a:rPr lang="en-US" dirty="0"/>
              <a:t>    void eat() {</a:t>
            </a:r>
          </a:p>
          <a:p>
            <a:pPr marL="0" indent="0">
              <a:buNone/>
            </a:pPr>
            <a:r>
              <a:rPr lang="en-US" dirty="0"/>
              <a:t>        </a:t>
            </a:r>
            <a:r>
              <a:rPr lang="en-US" dirty="0" err="1"/>
              <a:t>System.out.println</a:t>
            </a:r>
            <a:r>
              <a:rPr lang="en-US" dirty="0"/>
              <a:t>("This animal eats food.");</a:t>
            </a:r>
          </a:p>
          <a:p>
            <a:pPr marL="0" indent="0">
              <a:buNone/>
            </a:pPr>
            <a:r>
              <a:rPr lang="en-US" dirty="0"/>
              <a:t>    }</a:t>
            </a:r>
          </a:p>
          <a:p>
            <a:pPr marL="0" indent="0">
              <a:buNone/>
            </a:pPr>
            <a:r>
              <a:rPr lang="en-US" dirty="0"/>
              <a:t>}</a:t>
            </a:r>
          </a:p>
          <a:p>
            <a:pPr marL="0" indent="0">
              <a:buNone/>
            </a:pPr>
            <a:endParaRPr lang="en-US" dirty="0"/>
          </a:p>
          <a:p>
            <a:pPr marL="0" indent="0">
              <a:buNone/>
            </a:pPr>
            <a:r>
              <a:rPr lang="en-US" dirty="0"/>
              <a:t>// Derived class (Child class of Animal)</a:t>
            </a:r>
          </a:p>
          <a:p>
            <a:pPr marL="0" indent="0">
              <a:buNone/>
            </a:pPr>
            <a:r>
              <a:rPr lang="en-US" dirty="0"/>
              <a:t>class Dog extends Animal {</a:t>
            </a:r>
          </a:p>
          <a:p>
            <a:pPr marL="0" indent="0">
              <a:buNone/>
            </a:pPr>
            <a:r>
              <a:rPr lang="en-US" dirty="0"/>
              <a:t>    void bark() {</a:t>
            </a:r>
          </a:p>
          <a:p>
            <a:pPr marL="0" indent="0">
              <a:buNone/>
            </a:pPr>
            <a:r>
              <a:rPr lang="en-US" dirty="0"/>
              <a:t>        </a:t>
            </a:r>
            <a:r>
              <a:rPr lang="en-US" dirty="0" err="1"/>
              <a:t>System.out.println</a:t>
            </a:r>
            <a:r>
              <a:rPr lang="en-US" dirty="0"/>
              <a:t>("Dog barks.");</a:t>
            </a:r>
          </a:p>
          <a:p>
            <a:pPr marL="0" indent="0">
              <a:buNone/>
            </a:pPr>
            <a:r>
              <a:rPr lang="en-US" dirty="0"/>
              <a:t>    }</a:t>
            </a:r>
          </a:p>
          <a:p>
            <a:pPr marL="0" indent="0">
              <a:buNone/>
            </a:pPr>
            <a:r>
              <a:rPr lang="en-US" dirty="0"/>
              <a:t>}</a:t>
            </a:r>
          </a:p>
          <a:p>
            <a:pPr marL="0" indent="0">
              <a:buNone/>
            </a:pPr>
            <a:endParaRPr lang="en-US" dirty="0"/>
          </a:p>
          <a:p>
            <a:pPr marL="0" indent="0">
              <a:buNone/>
            </a:pPr>
            <a:r>
              <a:rPr lang="en-US" dirty="0"/>
              <a:t>// Another derived class (Child class of Dog)</a:t>
            </a:r>
          </a:p>
          <a:p>
            <a:pPr marL="0" indent="0">
              <a:buNone/>
            </a:pPr>
            <a:r>
              <a:rPr lang="en-US" dirty="0"/>
              <a:t>class Puppy extends Dog {</a:t>
            </a:r>
          </a:p>
          <a:p>
            <a:pPr marL="0" indent="0">
              <a:buNone/>
            </a:pPr>
            <a:r>
              <a:rPr lang="en-US" dirty="0"/>
              <a:t>    void weep() {</a:t>
            </a:r>
          </a:p>
          <a:p>
            <a:pPr marL="0" indent="0">
              <a:buNone/>
            </a:pPr>
            <a:r>
              <a:rPr lang="en-US" dirty="0"/>
              <a:t>        </a:t>
            </a:r>
            <a:r>
              <a:rPr lang="en-US" dirty="0" err="1"/>
              <a:t>System.out.println</a:t>
            </a:r>
            <a:r>
              <a:rPr lang="en-US" dirty="0"/>
              <a:t>("Puppy weeps.");</a:t>
            </a:r>
          </a:p>
          <a:p>
            <a:pPr marL="0" indent="0">
              <a:buNone/>
            </a:pPr>
            <a:r>
              <a:rPr lang="en-US" dirty="0"/>
              <a:t>    }</a:t>
            </a:r>
          </a:p>
          <a:p>
            <a:pPr marL="0" indent="0">
              <a:buNone/>
            </a:pP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4610981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DE01BFD-1952-60AF-8813-94639D53B780}"/>
              </a:ext>
            </a:extLst>
          </p:cNvPr>
          <p:cNvSpPr>
            <a:spLocks noGrp="1"/>
          </p:cNvSpPr>
          <p:nvPr>
            <p:ph idx="1"/>
          </p:nvPr>
        </p:nvSpPr>
        <p:spPr>
          <a:xfrm>
            <a:off x="285750" y="185738"/>
            <a:ext cx="11068050" cy="5991225"/>
          </a:xfrm>
        </p:spPr>
        <p:txBody>
          <a:bodyPr>
            <a:normAutofit fontScale="92500" lnSpcReduction="10000"/>
          </a:bodyPr>
          <a:lstStyle/>
          <a:p>
            <a:pPr marL="0" indent="0">
              <a:buNone/>
            </a:pPr>
            <a:r>
              <a:rPr lang="en-US" dirty="0"/>
              <a:t>// Main class</a:t>
            </a:r>
          </a:p>
          <a:p>
            <a:pPr marL="0" indent="0">
              <a:buNone/>
            </a:pPr>
            <a:r>
              <a:rPr lang="en-US" dirty="0"/>
              <a:t>public class </a:t>
            </a:r>
            <a:r>
              <a:rPr lang="en-US" dirty="0" err="1"/>
              <a:t>MultilevelInheritanceExample</a:t>
            </a:r>
            <a:r>
              <a:rPr lang="en-US" dirty="0"/>
              <a:t> {</a:t>
            </a:r>
          </a:p>
          <a:p>
            <a:pPr marL="0" indent="0">
              <a:buNone/>
            </a:pPr>
            <a:r>
              <a:rPr lang="en-US" dirty="0"/>
              <a:t>    public static void main(String[] </a:t>
            </a:r>
            <a:r>
              <a:rPr lang="en-US" dirty="0" err="1"/>
              <a:t>args</a:t>
            </a:r>
            <a:r>
              <a:rPr lang="en-US" dirty="0"/>
              <a:t>) {</a:t>
            </a:r>
          </a:p>
          <a:p>
            <a:pPr marL="0" indent="0">
              <a:buNone/>
            </a:pPr>
            <a:r>
              <a:rPr lang="en-US" dirty="0"/>
              <a:t>        Puppy </a:t>
            </a:r>
            <a:r>
              <a:rPr lang="en-US" dirty="0" err="1"/>
              <a:t>myPuppy</a:t>
            </a:r>
            <a:r>
              <a:rPr lang="en-US" dirty="0"/>
              <a:t> = new Puppy();</a:t>
            </a:r>
          </a:p>
          <a:p>
            <a:pPr marL="0" indent="0">
              <a:buNone/>
            </a:pPr>
            <a:r>
              <a:rPr lang="en-US" dirty="0"/>
              <a:t>        </a:t>
            </a:r>
            <a:r>
              <a:rPr lang="en-US" dirty="0" err="1"/>
              <a:t>myPuppy.eat</a:t>
            </a:r>
            <a:r>
              <a:rPr lang="en-US" dirty="0"/>
              <a:t>();  // Inherited from Animal class</a:t>
            </a:r>
          </a:p>
          <a:p>
            <a:pPr marL="0" indent="0">
              <a:buNone/>
            </a:pPr>
            <a:r>
              <a:rPr lang="en-US" dirty="0"/>
              <a:t>        </a:t>
            </a:r>
            <a:r>
              <a:rPr lang="en-US" dirty="0" err="1"/>
              <a:t>myPuppy.bark</a:t>
            </a:r>
            <a:r>
              <a:rPr lang="en-US" dirty="0"/>
              <a:t>(); // Inherited from Dog class</a:t>
            </a:r>
          </a:p>
          <a:p>
            <a:pPr marL="0" indent="0">
              <a:buNone/>
            </a:pPr>
            <a:r>
              <a:rPr lang="en-US" dirty="0"/>
              <a:t>        </a:t>
            </a:r>
            <a:r>
              <a:rPr lang="en-US" dirty="0" err="1"/>
              <a:t>myPuppy.weep</a:t>
            </a:r>
            <a:r>
              <a:rPr lang="en-US" dirty="0"/>
              <a:t>(); // Defined in Puppy class</a:t>
            </a:r>
          </a:p>
          <a:p>
            <a:pPr marL="0" indent="0">
              <a:buNone/>
            </a:pPr>
            <a:r>
              <a:rPr lang="en-US" dirty="0"/>
              <a:t>    }</a:t>
            </a:r>
          </a:p>
          <a:p>
            <a:pPr marL="0" indent="0">
              <a:buNone/>
            </a:pPr>
            <a:r>
              <a:rPr lang="en-US" dirty="0"/>
              <a:t>}</a:t>
            </a:r>
          </a:p>
          <a:p>
            <a:pPr marL="0" indent="0">
              <a:buNone/>
            </a:pPr>
            <a:r>
              <a:rPr lang="en-IN" dirty="0"/>
              <a:t> Output-</a:t>
            </a:r>
          </a:p>
          <a:p>
            <a:pPr marL="0" indent="0">
              <a:buNone/>
            </a:pPr>
            <a:r>
              <a:rPr lang="en-US" dirty="0"/>
              <a:t>This animal eats food.</a:t>
            </a:r>
          </a:p>
          <a:p>
            <a:pPr marL="0" indent="0">
              <a:buNone/>
            </a:pPr>
            <a:r>
              <a:rPr lang="en-US" dirty="0"/>
              <a:t>Dog barks.</a:t>
            </a:r>
          </a:p>
          <a:p>
            <a:pPr marL="0" indent="0">
              <a:buNone/>
            </a:pPr>
            <a:r>
              <a:rPr lang="en-US" dirty="0"/>
              <a:t>Puppy weeps.</a:t>
            </a:r>
          </a:p>
          <a:p>
            <a:pPr marL="0" indent="0">
              <a:buNone/>
            </a:pPr>
            <a:endParaRPr lang="en-IN" dirty="0"/>
          </a:p>
        </p:txBody>
      </p:sp>
    </p:spTree>
    <p:extLst>
      <p:ext uri="{BB962C8B-B14F-4D97-AF65-F5344CB8AC3E}">
        <p14:creationId xmlns:p14="http://schemas.microsoft.com/office/powerpoint/2010/main" val="3710508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41A1C7B-F81D-F0E4-9DC8-BE639A252A47}"/>
              </a:ext>
            </a:extLst>
          </p:cNvPr>
          <p:cNvSpPr>
            <a:spLocks noGrp="1"/>
          </p:cNvSpPr>
          <p:nvPr>
            <p:ph idx="1"/>
          </p:nvPr>
        </p:nvSpPr>
        <p:spPr>
          <a:xfrm>
            <a:off x="228600" y="185738"/>
            <a:ext cx="11125200" cy="5991225"/>
          </a:xfrm>
        </p:spPr>
        <p:txBody>
          <a:bodyPr>
            <a:normAutofit fontScale="47500" lnSpcReduction="20000"/>
          </a:bodyPr>
          <a:lstStyle/>
          <a:p>
            <a:pPr marL="0" indent="0">
              <a:buNone/>
            </a:pPr>
            <a:r>
              <a:rPr lang="en-US" dirty="0"/>
              <a:t>Hierarchical Inheritance-</a:t>
            </a:r>
          </a:p>
          <a:p>
            <a:pPr marL="0" indent="0">
              <a:buNone/>
            </a:pPr>
            <a:r>
              <a:rPr lang="en-IN" dirty="0"/>
              <a:t>// Base class (Parent class)</a:t>
            </a:r>
          </a:p>
          <a:p>
            <a:pPr marL="0" indent="0">
              <a:buNone/>
            </a:pPr>
            <a:r>
              <a:rPr lang="en-IN" dirty="0"/>
              <a:t>class Animal {</a:t>
            </a:r>
          </a:p>
          <a:p>
            <a:pPr marL="0" indent="0">
              <a:buNone/>
            </a:pPr>
            <a:r>
              <a:rPr lang="en-IN" dirty="0"/>
              <a:t>    void eat() {</a:t>
            </a:r>
          </a:p>
          <a:p>
            <a:pPr marL="0" indent="0">
              <a:buNone/>
            </a:pPr>
            <a:r>
              <a:rPr lang="en-IN" dirty="0"/>
              <a:t>        </a:t>
            </a:r>
            <a:r>
              <a:rPr lang="en-IN" dirty="0" err="1"/>
              <a:t>System.out.println</a:t>
            </a:r>
            <a:r>
              <a:rPr lang="en-IN" dirty="0"/>
              <a:t>("This animal eats food.");</a:t>
            </a:r>
          </a:p>
          <a:p>
            <a:pPr marL="0" indent="0">
              <a:buNone/>
            </a:pPr>
            <a:r>
              <a:rPr lang="en-IN" dirty="0"/>
              <a:t>    }</a:t>
            </a:r>
          </a:p>
          <a:p>
            <a:pPr marL="0" indent="0">
              <a:buNone/>
            </a:pPr>
            <a:r>
              <a:rPr lang="en-IN" dirty="0"/>
              <a:t>}</a:t>
            </a:r>
          </a:p>
          <a:p>
            <a:pPr marL="0" indent="0">
              <a:buNone/>
            </a:pPr>
            <a:endParaRPr lang="en-IN" dirty="0"/>
          </a:p>
          <a:p>
            <a:pPr marL="0" indent="0">
              <a:buNone/>
            </a:pPr>
            <a:r>
              <a:rPr lang="en-IN" dirty="0"/>
              <a:t>// Derived class 1 (Inherits from Animal)</a:t>
            </a:r>
          </a:p>
          <a:p>
            <a:pPr marL="0" indent="0">
              <a:buNone/>
            </a:pPr>
            <a:r>
              <a:rPr lang="en-IN" dirty="0"/>
              <a:t>class Dog extends Animal {</a:t>
            </a:r>
          </a:p>
          <a:p>
            <a:pPr marL="0" indent="0">
              <a:buNone/>
            </a:pPr>
            <a:r>
              <a:rPr lang="en-IN" dirty="0"/>
              <a:t>    void bark() {</a:t>
            </a:r>
          </a:p>
          <a:p>
            <a:pPr marL="0" indent="0">
              <a:buNone/>
            </a:pPr>
            <a:r>
              <a:rPr lang="en-IN" dirty="0"/>
              <a:t>        </a:t>
            </a:r>
            <a:r>
              <a:rPr lang="en-IN" dirty="0" err="1"/>
              <a:t>System.out.println</a:t>
            </a:r>
            <a:r>
              <a:rPr lang="en-IN" dirty="0"/>
              <a:t>("Dog barks.");</a:t>
            </a:r>
          </a:p>
          <a:p>
            <a:pPr marL="0" indent="0">
              <a:buNone/>
            </a:pPr>
            <a:r>
              <a:rPr lang="en-IN" dirty="0"/>
              <a:t>    }</a:t>
            </a:r>
          </a:p>
          <a:p>
            <a:pPr marL="0" indent="0">
              <a:buNone/>
            </a:pPr>
            <a:r>
              <a:rPr lang="en-IN" dirty="0"/>
              <a:t>}</a:t>
            </a:r>
          </a:p>
          <a:p>
            <a:pPr marL="0" indent="0">
              <a:buNone/>
            </a:pPr>
            <a:endParaRPr lang="en-IN" dirty="0"/>
          </a:p>
          <a:p>
            <a:pPr marL="0" indent="0">
              <a:buNone/>
            </a:pPr>
            <a:r>
              <a:rPr lang="en-IN" dirty="0"/>
              <a:t>// Derived class 2 (Inherits from Animal)</a:t>
            </a:r>
          </a:p>
          <a:p>
            <a:pPr marL="0" indent="0">
              <a:buNone/>
            </a:pPr>
            <a:r>
              <a:rPr lang="en-IN" dirty="0"/>
              <a:t>class Cat extends Animal {</a:t>
            </a:r>
          </a:p>
          <a:p>
            <a:pPr marL="0" indent="0">
              <a:buNone/>
            </a:pPr>
            <a:r>
              <a:rPr lang="en-IN" dirty="0"/>
              <a:t>    void meow() {</a:t>
            </a:r>
          </a:p>
          <a:p>
            <a:pPr marL="0" indent="0">
              <a:buNone/>
            </a:pPr>
            <a:r>
              <a:rPr lang="en-IN" dirty="0"/>
              <a:t>        </a:t>
            </a:r>
            <a:r>
              <a:rPr lang="en-IN" dirty="0" err="1"/>
              <a:t>System.out.println</a:t>
            </a:r>
            <a:r>
              <a:rPr lang="en-IN" dirty="0"/>
              <a:t>("Cat meows.");</a:t>
            </a:r>
          </a:p>
          <a:p>
            <a:pPr marL="0" indent="0">
              <a:buNone/>
            </a:pPr>
            <a:r>
              <a:rPr lang="en-IN" dirty="0"/>
              <a:t>    }</a:t>
            </a:r>
          </a:p>
          <a:p>
            <a:pPr marL="0" indent="0">
              <a:buNone/>
            </a:pP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3704681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C5F87FD-4781-7731-674B-6F5F96A2EAC5}"/>
              </a:ext>
            </a:extLst>
          </p:cNvPr>
          <p:cNvSpPr>
            <a:spLocks noGrp="1"/>
          </p:cNvSpPr>
          <p:nvPr>
            <p:ph idx="1"/>
          </p:nvPr>
        </p:nvSpPr>
        <p:spPr>
          <a:xfrm>
            <a:off x="228600" y="171450"/>
            <a:ext cx="11125200" cy="6005513"/>
          </a:xfrm>
        </p:spPr>
        <p:txBody>
          <a:bodyPr>
            <a:normAutofit fontScale="70000" lnSpcReduction="20000"/>
          </a:bodyPr>
          <a:lstStyle/>
          <a:p>
            <a:pPr marL="0" indent="0">
              <a:buNone/>
            </a:pPr>
            <a:r>
              <a:rPr lang="en-IN" dirty="0"/>
              <a:t>// Main class</a:t>
            </a:r>
          </a:p>
          <a:p>
            <a:pPr marL="0" indent="0">
              <a:buNone/>
            </a:pPr>
            <a:r>
              <a:rPr lang="en-IN" dirty="0"/>
              <a:t>public class </a:t>
            </a:r>
            <a:r>
              <a:rPr lang="en-IN" dirty="0" err="1"/>
              <a:t>HierarchicalInheritanceExample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Dog </a:t>
            </a:r>
            <a:r>
              <a:rPr lang="en-IN" dirty="0" err="1"/>
              <a:t>myDog</a:t>
            </a:r>
            <a:r>
              <a:rPr lang="en-IN" dirty="0"/>
              <a:t> = new Dog();</a:t>
            </a:r>
          </a:p>
          <a:p>
            <a:pPr marL="0" indent="0">
              <a:buNone/>
            </a:pPr>
            <a:r>
              <a:rPr lang="en-IN" dirty="0"/>
              <a:t>        </a:t>
            </a:r>
            <a:r>
              <a:rPr lang="en-IN" dirty="0" err="1"/>
              <a:t>myDog.eat</a:t>
            </a:r>
            <a:r>
              <a:rPr lang="en-IN" dirty="0"/>
              <a:t>();  // Inherited from Animal</a:t>
            </a:r>
          </a:p>
          <a:p>
            <a:pPr marL="0" indent="0">
              <a:buNone/>
            </a:pPr>
            <a:r>
              <a:rPr lang="en-IN" dirty="0"/>
              <a:t>        </a:t>
            </a:r>
            <a:r>
              <a:rPr lang="en-IN" dirty="0" err="1"/>
              <a:t>myDog.bark</a:t>
            </a:r>
            <a:r>
              <a:rPr lang="en-IN" dirty="0"/>
              <a:t>(); // Defined in Dog</a:t>
            </a:r>
          </a:p>
          <a:p>
            <a:pPr marL="0" indent="0">
              <a:buNone/>
            </a:pPr>
            <a:endParaRPr lang="en-IN" dirty="0"/>
          </a:p>
          <a:p>
            <a:pPr marL="0" indent="0">
              <a:buNone/>
            </a:pPr>
            <a:r>
              <a:rPr lang="en-IN" dirty="0"/>
              <a:t>        Cat </a:t>
            </a:r>
            <a:r>
              <a:rPr lang="en-IN" dirty="0" err="1"/>
              <a:t>myCat</a:t>
            </a:r>
            <a:r>
              <a:rPr lang="en-IN" dirty="0"/>
              <a:t> = new Cat();</a:t>
            </a:r>
          </a:p>
          <a:p>
            <a:pPr marL="0" indent="0">
              <a:buNone/>
            </a:pPr>
            <a:r>
              <a:rPr lang="en-IN" dirty="0"/>
              <a:t>        </a:t>
            </a:r>
            <a:r>
              <a:rPr lang="en-IN" dirty="0" err="1"/>
              <a:t>myCat.eat</a:t>
            </a:r>
            <a:r>
              <a:rPr lang="en-IN" dirty="0"/>
              <a:t>();  // Inherited from Animal</a:t>
            </a:r>
          </a:p>
          <a:p>
            <a:pPr marL="0" indent="0">
              <a:buNone/>
            </a:pPr>
            <a:r>
              <a:rPr lang="en-IN" dirty="0"/>
              <a:t>        </a:t>
            </a:r>
            <a:r>
              <a:rPr lang="en-IN" dirty="0" err="1"/>
              <a:t>myCat.meow</a:t>
            </a:r>
            <a:r>
              <a:rPr lang="en-IN" dirty="0"/>
              <a:t>(); // Defined in Cat</a:t>
            </a:r>
          </a:p>
          <a:p>
            <a:pPr marL="0" indent="0">
              <a:buNone/>
            </a:pPr>
            <a:r>
              <a:rPr lang="en-IN" dirty="0"/>
              <a:t>    }</a:t>
            </a:r>
          </a:p>
          <a:p>
            <a:pPr marL="0" indent="0">
              <a:buNone/>
            </a:pPr>
            <a:r>
              <a:rPr lang="en-IN" dirty="0"/>
              <a:t>}</a:t>
            </a:r>
          </a:p>
          <a:p>
            <a:pPr marL="0" indent="0">
              <a:buNone/>
            </a:pPr>
            <a:r>
              <a:rPr lang="en-IN" dirty="0"/>
              <a:t>Output-</a:t>
            </a:r>
          </a:p>
          <a:p>
            <a:pPr marL="0" indent="0">
              <a:buNone/>
            </a:pPr>
            <a:r>
              <a:rPr lang="en-US" dirty="0"/>
              <a:t>This animal eats food.</a:t>
            </a:r>
          </a:p>
          <a:p>
            <a:pPr marL="0" indent="0">
              <a:buNone/>
            </a:pPr>
            <a:r>
              <a:rPr lang="en-US" dirty="0"/>
              <a:t>Dog barks.</a:t>
            </a:r>
          </a:p>
          <a:p>
            <a:pPr marL="0" indent="0">
              <a:buNone/>
            </a:pPr>
            <a:r>
              <a:rPr lang="en-US" dirty="0"/>
              <a:t>This animal eats food.</a:t>
            </a:r>
          </a:p>
          <a:p>
            <a:pPr marL="0" indent="0">
              <a:buNone/>
            </a:pPr>
            <a:r>
              <a:rPr lang="en-US" dirty="0"/>
              <a:t>Cat meows.</a:t>
            </a:r>
          </a:p>
          <a:p>
            <a:pPr marL="0" indent="0">
              <a:buNone/>
            </a:pPr>
            <a:endParaRPr lang="en-IN" dirty="0"/>
          </a:p>
        </p:txBody>
      </p:sp>
    </p:spTree>
    <p:extLst>
      <p:ext uri="{BB962C8B-B14F-4D97-AF65-F5344CB8AC3E}">
        <p14:creationId xmlns:p14="http://schemas.microsoft.com/office/powerpoint/2010/main" val="2807695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8445C54-4644-8AF2-2D56-5CE146C2E08D}"/>
              </a:ext>
            </a:extLst>
          </p:cNvPr>
          <p:cNvSpPr>
            <a:spLocks noGrp="1"/>
          </p:cNvSpPr>
          <p:nvPr>
            <p:ph idx="1"/>
          </p:nvPr>
        </p:nvSpPr>
        <p:spPr>
          <a:xfrm>
            <a:off x="342900" y="228600"/>
            <a:ext cx="11010900" cy="5948363"/>
          </a:xfrm>
        </p:spPr>
        <p:txBody>
          <a:bodyPr>
            <a:normAutofit fontScale="77500" lnSpcReduction="20000"/>
          </a:bodyPr>
          <a:lstStyle/>
          <a:p>
            <a:r>
              <a:rPr lang="en-US" dirty="0"/>
              <a:t>Multiple Inheritance-</a:t>
            </a:r>
          </a:p>
          <a:p>
            <a:pPr marL="0" indent="0">
              <a:buNone/>
            </a:pPr>
            <a:r>
              <a:rPr lang="en-IN" dirty="0"/>
              <a:t>// First interface</a:t>
            </a:r>
          </a:p>
          <a:p>
            <a:pPr marL="0" indent="0">
              <a:buNone/>
            </a:pPr>
            <a:r>
              <a:rPr lang="en-IN" dirty="0"/>
              <a:t>interface Animal {</a:t>
            </a:r>
          </a:p>
          <a:p>
            <a:pPr marL="0" indent="0">
              <a:buNone/>
            </a:pPr>
            <a:r>
              <a:rPr lang="en-IN" dirty="0"/>
              <a:t>    void eat();</a:t>
            </a:r>
          </a:p>
          <a:p>
            <a:pPr marL="0" indent="0">
              <a:buNone/>
            </a:pPr>
            <a:r>
              <a:rPr lang="en-IN" dirty="0"/>
              <a:t>}</a:t>
            </a:r>
          </a:p>
          <a:p>
            <a:pPr marL="0" indent="0">
              <a:buNone/>
            </a:pPr>
            <a:endParaRPr lang="en-IN" dirty="0"/>
          </a:p>
          <a:p>
            <a:pPr marL="0" indent="0">
              <a:buNone/>
            </a:pPr>
            <a:r>
              <a:rPr lang="en-IN" dirty="0"/>
              <a:t>// Second interface</a:t>
            </a:r>
          </a:p>
          <a:p>
            <a:pPr marL="0" indent="0">
              <a:buNone/>
            </a:pPr>
            <a:r>
              <a:rPr lang="en-IN" dirty="0"/>
              <a:t>interface Sound {</a:t>
            </a:r>
          </a:p>
          <a:p>
            <a:pPr marL="0" indent="0">
              <a:buNone/>
            </a:pPr>
            <a:r>
              <a:rPr lang="en-IN" dirty="0"/>
              <a:t>    void </a:t>
            </a:r>
            <a:r>
              <a:rPr lang="en-IN" dirty="0" err="1"/>
              <a:t>makeSound</a:t>
            </a:r>
            <a:r>
              <a:rPr lang="en-IN" dirty="0"/>
              <a:t>();</a:t>
            </a:r>
          </a:p>
          <a:p>
            <a:pPr marL="0" indent="0">
              <a:buNone/>
            </a:pPr>
            <a:r>
              <a:rPr lang="en-IN" dirty="0"/>
              <a:t>}</a:t>
            </a:r>
          </a:p>
          <a:p>
            <a:pPr marL="0" indent="0">
              <a:buNone/>
            </a:pPr>
            <a:endParaRPr lang="en-IN" dirty="0"/>
          </a:p>
          <a:p>
            <a:pPr marL="0" indent="0">
              <a:buNone/>
            </a:pPr>
            <a:r>
              <a:rPr lang="en-IN" dirty="0"/>
              <a:t>// Class implementing multiple interfaces</a:t>
            </a:r>
          </a:p>
          <a:p>
            <a:pPr marL="0" indent="0">
              <a:buNone/>
            </a:pPr>
            <a:r>
              <a:rPr lang="en-IN" dirty="0"/>
              <a:t>class Dog implements Animal, Sound {</a:t>
            </a:r>
          </a:p>
          <a:p>
            <a:pPr marL="0" indent="0">
              <a:buNone/>
            </a:pPr>
            <a:r>
              <a:rPr lang="en-IN" dirty="0"/>
              <a:t>    public void eat() {</a:t>
            </a:r>
          </a:p>
          <a:p>
            <a:pPr marL="0" indent="0">
              <a:buNone/>
            </a:pPr>
            <a:r>
              <a:rPr lang="en-IN" dirty="0"/>
              <a:t>        </a:t>
            </a:r>
            <a:r>
              <a:rPr lang="en-IN" dirty="0" err="1"/>
              <a:t>System.out.println</a:t>
            </a:r>
            <a:r>
              <a:rPr lang="en-IN" dirty="0"/>
              <a:t>("Dog eats food.");</a:t>
            </a:r>
          </a:p>
          <a:p>
            <a:pPr marL="0" indent="0">
              <a:buNone/>
            </a:pPr>
            <a:r>
              <a:rPr lang="en-IN" dirty="0"/>
              <a:t>    }</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22778881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4D13625-3199-D144-DE2F-78FA1D1FBC39}"/>
              </a:ext>
            </a:extLst>
          </p:cNvPr>
          <p:cNvSpPr>
            <a:spLocks noGrp="1"/>
          </p:cNvSpPr>
          <p:nvPr>
            <p:ph idx="1"/>
          </p:nvPr>
        </p:nvSpPr>
        <p:spPr>
          <a:xfrm>
            <a:off x="242888" y="271463"/>
            <a:ext cx="11110912" cy="5905500"/>
          </a:xfrm>
        </p:spPr>
        <p:txBody>
          <a:bodyPr>
            <a:normAutofit fontScale="77500" lnSpcReduction="20000"/>
          </a:bodyPr>
          <a:lstStyle/>
          <a:p>
            <a:pPr marL="0" indent="0">
              <a:buNone/>
            </a:pPr>
            <a:r>
              <a:rPr lang="en-IN" dirty="0"/>
              <a:t> public void </a:t>
            </a:r>
            <a:r>
              <a:rPr lang="en-IN" dirty="0" err="1"/>
              <a:t>makeSound</a:t>
            </a:r>
            <a:r>
              <a:rPr lang="en-IN" dirty="0"/>
              <a:t>() {</a:t>
            </a:r>
          </a:p>
          <a:p>
            <a:pPr marL="0" indent="0">
              <a:buNone/>
            </a:pPr>
            <a:r>
              <a:rPr lang="en-IN" dirty="0"/>
              <a:t>        </a:t>
            </a:r>
            <a:r>
              <a:rPr lang="en-IN" dirty="0" err="1"/>
              <a:t>System.out.println</a:t>
            </a:r>
            <a:r>
              <a:rPr lang="en-IN" dirty="0"/>
              <a:t>("Dog barks.");</a:t>
            </a:r>
          </a:p>
          <a:p>
            <a:pPr marL="0" indent="0">
              <a:buNone/>
            </a:pPr>
            <a:r>
              <a:rPr lang="en-IN" dirty="0"/>
              <a:t>    }</a:t>
            </a:r>
          </a:p>
          <a:p>
            <a:pPr marL="0" indent="0">
              <a:buNone/>
            </a:pPr>
            <a:r>
              <a:rPr lang="en-IN" dirty="0"/>
              <a:t>}</a:t>
            </a:r>
          </a:p>
          <a:p>
            <a:pPr marL="0" indent="0">
              <a:buNone/>
            </a:pPr>
            <a:endParaRPr lang="en-IN" dirty="0"/>
          </a:p>
          <a:p>
            <a:pPr marL="0" indent="0">
              <a:buNone/>
            </a:pPr>
            <a:r>
              <a:rPr lang="en-IN" dirty="0"/>
              <a:t>// Main class</a:t>
            </a:r>
          </a:p>
          <a:p>
            <a:pPr marL="0" indent="0">
              <a:buNone/>
            </a:pPr>
            <a:r>
              <a:rPr lang="en-IN" dirty="0"/>
              <a:t>public class </a:t>
            </a:r>
            <a:r>
              <a:rPr lang="en-IN" dirty="0" err="1"/>
              <a:t>MultipleInheritanceExample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Dog </a:t>
            </a:r>
            <a:r>
              <a:rPr lang="en-IN" dirty="0" err="1"/>
              <a:t>myDog</a:t>
            </a:r>
            <a:r>
              <a:rPr lang="en-IN" dirty="0"/>
              <a:t> = new Dog();</a:t>
            </a:r>
          </a:p>
          <a:p>
            <a:pPr marL="0" indent="0">
              <a:buNone/>
            </a:pPr>
            <a:r>
              <a:rPr lang="en-IN" dirty="0"/>
              <a:t>        </a:t>
            </a:r>
            <a:r>
              <a:rPr lang="en-IN" dirty="0" err="1"/>
              <a:t>myDog.eat</a:t>
            </a:r>
            <a:r>
              <a:rPr lang="en-IN" dirty="0"/>
              <a:t>();       // From Animal interface</a:t>
            </a:r>
          </a:p>
          <a:p>
            <a:pPr marL="0" indent="0">
              <a:buNone/>
            </a:pPr>
            <a:r>
              <a:rPr lang="en-IN" dirty="0"/>
              <a:t>        </a:t>
            </a:r>
            <a:r>
              <a:rPr lang="en-IN" dirty="0" err="1"/>
              <a:t>myDog.makeSound</a:t>
            </a:r>
            <a:r>
              <a:rPr lang="en-IN" dirty="0"/>
              <a:t>(); // From Sound interface</a:t>
            </a:r>
          </a:p>
          <a:p>
            <a:pPr marL="0" indent="0">
              <a:buNone/>
            </a:pPr>
            <a:r>
              <a:rPr lang="en-IN" dirty="0"/>
              <a:t>    }</a:t>
            </a:r>
          </a:p>
          <a:p>
            <a:pPr marL="0" indent="0">
              <a:buNone/>
            </a:pPr>
            <a:r>
              <a:rPr lang="en-IN" dirty="0"/>
              <a:t>}</a:t>
            </a:r>
          </a:p>
          <a:p>
            <a:pPr marL="0" indent="0">
              <a:buNone/>
            </a:pPr>
            <a:r>
              <a:rPr lang="en-IN" dirty="0"/>
              <a:t>Output-</a:t>
            </a:r>
          </a:p>
          <a:p>
            <a:pPr marL="0" indent="0">
              <a:buNone/>
            </a:pPr>
            <a:r>
              <a:rPr lang="en-IN" dirty="0"/>
              <a:t>Dog eats food.</a:t>
            </a:r>
          </a:p>
          <a:p>
            <a:pPr marL="0" indent="0">
              <a:buNone/>
            </a:pPr>
            <a:r>
              <a:rPr lang="en-IN" dirty="0"/>
              <a:t>Dog barks.</a:t>
            </a:r>
          </a:p>
          <a:p>
            <a:pPr marL="0" indent="0">
              <a:buNone/>
            </a:pPr>
            <a:endParaRPr lang="en-IN" dirty="0"/>
          </a:p>
        </p:txBody>
      </p:sp>
    </p:spTree>
    <p:extLst>
      <p:ext uri="{BB962C8B-B14F-4D97-AF65-F5344CB8AC3E}">
        <p14:creationId xmlns:p14="http://schemas.microsoft.com/office/powerpoint/2010/main" val="20277912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FB3F39F-3756-F6DC-D2DE-198A6D475FB2}"/>
              </a:ext>
            </a:extLst>
          </p:cNvPr>
          <p:cNvSpPr>
            <a:spLocks noGrp="1"/>
          </p:cNvSpPr>
          <p:nvPr>
            <p:ph idx="1"/>
          </p:nvPr>
        </p:nvSpPr>
        <p:spPr>
          <a:xfrm>
            <a:off x="214313" y="171450"/>
            <a:ext cx="11139487" cy="6005513"/>
          </a:xfrm>
        </p:spPr>
        <p:txBody>
          <a:bodyPr>
            <a:normAutofit fontScale="70000" lnSpcReduction="20000"/>
          </a:bodyPr>
          <a:lstStyle/>
          <a:p>
            <a:r>
              <a:rPr lang="en-US" dirty="0"/>
              <a:t>Hybrid Inheritance-</a:t>
            </a:r>
          </a:p>
          <a:p>
            <a:pPr marL="0" indent="0">
              <a:buNone/>
            </a:pPr>
            <a:r>
              <a:rPr lang="en-IN" dirty="0"/>
              <a:t>// Parent interface 1</a:t>
            </a:r>
          </a:p>
          <a:p>
            <a:pPr marL="0" indent="0">
              <a:buNone/>
            </a:pPr>
            <a:r>
              <a:rPr lang="en-IN" dirty="0"/>
              <a:t>interface Animal {</a:t>
            </a:r>
          </a:p>
          <a:p>
            <a:pPr marL="0" indent="0">
              <a:buNone/>
            </a:pPr>
            <a:r>
              <a:rPr lang="en-IN" dirty="0"/>
              <a:t>    void eat();</a:t>
            </a:r>
          </a:p>
          <a:p>
            <a:pPr marL="0" indent="0">
              <a:buNone/>
            </a:pPr>
            <a:r>
              <a:rPr lang="en-IN" dirty="0"/>
              <a:t>}</a:t>
            </a:r>
          </a:p>
          <a:p>
            <a:pPr marL="0" indent="0">
              <a:buNone/>
            </a:pPr>
            <a:endParaRPr lang="en-IN" dirty="0"/>
          </a:p>
          <a:p>
            <a:pPr marL="0" indent="0">
              <a:buNone/>
            </a:pPr>
            <a:r>
              <a:rPr lang="en-IN" dirty="0"/>
              <a:t>// Parent interface 2</a:t>
            </a:r>
          </a:p>
          <a:p>
            <a:pPr marL="0" indent="0">
              <a:buNone/>
            </a:pPr>
            <a:r>
              <a:rPr lang="en-IN" dirty="0"/>
              <a:t>interface Sound {</a:t>
            </a:r>
          </a:p>
          <a:p>
            <a:pPr marL="0" indent="0">
              <a:buNone/>
            </a:pPr>
            <a:r>
              <a:rPr lang="en-IN" dirty="0"/>
              <a:t>    void </a:t>
            </a:r>
            <a:r>
              <a:rPr lang="en-IN" dirty="0" err="1"/>
              <a:t>makeSound</a:t>
            </a:r>
            <a:r>
              <a:rPr lang="en-IN" dirty="0"/>
              <a:t>();</a:t>
            </a:r>
          </a:p>
          <a:p>
            <a:pPr marL="0" indent="0">
              <a:buNone/>
            </a:pPr>
            <a:r>
              <a:rPr lang="en-IN" dirty="0"/>
              <a:t>}</a:t>
            </a:r>
          </a:p>
          <a:p>
            <a:pPr marL="0" indent="0">
              <a:buNone/>
            </a:pPr>
            <a:endParaRPr lang="en-IN" dirty="0"/>
          </a:p>
          <a:p>
            <a:pPr marL="0" indent="0">
              <a:buNone/>
            </a:pPr>
            <a:r>
              <a:rPr lang="en-IN" dirty="0"/>
              <a:t>// Base class implementing Animal</a:t>
            </a:r>
          </a:p>
          <a:p>
            <a:pPr marL="0" indent="0">
              <a:buNone/>
            </a:pPr>
            <a:r>
              <a:rPr lang="en-IN" dirty="0"/>
              <a:t>class Dog implements Animal {</a:t>
            </a:r>
          </a:p>
          <a:p>
            <a:pPr marL="0" indent="0">
              <a:buNone/>
            </a:pPr>
            <a:r>
              <a:rPr lang="en-IN" dirty="0"/>
              <a:t>    public void eat() {</a:t>
            </a:r>
          </a:p>
          <a:p>
            <a:pPr marL="0" indent="0">
              <a:buNone/>
            </a:pPr>
            <a:r>
              <a:rPr lang="en-IN" dirty="0"/>
              <a:t>        </a:t>
            </a:r>
            <a:r>
              <a:rPr lang="en-IN" dirty="0" err="1"/>
              <a:t>System.out.println</a:t>
            </a:r>
            <a:r>
              <a:rPr lang="en-IN" dirty="0"/>
              <a:t>("Dog eats food.");</a:t>
            </a:r>
          </a:p>
          <a:p>
            <a:pPr marL="0" indent="0">
              <a:buNone/>
            </a:pPr>
            <a:r>
              <a:rPr lang="en-IN" dirty="0"/>
              <a:t>    }</a:t>
            </a:r>
          </a:p>
          <a:p>
            <a:pPr marL="0" indent="0">
              <a:buNone/>
            </a:pP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9828924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DF2B787-B061-67AB-D384-D158DE3DBB50}"/>
              </a:ext>
            </a:extLst>
          </p:cNvPr>
          <p:cNvSpPr>
            <a:spLocks noGrp="1"/>
          </p:cNvSpPr>
          <p:nvPr>
            <p:ph idx="1"/>
          </p:nvPr>
        </p:nvSpPr>
        <p:spPr>
          <a:xfrm>
            <a:off x="214313" y="242888"/>
            <a:ext cx="11139487" cy="6400800"/>
          </a:xfrm>
        </p:spPr>
        <p:txBody>
          <a:bodyPr>
            <a:normAutofit fontScale="62500" lnSpcReduction="20000"/>
          </a:bodyPr>
          <a:lstStyle/>
          <a:p>
            <a:pPr marL="0" indent="0">
              <a:buNone/>
            </a:pPr>
            <a:r>
              <a:rPr lang="en-IN" dirty="0"/>
              <a:t>// Derived class inheriting from Dog and implementing Sound</a:t>
            </a:r>
          </a:p>
          <a:p>
            <a:pPr marL="0" indent="0">
              <a:buNone/>
            </a:pPr>
            <a:r>
              <a:rPr lang="en-IN" dirty="0"/>
              <a:t>class Puppy extends Dog implements Sound {</a:t>
            </a:r>
          </a:p>
          <a:p>
            <a:pPr marL="0" indent="0">
              <a:buNone/>
            </a:pPr>
            <a:r>
              <a:rPr lang="en-IN" dirty="0"/>
              <a:t>    public void </a:t>
            </a:r>
            <a:r>
              <a:rPr lang="en-IN" dirty="0" err="1"/>
              <a:t>makeSound</a:t>
            </a:r>
            <a:r>
              <a:rPr lang="en-IN" dirty="0"/>
              <a:t>() {</a:t>
            </a:r>
          </a:p>
          <a:p>
            <a:pPr marL="0" indent="0">
              <a:buNone/>
            </a:pPr>
            <a:r>
              <a:rPr lang="en-IN" dirty="0"/>
              <a:t>        </a:t>
            </a:r>
            <a:r>
              <a:rPr lang="en-IN" dirty="0" err="1"/>
              <a:t>System.out.println</a:t>
            </a:r>
            <a:r>
              <a:rPr lang="en-IN" dirty="0"/>
              <a:t>("Puppy barks softly.");</a:t>
            </a:r>
          </a:p>
          <a:p>
            <a:pPr marL="0" indent="0">
              <a:buNone/>
            </a:pPr>
            <a:r>
              <a:rPr lang="en-IN" dirty="0"/>
              <a:t>    }</a:t>
            </a:r>
          </a:p>
          <a:p>
            <a:pPr marL="0" indent="0">
              <a:buNone/>
            </a:pPr>
            <a:r>
              <a:rPr lang="en-IN" dirty="0"/>
              <a:t>}</a:t>
            </a:r>
          </a:p>
          <a:p>
            <a:pPr marL="0" indent="0">
              <a:buNone/>
            </a:pPr>
            <a:endParaRPr lang="en-IN" dirty="0"/>
          </a:p>
          <a:p>
            <a:pPr marL="0" indent="0">
              <a:buNone/>
            </a:pPr>
            <a:r>
              <a:rPr lang="en-IN" dirty="0"/>
              <a:t>// Main class</a:t>
            </a:r>
          </a:p>
          <a:p>
            <a:pPr marL="0" indent="0">
              <a:buNone/>
            </a:pPr>
            <a:r>
              <a:rPr lang="en-IN" dirty="0"/>
              <a:t>public class </a:t>
            </a:r>
            <a:r>
              <a:rPr lang="en-IN" dirty="0" err="1"/>
              <a:t>HybridInheritanceExample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Puppy </a:t>
            </a:r>
            <a:r>
              <a:rPr lang="en-IN" dirty="0" err="1"/>
              <a:t>myPuppy</a:t>
            </a:r>
            <a:r>
              <a:rPr lang="en-IN" dirty="0"/>
              <a:t> = new Puppy();</a:t>
            </a:r>
          </a:p>
          <a:p>
            <a:pPr marL="0" indent="0">
              <a:buNone/>
            </a:pPr>
            <a:r>
              <a:rPr lang="en-IN" dirty="0"/>
              <a:t>        </a:t>
            </a:r>
            <a:r>
              <a:rPr lang="en-IN" dirty="0" err="1"/>
              <a:t>myPuppy.eat</a:t>
            </a:r>
            <a:r>
              <a:rPr lang="en-IN" dirty="0"/>
              <a:t>();       // Inherited from Dog (which implements Animal)</a:t>
            </a:r>
          </a:p>
          <a:p>
            <a:pPr marL="0" indent="0">
              <a:buNone/>
            </a:pPr>
            <a:r>
              <a:rPr lang="en-IN" dirty="0"/>
              <a:t>        </a:t>
            </a:r>
            <a:r>
              <a:rPr lang="en-IN" dirty="0" err="1"/>
              <a:t>myPuppy.makeSound</a:t>
            </a:r>
            <a:r>
              <a:rPr lang="en-IN" dirty="0"/>
              <a:t>(); // Implemented from Sound interface</a:t>
            </a:r>
          </a:p>
          <a:p>
            <a:pPr marL="0" indent="0">
              <a:buNone/>
            </a:pPr>
            <a:r>
              <a:rPr lang="en-IN" dirty="0"/>
              <a:t>    }</a:t>
            </a:r>
          </a:p>
          <a:p>
            <a:pPr marL="0" indent="0">
              <a:buNone/>
            </a:pPr>
            <a:r>
              <a:rPr lang="en-IN" dirty="0"/>
              <a:t>}</a:t>
            </a:r>
          </a:p>
          <a:p>
            <a:pPr marL="0" indent="0">
              <a:buNone/>
            </a:pPr>
            <a:endParaRPr lang="en-IN" dirty="0"/>
          </a:p>
          <a:p>
            <a:pPr marL="0" indent="0">
              <a:buNone/>
            </a:pPr>
            <a:r>
              <a:rPr lang="en-IN" dirty="0"/>
              <a:t>Output-</a:t>
            </a:r>
          </a:p>
          <a:p>
            <a:pPr marL="0" indent="0">
              <a:buNone/>
            </a:pPr>
            <a:r>
              <a:rPr lang="en-US" dirty="0"/>
              <a:t>Dog eats food.</a:t>
            </a:r>
          </a:p>
          <a:p>
            <a:pPr marL="0" indent="0">
              <a:buNone/>
            </a:pPr>
            <a:r>
              <a:rPr lang="en-US" dirty="0"/>
              <a:t>Puppy barks softly.</a:t>
            </a:r>
          </a:p>
          <a:p>
            <a:pPr marL="0" indent="0">
              <a:buNone/>
            </a:pPr>
            <a:endParaRPr lang="en-IN" dirty="0"/>
          </a:p>
        </p:txBody>
      </p:sp>
    </p:spTree>
    <p:extLst>
      <p:ext uri="{BB962C8B-B14F-4D97-AF65-F5344CB8AC3E}">
        <p14:creationId xmlns:p14="http://schemas.microsoft.com/office/powerpoint/2010/main" val="33234523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5EFF9C6-FA7B-D5E4-99E6-645EA5466BE4}"/>
              </a:ext>
            </a:extLst>
          </p:cNvPr>
          <p:cNvSpPr>
            <a:spLocks noGrp="1"/>
          </p:cNvSpPr>
          <p:nvPr>
            <p:ph type="title"/>
          </p:nvPr>
        </p:nvSpPr>
        <p:spPr>
          <a:xfrm>
            <a:off x="171450" y="365126"/>
            <a:ext cx="11182350" cy="635000"/>
          </a:xfrm>
        </p:spPr>
        <p:txBody>
          <a:bodyPr>
            <a:normAutofit fontScale="90000"/>
          </a:bodyPr>
          <a:lstStyle/>
          <a:p>
            <a:r>
              <a:rPr lang="en-US" sz="3600" b="1" dirty="0">
                <a:latin typeface="Times New Roman" panose="02020603050405020304" pitchFamily="18" charset="0"/>
                <a:cs typeface="Times New Roman" panose="02020603050405020304" pitchFamily="18" charset="0"/>
              </a:rPr>
              <a:t>Encapsulation In Java-</a:t>
            </a:r>
            <a:r>
              <a:rPr lang="en-US" dirty="0"/>
              <a:t/>
            </a:r>
            <a:br>
              <a:rPr lang="en-US" dirty="0"/>
            </a:br>
            <a:endParaRPr lang="en-IN" dirty="0"/>
          </a:p>
        </p:txBody>
      </p:sp>
      <p:sp>
        <p:nvSpPr>
          <p:cNvPr id="3" name="Content Placeholder 2">
            <a:extLst>
              <a:ext uri="{FF2B5EF4-FFF2-40B4-BE49-F238E27FC236}">
                <a16:creationId xmlns="" xmlns:a16="http://schemas.microsoft.com/office/drawing/2014/main" id="{0ED83A4C-CA82-9877-D8A0-F9FAF99BB0F1}"/>
              </a:ext>
            </a:extLst>
          </p:cNvPr>
          <p:cNvSpPr>
            <a:spLocks noGrp="1"/>
          </p:cNvSpPr>
          <p:nvPr>
            <p:ph idx="1"/>
          </p:nvPr>
        </p:nvSpPr>
        <p:spPr>
          <a:xfrm>
            <a:off x="171450" y="800100"/>
            <a:ext cx="11182350" cy="5376863"/>
          </a:xfrm>
        </p:spPr>
        <p:txBody>
          <a:bodyPr/>
          <a:lstStyle/>
          <a:p>
            <a:r>
              <a:rPr lang="en-US" dirty="0"/>
              <a:t>Encapsulation is one of the four fundamental </a:t>
            </a:r>
            <a:r>
              <a:rPr lang="en-US" b="1" dirty="0"/>
              <a:t>OOP (Object-Oriented Programming) principles</a:t>
            </a:r>
            <a:r>
              <a:rPr lang="en-US" dirty="0"/>
              <a:t>. It is the practice of </a:t>
            </a:r>
            <a:r>
              <a:rPr lang="en-US" b="1" dirty="0"/>
              <a:t>wrapping data (variables) and code (methods) together into a single unit (class)</a:t>
            </a:r>
            <a:r>
              <a:rPr lang="en-US" dirty="0"/>
              <a:t> and restricting direct access to the data by making it </a:t>
            </a:r>
            <a:r>
              <a:rPr lang="en-US" b="1" dirty="0"/>
              <a:t>private</a:t>
            </a:r>
            <a:r>
              <a:rPr lang="en-US" dirty="0"/>
              <a:t>. Instead, data is accessed and modified through </a:t>
            </a:r>
            <a:r>
              <a:rPr lang="en-US" b="1" dirty="0"/>
              <a:t>public getter and setter methods</a:t>
            </a:r>
            <a:r>
              <a:rPr lang="en-US" dirty="0"/>
              <a:t>.</a:t>
            </a:r>
          </a:p>
          <a:p>
            <a:r>
              <a:rPr lang="en-US" b="1" dirty="0"/>
              <a:t>Key Points of Encapsulation:</a:t>
            </a:r>
          </a:p>
          <a:p>
            <a:pPr>
              <a:buFont typeface="+mj-lt"/>
              <a:buAutoNum type="arabicPeriod"/>
            </a:pPr>
            <a:r>
              <a:rPr lang="en-US" b="1" dirty="0"/>
              <a:t>Data Hiding</a:t>
            </a:r>
            <a:r>
              <a:rPr lang="en-US" dirty="0"/>
              <a:t>: The class’s internal details (like variables) are hidden from outside access.</a:t>
            </a:r>
          </a:p>
          <a:p>
            <a:pPr>
              <a:buFont typeface="+mj-lt"/>
              <a:buAutoNum type="arabicPeriod"/>
            </a:pPr>
            <a:r>
              <a:rPr lang="en-US" b="1" dirty="0"/>
              <a:t>Controlled Access</a:t>
            </a:r>
            <a:r>
              <a:rPr lang="en-US" dirty="0"/>
              <a:t>: Data is accessed and modified only through methods (getters and setters).</a:t>
            </a:r>
          </a:p>
          <a:p>
            <a:pPr>
              <a:buFont typeface="+mj-lt"/>
              <a:buAutoNum type="arabicPeriod"/>
            </a:pPr>
            <a:r>
              <a:rPr lang="en-US" b="1" dirty="0"/>
              <a:t>Increased Security</a:t>
            </a:r>
            <a:r>
              <a:rPr lang="en-US" dirty="0"/>
              <a:t>: Prevents unauthorized modification of data.</a:t>
            </a:r>
          </a:p>
          <a:p>
            <a:pPr>
              <a:buFont typeface="+mj-lt"/>
              <a:buAutoNum type="arabicPeriod"/>
            </a:pPr>
            <a:r>
              <a:rPr lang="en-US" b="1" dirty="0"/>
              <a:t>Improved Maintainability</a:t>
            </a:r>
            <a:r>
              <a:rPr lang="en-US" dirty="0"/>
              <a:t>: Code is more flexible and easier to modify.</a:t>
            </a:r>
          </a:p>
          <a:p>
            <a:endParaRPr lang="en-IN" dirty="0"/>
          </a:p>
        </p:txBody>
      </p:sp>
    </p:spTree>
    <p:extLst>
      <p:ext uri="{BB962C8B-B14F-4D97-AF65-F5344CB8AC3E}">
        <p14:creationId xmlns:p14="http://schemas.microsoft.com/office/powerpoint/2010/main" val="18871484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4F4D8AD-7ACC-BBD2-4E51-CE3D5C9653F7}"/>
              </a:ext>
            </a:extLst>
          </p:cNvPr>
          <p:cNvSpPr>
            <a:spLocks noGrp="1"/>
          </p:cNvSpPr>
          <p:nvPr>
            <p:ph idx="1"/>
          </p:nvPr>
        </p:nvSpPr>
        <p:spPr>
          <a:xfrm>
            <a:off x="228601" y="257175"/>
            <a:ext cx="11125200" cy="5919788"/>
          </a:xfrm>
        </p:spPr>
        <p:txBody>
          <a:bodyPr>
            <a:normAutofit fontScale="55000" lnSpcReduction="20000"/>
          </a:bodyPr>
          <a:lstStyle/>
          <a:p>
            <a:pPr marL="0" indent="0">
              <a:buNone/>
            </a:pPr>
            <a:r>
              <a:rPr lang="en-IN" dirty="0"/>
              <a:t>// Encapsulated class</a:t>
            </a:r>
          </a:p>
          <a:p>
            <a:pPr marL="0" indent="0">
              <a:buNone/>
            </a:pPr>
            <a:r>
              <a:rPr lang="en-IN" dirty="0"/>
              <a:t>class Student {</a:t>
            </a:r>
          </a:p>
          <a:p>
            <a:pPr marL="0" indent="0">
              <a:buNone/>
            </a:pPr>
            <a:r>
              <a:rPr lang="en-IN" dirty="0"/>
              <a:t>    // Private variables (data hiding)</a:t>
            </a:r>
          </a:p>
          <a:p>
            <a:pPr marL="0" indent="0">
              <a:buNone/>
            </a:pPr>
            <a:r>
              <a:rPr lang="en-IN" dirty="0"/>
              <a:t>    private String name;</a:t>
            </a:r>
          </a:p>
          <a:p>
            <a:pPr marL="0" indent="0">
              <a:buNone/>
            </a:pPr>
            <a:r>
              <a:rPr lang="en-IN" dirty="0"/>
              <a:t>    private int age;</a:t>
            </a:r>
          </a:p>
          <a:p>
            <a:pPr marL="0" indent="0">
              <a:buNone/>
            </a:pPr>
            <a:endParaRPr lang="en-IN" dirty="0"/>
          </a:p>
          <a:p>
            <a:pPr marL="0" indent="0">
              <a:buNone/>
            </a:pPr>
            <a:r>
              <a:rPr lang="en-IN" dirty="0"/>
              <a:t>    // Getter method for name</a:t>
            </a:r>
          </a:p>
          <a:p>
            <a:pPr marL="0" indent="0">
              <a:buNone/>
            </a:pPr>
            <a:r>
              <a:rPr lang="en-IN" dirty="0"/>
              <a:t>    public String </a:t>
            </a:r>
            <a:r>
              <a:rPr lang="en-IN" dirty="0" err="1"/>
              <a:t>getName</a:t>
            </a:r>
            <a:r>
              <a:rPr lang="en-IN" dirty="0"/>
              <a:t>() {</a:t>
            </a:r>
          </a:p>
          <a:p>
            <a:pPr marL="0" indent="0">
              <a:buNone/>
            </a:pPr>
            <a:r>
              <a:rPr lang="en-IN" dirty="0"/>
              <a:t>        return name;</a:t>
            </a:r>
          </a:p>
          <a:p>
            <a:pPr marL="0" indent="0">
              <a:buNone/>
            </a:pPr>
            <a:r>
              <a:rPr lang="en-IN" dirty="0"/>
              <a:t>    }</a:t>
            </a:r>
          </a:p>
          <a:p>
            <a:pPr marL="0" indent="0">
              <a:buNone/>
            </a:pPr>
            <a:endParaRPr lang="en-IN" dirty="0"/>
          </a:p>
          <a:p>
            <a:pPr marL="0" indent="0">
              <a:buNone/>
            </a:pPr>
            <a:r>
              <a:rPr lang="en-IN" dirty="0"/>
              <a:t>    // Setter method for name</a:t>
            </a:r>
          </a:p>
          <a:p>
            <a:pPr marL="0" indent="0">
              <a:buNone/>
            </a:pPr>
            <a:r>
              <a:rPr lang="en-IN" dirty="0"/>
              <a:t>    public void </a:t>
            </a:r>
            <a:r>
              <a:rPr lang="en-IN" dirty="0" err="1"/>
              <a:t>setName</a:t>
            </a:r>
            <a:r>
              <a:rPr lang="en-IN" dirty="0"/>
              <a:t>(String </a:t>
            </a:r>
            <a:r>
              <a:rPr lang="en-IN" dirty="0" err="1"/>
              <a:t>newName</a:t>
            </a:r>
            <a:r>
              <a:rPr lang="en-IN" dirty="0"/>
              <a:t>) {</a:t>
            </a:r>
          </a:p>
          <a:p>
            <a:pPr marL="0" indent="0">
              <a:buNone/>
            </a:pPr>
            <a:r>
              <a:rPr lang="en-IN" dirty="0"/>
              <a:t>        name = </a:t>
            </a:r>
            <a:r>
              <a:rPr lang="en-IN" dirty="0" err="1"/>
              <a:t>newName</a:t>
            </a:r>
            <a:r>
              <a:rPr lang="en-IN" dirty="0"/>
              <a:t>;</a:t>
            </a:r>
          </a:p>
          <a:p>
            <a:pPr marL="0" indent="0">
              <a:buNone/>
            </a:pPr>
            <a:r>
              <a:rPr lang="en-IN" dirty="0"/>
              <a:t>    }</a:t>
            </a:r>
          </a:p>
          <a:p>
            <a:pPr marL="0" indent="0">
              <a:buNone/>
            </a:pPr>
            <a:endParaRPr lang="en-IN" dirty="0"/>
          </a:p>
          <a:p>
            <a:pPr marL="0" indent="0">
              <a:buNone/>
            </a:pPr>
            <a:r>
              <a:rPr lang="en-IN" dirty="0"/>
              <a:t>    // Getter method for age</a:t>
            </a:r>
          </a:p>
          <a:p>
            <a:pPr marL="0" indent="0">
              <a:buNone/>
            </a:pPr>
            <a:r>
              <a:rPr lang="en-IN" dirty="0"/>
              <a:t>    public int </a:t>
            </a:r>
            <a:r>
              <a:rPr lang="en-IN" dirty="0" err="1"/>
              <a:t>getAge</a:t>
            </a:r>
            <a:r>
              <a:rPr lang="en-IN" dirty="0"/>
              <a:t>() {</a:t>
            </a:r>
          </a:p>
          <a:p>
            <a:pPr marL="0" indent="0">
              <a:buNone/>
            </a:pPr>
            <a:r>
              <a:rPr lang="en-IN" dirty="0"/>
              <a:t>        return age;</a:t>
            </a:r>
          </a:p>
          <a:p>
            <a:pPr marL="0" indent="0">
              <a:buNone/>
            </a:pPr>
            <a:r>
              <a:rPr lang="en-IN" dirty="0"/>
              <a:t>    }</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9169608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8D48DB4-6C2D-4924-A15A-C43963D49FE9}"/>
              </a:ext>
            </a:extLst>
          </p:cNvPr>
          <p:cNvSpPr>
            <a:spLocks noGrp="1"/>
          </p:cNvSpPr>
          <p:nvPr>
            <p:ph idx="1"/>
          </p:nvPr>
        </p:nvSpPr>
        <p:spPr>
          <a:xfrm>
            <a:off x="257175" y="442913"/>
            <a:ext cx="11096625" cy="5734050"/>
          </a:xfrm>
        </p:spPr>
        <p:txBody>
          <a:bodyPr>
            <a:normAutofit fontScale="85000" lnSpcReduction="20000"/>
          </a:bodyPr>
          <a:lstStyle/>
          <a:p>
            <a:pPr marL="0" indent="0">
              <a:buNone/>
            </a:pPr>
            <a:r>
              <a:rPr lang="en-IN" dirty="0"/>
              <a:t> // Setter method for age</a:t>
            </a:r>
          </a:p>
          <a:p>
            <a:pPr marL="0" indent="0">
              <a:buNone/>
            </a:pPr>
            <a:r>
              <a:rPr lang="en-IN" dirty="0"/>
              <a:t>    public void </a:t>
            </a:r>
            <a:r>
              <a:rPr lang="en-IN" dirty="0" err="1"/>
              <a:t>setAge</a:t>
            </a:r>
            <a:r>
              <a:rPr lang="en-IN" dirty="0"/>
              <a:t>(int </a:t>
            </a:r>
            <a:r>
              <a:rPr lang="en-IN" dirty="0" err="1"/>
              <a:t>newAge</a:t>
            </a:r>
            <a:r>
              <a:rPr lang="en-IN" dirty="0"/>
              <a:t>) {</a:t>
            </a:r>
          </a:p>
          <a:p>
            <a:pPr marL="0" indent="0">
              <a:buNone/>
            </a:pPr>
            <a:r>
              <a:rPr lang="en-IN" dirty="0"/>
              <a:t>        if (</a:t>
            </a:r>
            <a:r>
              <a:rPr lang="en-IN" dirty="0" err="1"/>
              <a:t>newAge</a:t>
            </a:r>
            <a:r>
              <a:rPr lang="en-IN" dirty="0"/>
              <a:t> &gt; 0) {  // Ensuring valid age</a:t>
            </a:r>
          </a:p>
          <a:p>
            <a:pPr marL="0" indent="0">
              <a:buNone/>
            </a:pPr>
            <a:r>
              <a:rPr lang="en-IN" dirty="0"/>
              <a:t>            age = </a:t>
            </a:r>
            <a:r>
              <a:rPr lang="en-IN" dirty="0" err="1"/>
              <a:t>newAge</a:t>
            </a:r>
            <a:r>
              <a:rPr lang="en-IN" dirty="0"/>
              <a:t>;</a:t>
            </a:r>
          </a:p>
          <a:p>
            <a:pPr marL="0" indent="0">
              <a:buNone/>
            </a:pPr>
            <a:r>
              <a:rPr lang="en-IN" dirty="0"/>
              <a:t>        } else {</a:t>
            </a:r>
          </a:p>
          <a:p>
            <a:pPr marL="0" indent="0">
              <a:buNone/>
            </a:pPr>
            <a:r>
              <a:rPr lang="en-IN" dirty="0"/>
              <a:t>            </a:t>
            </a:r>
            <a:r>
              <a:rPr lang="en-IN" dirty="0" err="1"/>
              <a:t>System.out.println</a:t>
            </a:r>
            <a:r>
              <a:rPr lang="en-IN" dirty="0"/>
              <a:t>("Age must be positive!");</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a:p>
            <a:pPr marL="0" indent="0">
              <a:buNone/>
            </a:pPr>
            <a:r>
              <a:rPr lang="en-IN" dirty="0"/>
              <a:t>// Main class</a:t>
            </a:r>
          </a:p>
          <a:p>
            <a:pPr marL="0" indent="0">
              <a:buNone/>
            </a:pPr>
            <a:r>
              <a:rPr lang="en-IN" dirty="0"/>
              <a:t>public class </a:t>
            </a:r>
            <a:r>
              <a:rPr lang="en-IN" dirty="0" err="1"/>
              <a:t>EncapsulationExample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 Creating an object of Student class</a:t>
            </a:r>
          </a:p>
          <a:p>
            <a:pPr marL="0" indent="0">
              <a:buNone/>
            </a:pPr>
            <a:r>
              <a:rPr lang="en-IN" dirty="0"/>
              <a:t>        Student student1 = new Student();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5900288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319DB48-626E-4258-15C0-CCA74C0C2318}"/>
              </a:ext>
            </a:extLst>
          </p:cNvPr>
          <p:cNvSpPr>
            <a:spLocks noGrp="1"/>
          </p:cNvSpPr>
          <p:nvPr>
            <p:ph idx="1"/>
          </p:nvPr>
        </p:nvSpPr>
        <p:spPr>
          <a:xfrm>
            <a:off x="342900" y="285750"/>
            <a:ext cx="11010900" cy="5891213"/>
          </a:xfrm>
        </p:spPr>
        <p:txBody>
          <a:bodyPr>
            <a:normAutofit lnSpcReduction="10000"/>
          </a:bodyPr>
          <a:lstStyle/>
          <a:p>
            <a:pPr marL="0" indent="0">
              <a:buNone/>
            </a:pPr>
            <a:r>
              <a:rPr lang="en-IN" dirty="0"/>
              <a:t> // Setting values using setter methods</a:t>
            </a:r>
          </a:p>
          <a:p>
            <a:pPr marL="0" indent="0">
              <a:buNone/>
            </a:pPr>
            <a:r>
              <a:rPr lang="en-IN" dirty="0"/>
              <a:t>        student1.setName("John");</a:t>
            </a:r>
          </a:p>
          <a:p>
            <a:pPr marL="0" indent="0">
              <a:buNone/>
            </a:pPr>
            <a:r>
              <a:rPr lang="en-IN" dirty="0"/>
              <a:t>        student1.setAge(21);</a:t>
            </a:r>
          </a:p>
          <a:p>
            <a:pPr marL="0" indent="0">
              <a:buNone/>
            </a:pPr>
            <a:endParaRPr lang="en-IN" dirty="0"/>
          </a:p>
          <a:p>
            <a:pPr marL="0" indent="0">
              <a:buNone/>
            </a:pPr>
            <a:r>
              <a:rPr lang="en-IN" dirty="0"/>
              <a:t>        // Getting values using getter methods</a:t>
            </a:r>
          </a:p>
          <a:p>
            <a:pPr marL="0" indent="0">
              <a:buNone/>
            </a:pPr>
            <a:r>
              <a:rPr lang="en-IN" dirty="0"/>
              <a:t>        </a:t>
            </a:r>
            <a:r>
              <a:rPr lang="en-IN" dirty="0" err="1"/>
              <a:t>System.out.println</a:t>
            </a:r>
            <a:r>
              <a:rPr lang="en-IN" dirty="0"/>
              <a:t>("Student Name: " + student1.getName());</a:t>
            </a:r>
          </a:p>
          <a:p>
            <a:pPr marL="0" indent="0">
              <a:buNone/>
            </a:pPr>
            <a:r>
              <a:rPr lang="en-IN" dirty="0"/>
              <a:t>        </a:t>
            </a:r>
            <a:r>
              <a:rPr lang="en-IN" dirty="0" err="1"/>
              <a:t>System.out.println</a:t>
            </a:r>
            <a:r>
              <a:rPr lang="en-IN" dirty="0"/>
              <a:t>("Student Age: " + student1.getAge());</a:t>
            </a:r>
          </a:p>
          <a:p>
            <a:pPr marL="0" indent="0">
              <a:buNone/>
            </a:pPr>
            <a:r>
              <a:rPr lang="en-IN" dirty="0"/>
              <a:t>    }</a:t>
            </a:r>
          </a:p>
          <a:p>
            <a:pPr marL="0" indent="0">
              <a:buNone/>
            </a:pPr>
            <a:r>
              <a:rPr lang="en-IN" dirty="0"/>
              <a:t>}</a:t>
            </a:r>
          </a:p>
          <a:p>
            <a:pPr marL="0" indent="0">
              <a:buNone/>
            </a:pPr>
            <a:r>
              <a:rPr lang="en-IN" dirty="0"/>
              <a:t>Output-</a:t>
            </a:r>
          </a:p>
          <a:p>
            <a:pPr marL="0" indent="0">
              <a:buNone/>
            </a:pPr>
            <a:r>
              <a:rPr lang="en-US" dirty="0"/>
              <a:t>Student Name: John</a:t>
            </a:r>
          </a:p>
          <a:p>
            <a:pPr marL="0" indent="0">
              <a:buNone/>
            </a:pPr>
            <a:r>
              <a:rPr lang="en-US" dirty="0"/>
              <a:t>Student Age: 21</a:t>
            </a:r>
          </a:p>
          <a:p>
            <a:pPr marL="0" indent="0">
              <a:buNone/>
            </a:pPr>
            <a:endParaRPr lang="en-IN" dirty="0"/>
          </a:p>
        </p:txBody>
      </p:sp>
    </p:spTree>
    <p:extLst>
      <p:ext uri="{BB962C8B-B14F-4D97-AF65-F5344CB8AC3E}">
        <p14:creationId xmlns:p14="http://schemas.microsoft.com/office/powerpoint/2010/main" val="27417525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61" y="315021"/>
            <a:ext cx="11153384" cy="449067"/>
          </a:xfrm>
        </p:spPr>
        <p:txBody>
          <a:bodyPr>
            <a:normAutofit fontScale="90000"/>
          </a:bodyPr>
          <a:lstStyle/>
          <a:p>
            <a:r>
              <a:rPr lang="en-US" sz="3600" b="1" dirty="0" smtClean="0">
                <a:latin typeface="Times New Roman" pitchFamily="18" charset="0"/>
                <a:cs typeface="Times New Roman" pitchFamily="18" charset="0"/>
              </a:rPr>
              <a:t>Garbage Collector</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187890" y="926926"/>
            <a:ext cx="11423737" cy="5461348"/>
          </a:xfrm>
        </p:spPr>
        <p:txBody>
          <a:bodyPr/>
          <a:lstStyle/>
          <a:p>
            <a:r>
              <a:rPr lang="en-US" dirty="0"/>
              <a:t>In java, garbage means unreferenced objects.</a:t>
            </a:r>
          </a:p>
          <a:p>
            <a:r>
              <a:rPr lang="en-US" dirty="0"/>
              <a:t>Garbage Collection is process of reclaiming the runtime unused memory automatically. In other words, it is a way to destroy the unused objects.</a:t>
            </a:r>
          </a:p>
          <a:p>
            <a:r>
              <a:rPr lang="en-US" dirty="0"/>
              <a:t>To do so, we were using free() function in C language and delete() in C++. But, in java it is performed automatically. So, java provides better memory management.</a:t>
            </a:r>
          </a:p>
          <a:p>
            <a:r>
              <a:rPr lang="en-US" dirty="0"/>
              <a:t>Advantage of Garbage Collection</a:t>
            </a:r>
          </a:p>
          <a:p>
            <a:r>
              <a:rPr lang="en-US" dirty="0"/>
              <a:t>It makes java </a:t>
            </a:r>
            <a:r>
              <a:rPr lang="en-US" b="1" dirty="0"/>
              <a:t>memory efficient</a:t>
            </a:r>
            <a:r>
              <a:rPr lang="en-US" dirty="0"/>
              <a:t> because garbage collector removes the unreferenced objects from heap memory.</a:t>
            </a:r>
          </a:p>
          <a:p>
            <a:r>
              <a:rPr lang="en-US" dirty="0"/>
              <a:t>It is </a:t>
            </a:r>
            <a:r>
              <a:rPr lang="en-US" b="1" dirty="0"/>
              <a:t>automatically done</a:t>
            </a:r>
            <a:r>
              <a:rPr lang="en-US" dirty="0"/>
              <a:t> by the garbage collector(a part of JVM) so we don't need to make extra efforts.</a:t>
            </a:r>
          </a:p>
          <a:p>
            <a:pPr marL="0" indent="0">
              <a:buNone/>
            </a:pPr>
            <a:endParaRPr lang="en-US" dirty="0"/>
          </a:p>
        </p:txBody>
      </p:sp>
    </p:spTree>
    <p:extLst>
      <p:ext uri="{BB962C8B-B14F-4D97-AF65-F5344CB8AC3E}">
        <p14:creationId xmlns:p14="http://schemas.microsoft.com/office/powerpoint/2010/main" val="42417606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682" y="413359"/>
            <a:ext cx="11266118" cy="6237962"/>
          </a:xfrm>
        </p:spPr>
        <p:txBody>
          <a:bodyPr>
            <a:normAutofit fontScale="70000" lnSpcReduction="20000"/>
          </a:bodyPr>
          <a:lstStyle/>
          <a:p>
            <a:r>
              <a:rPr lang="en-US" dirty="0"/>
              <a:t>How can an object be unreferenced?</a:t>
            </a:r>
          </a:p>
          <a:p>
            <a:r>
              <a:rPr lang="en-US" dirty="0"/>
              <a:t>There are many ways</a:t>
            </a:r>
            <a:r>
              <a:rPr lang="en-US" dirty="0" smtClean="0"/>
              <a:t>:</a:t>
            </a:r>
          </a:p>
          <a:p>
            <a:r>
              <a:rPr lang="en-US" dirty="0"/>
              <a:t>By nulling the reference</a:t>
            </a:r>
          </a:p>
          <a:p>
            <a:r>
              <a:rPr lang="en-US" dirty="0"/>
              <a:t>By assigning a reference to another</a:t>
            </a:r>
          </a:p>
          <a:p>
            <a:r>
              <a:rPr lang="en-US" dirty="0"/>
              <a:t>By anonymous object etc.</a:t>
            </a:r>
          </a:p>
          <a:p>
            <a:pPr marL="0" indent="0">
              <a:buNone/>
            </a:pPr>
            <a:r>
              <a:rPr lang="en-US" dirty="0"/>
              <a:t>1) By nulling a reference:</a:t>
            </a:r>
          </a:p>
          <a:p>
            <a:r>
              <a:rPr lang="en-US" dirty="0"/>
              <a:t>Employee e=</a:t>
            </a:r>
            <a:r>
              <a:rPr lang="en-US" b="1" dirty="0"/>
              <a:t>new</a:t>
            </a:r>
            <a:r>
              <a:rPr lang="en-US" dirty="0"/>
              <a:t> Employee();  </a:t>
            </a:r>
          </a:p>
          <a:p>
            <a:r>
              <a:rPr lang="en-US" dirty="0"/>
              <a:t>e=</a:t>
            </a:r>
            <a:r>
              <a:rPr lang="en-US" b="1" dirty="0"/>
              <a:t>null</a:t>
            </a:r>
            <a:r>
              <a:rPr lang="en-US" dirty="0"/>
              <a:t>; </a:t>
            </a:r>
            <a:endParaRPr lang="en-US" dirty="0" smtClean="0"/>
          </a:p>
          <a:p>
            <a:pPr marL="0" indent="0">
              <a:buNone/>
            </a:pPr>
            <a:endParaRPr lang="en-US" dirty="0" smtClean="0"/>
          </a:p>
          <a:p>
            <a:pPr marL="0" indent="0">
              <a:buNone/>
            </a:pPr>
            <a:r>
              <a:rPr lang="en-US" dirty="0"/>
              <a:t>2) By assigning a reference to another:</a:t>
            </a:r>
          </a:p>
          <a:p>
            <a:r>
              <a:rPr lang="en-US" dirty="0"/>
              <a:t>Employee e1=</a:t>
            </a:r>
            <a:r>
              <a:rPr lang="en-US" b="1" dirty="0"/>
              <a:t>new</a:t>
            </a:r>
            <a:r>
              <a:rPr lang="en-US" dirty="0"/>
              <a:t> Employee();  </a:t>
            </a:r>
          </a:p>
          <a:p>
            <a:r>
              <a:rPr lang="en-US" dirty="0"/>
              <a:t>Employee e2=</a:t>
            </a:r>
            <a:r>
              <a:rPr lang="en-US" b="1" dirty="0"/>
              <a:t>new</a:t>
            </a:r>
            <a:r>
              <a:rPr lang="en-US" dirty="0"/>
              <a:t> Employee();  </a:t>
            </a:r>
          </a:p>
          <a:p>
            <a:r>
              <a:rPr lang="en-US" dirty="0"/>
              <a:t>e1=e2;//now the first object referred by e1 is available for garbage collection </a:t>
            </a:r>
            <a:endParaRPr lang="en-US" dirty="0" smtClean="0"/>
          </a:p>
          <a:p>
            <a:r>
              <a:rPr lang="en-US" dirty="0"/>
              <a:t> </a:t>
            </a:r>
            <a:endParaRPr lang="en-US" dirty="0" smtClean="0"/>
          </a:p>
          <a:p>
            <a:pPr marL="0" indent="0">
              <a:buNone/>
            </a:pPr>
            <a:r>
              <a:rPr lang="en-US" dirty="0"/>
              <a:t>3) By anonymous object:</a:t>
            </a:r>
          </a:p>
          <a:p>
            <a:r>
              <a:rPr lang="en-US" b="1" dirty="0"/>
              <a:t>new</a:t>
            </a:r>
            <a:r>
              <a:rPr lang="en-US" dirty="0"/>
              <a:t> Employee();  </a:t>
            </a:r>
          </a:p>
          <a:p>
            <a:pPr marL="0" indent="0">
              <a:buNone/>
            </a:pPr>
            <a:endParaRPr lang="en-US" dirty="0"/>
          </a:p>
          <a:p>
            <a:pPr marL="0" indent="0">
              <a:buNone/>
            </a:pPr>
            <a:r>
              <a:rPr lang="en-US" dirty="0"/>
              <a:t> </a:t>
            </a:r>
          </a:p>
          <a:p>
            <a:endParaRPr lang="en-US" dirty="0"/>
          </a:p>
          <a:p>
            <a:endParaRPr lang="en-US" dirty="0"/>
          </a:p>
        </p:txBody>
      </p:sp>
    </p:spTree>
    <p:extLst>
      <p:ext uri="{BB962C8B-B14F-4D97-AF65-F5344CB8AC3E}">
        <p14:creationId xmlns:p14="http://schemas.microsoft.com/office/powerpoint/2010/main" val="22115179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047" y="288099"/>
            <a:ext cx="11090753" cy="5888864"/>
          </a:xfrm>
        </p:spPr>
        <p:txBody>
          <a:bodyPr>
            <a:normAutofit fontScale="92500" lnSpcReduction="10000"/>
          </a:bodyPr>
          <a:lstStyle/>
          <a:p>
            <a:r>
              <a:rPr lang="en-US" dirty="0"/>
              <a:t>finalize() method</a:t>
            </a:r>
          </a:p>
          <a:p>
            <a:r>
              <a:rPr lang="en-US" dirty="0"/>
              <a:t>The finalize() method is invoked each time before the object is garbage collected. This method can be used to perform cleanup processing. This method is defined in Object class as:</a:t>
            </a:r>
          </a:p>
          <a:p>
            <a:pPr marL="0" indent="0">
              <a:buNone/>
            </a:pPr>
            <a:r>
              <a:rPr lang="en-US" b="1" dirty="0" smtClean="0"/>
              <a:t>   - protected</a:t>
            </a:r>
            <a:r>
              <a:rPr lang="en-US" dirty="0"/>
              <a:t> </a:t>
            </a:r>
            <a:r>
              <a:rPr lang="en-US" b="1" dirty="0"/>
              <a:t>void</a:t>
            </a:r>
            <a:r>
              <a:rPr lang="en-US" dirty="0"/>
              <a:t> finalize(){}  </a:t>
            </a:r>
            <a:endParaRPr lang="en-US" dirty="0" smtClean="0"/>
          </a:p>
          <a:p>
            <a:r>
              <a:rPr lang="en-US" i="1" dirty="0"/>
              <a:t>Note: The Garbage collector of JVM collects only those objects that are created by new keyword. So if you have created any object without new, you can use finalize method to perform cleanup processing (destroying remaining objects).</a:t>
            </a:r>
          </a:p>
          <a:p>
            <a:r>
              <a:rPr lang="en-US" dirty="0" err="1"/>
              <a:t>gc</a:t>
            </a:r>
            <a:r>
              <a:rPr lang="en-US" dirty="0"/>
              <a:t>() method</a:t>
            </a:r>
          </a:p>
          <a:p>
            <a:r>
              <a:rPr lang="en-US" dirty="0"/>
              <a:t>The </a:t>
            </a:r>
            <a:r>
              <a:rPr lang="en-US" dirty="0" err="1"/>
              <a:t>gc</a:t>
            </a:r>
            <a:r>
              <a:rPr lang="en-US" dirty="0"/>
              <a:t>() method is used to invoke the garbage collector to perform cleanup processing. The </a:t>
            </a:r>
            <a:r>
              <a:rPr lang="en-US" dirty="0" err="1"/>
              <a:t>gc</a:t>
            </a:r>
            <a:r>
              <a:rPr lang="en-US" dirty="0"/>
              <a:t>() is found in System and Runtime classes.</a:t>
            </a:r>
          </a:p>
          <a:p>
            <a:pPr marL="0" indent="0">
              <a:buNone/>
            </a:pPr>
            <a:r>
              <a:rPr lang="en-US" b="1" dirty="0"/>
              <a:t> </a:t>
            </a:r>
            <a:r>
              <a:rPr lang="en-US" b="1" dirty="0" smtClean="0"/>
              <a:t>  - public</a:t>
            </a:r>
            <a:r>
              <a:rPr lang="en-US" dirty="0"/>
              <a:t> </a:t>
            </a:r>
            <a:r>
              <a:rPr lang="en-US" b="1" dirty="0"/>
              <a:t>static</a:t>
            </a:r>
            <a:r>
              <a:rPr lang="en-US" dirty="0"/>
              <a:t> </a:t>
            </a:r>
            <a:r>
              <a:rPr lang="en-US" b="1" dirty="0"/>
              <a:t>void</a:t>
            </a:r>
            <a:r>
              <a:rPr lang="en-US" dirty="0"/>
              <a:t> </a:t>
            </a:r>
            <a:r>
              <a:rPr lang="en-US" dirty="0" err="1"/>
              <a:t>gc</a:t>
            </a:r>
            <a:r>
              <a:rPr lang="en-US" dirty="0"/>
              <a:t>(){}  </a:t>
            </a:r>
          </a:p>
          <a:p>
            <a:r>
              <a:rPr lang="en-US" i="1" dirty="0"/>
              <a:t>Note: Garbage collection is performed by a daemon thread called Garbage Collector(GC). This thread calls the finalize() method before object is garbage collected.</a:t>
            </a:r>
          </a:p>
          <a:p>
            <a:endParaRPr lang="en-US" dirty="0"/>
          </a:p>
          <a:p>
            <a:endParaRPr lang="en-US" dirty="0"/>
          </a:p>
        </p:txBody>
      </p:sp>
    </p:spTree>
    <p:extLst>
      <p:ext uri="{BB962C8B-B14F-4D97-AF65-F5344CB8AC3E}">
        <p14:creationId xmlns:p14="http://schemas.microsoft.com/office/powerpoint/2010/main" val="12571863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5781" y="350729"/>
            <a:ext cx="10978019" cy="5826234"/>
          </a:xfrm>
        </p:spPr>
        <p:txBody>
          <a:bodyPr>
            <a:normAutofit fontScale="92500" lnSpcReduction="10000"/>
          </a:bodyPr>
          <a:lstStyle/>
          <a:p>
            <a:r>
              <a:rPr lang="en-US" dirty="0"/>
              <a:t>Simple Example of garbage collection in java</a:t>
            </a:r>
          </a:p>
          <a:p>
            <a:pPr marL="0" indent="0">
              <a:buNone/>
            </a:pPr>
            <a:r>
              <a:rPr lang="en-US" b="1" dirty="0"/>
              <a:t>public</a:t>
            </a:r>
            <a:r>
              <a:rPr lang="en-US" dirty="0"/>
              <a:t> </a:t>
            </a:r>
            <a:r>
              <a:rPr lang="en-US" b="1" dirty="0"/>
              <a:t>class</a:t>
            </a:r>
            <a:r>
              <a:rPr lang="en-US" dirty="0"/>
              <a:t> TestGarbage1{  </a:t>
            </a:r>
          </a:p>
          <a:p>
            <a:pPr marL="0" indent="0">
              <a:buNone/>
            </a:pPr>
            <a:r>
              <a:rPr lang="en-US" dirty="0"/>
              <a:t> </a:t>
            </a:r>
            <a:r>
              <a:rPr lang="en-US" b="1" dirty="0"/>
              <a:t>public</a:t>
            </a:r>
            <a:r>
              <a:rPr lang="en-US" dirty="0"/>
              <a:t> </a:t>
            </a:r>
            <a:r>
              <a:rPr lang="en-US" b="1" dirty="0"/>
              <a:t>void</a:t>
            </a:r>
            <a:r>
              <a:rPr lang="en-US" dirty="0"/>
              <a:t> finalize(){</a:t>
            </a:r>
            <a:r>
              <a:rPr lang="en-US" dirty="0" err="1"/>
              <a:t>System.out.println</a:t>
            </a:r>
            <a:r>
              <a:rPr lang="en-US" dirty="0"/>
              <a:t>("object is garbage collected");}  </a:t>
            </a:r>
          </a:p>
          <a:p>
            <a:pPr marL="0" indent="0">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TestGarbage1 s1=</a:t>
            </a:r>
            <a:r>
              <a:rPr lang="en-US" b="1" dirty="0"/>
              <a:t>new</a:t>
            </a:r>
            <a:r>
              <a:rPr lang="en-US" dirty="0"/>
              <a:t> TestGarbage1();  </a:t>
            </a:r>
          </a:p>
          <a:p>
            <a:pPr marL="0" indent="0">
              <a:buNone/>
            </a:pPr>
            <a:r>
              <a:rPr lang="en-US" dirty="0"/>
              <a:t>  TestGarbage1 s2=</a:t>
            </a:r>
            <a:r>
              <a:rPr lang="en-US" b="1" dirty="0"/>
              <a:t>new</a:t>
            </a:r>
            <a:r>
              <a:rPr lang="en-US" dirty="0"/>
              <a:t> TestGarbage1();  </a:t>
            </a:r>
          </a:p>
          <a:p>
            <a:pPr marL="0" indent="0">
              <a:buNone/>
            </a:pPr>
            <a:r>
              <a:rPr lang="en-US" dirty="0"/>
              <a:t>  s1=</a:t>
            </a:r>
            <a:r>
              <a:rPr lang="en-US" b="1" dirty="0"/>
              <a:t>null</a:t>
            </a:r>
            <a:r>
              <a:rPr lang="en-US" dirty="0"/>
              <a:t>;  </a:t>
            </a:r>
          </a:p>
          <a:p>
            <a:pPr marL="0" indent="0">
              <a:buNone/>
            </a:pPr>
            <a:r>
              <a:rPr lang="en-US" dirty="0"/>
              <a:t>  s2=</a:t>
            </a:r>
            <a:r>
              <a:rPr lang="en-US" b="1" dirty="0"/>
              <a:t>null</a:t>
            </a:r>
            <a:r>
              <a:rPr lang="en-US" dirty="0"/>
              <a:t>;  </a:t>
            </a:r>
          </a:p>
          <a:p>
            <a:pPr marL="0" indent="0">
              <a:buNone/>
            </a:pPr>
            <a:r>
              <a:rPr lang="en-US" dirty="0"/>
              <a:t> </a:t>
            </a:r>
            <a:r>
              <a:rPr lang="en-US" dirty="0" err="1"/>
              <a:t>System.gc</a:t>
            </a:r>
            <a:r>
              <a:rPr lang="en-US" dirty="0"/>
              <a:t>();  </a:t>
            </a:r>
          </a:p>
          <a:p>
            <a:pPr marL="0" indent="0">
              <a:buNone/>
            </a:pPr>
            <a:r>
              <a:rPr lang="en-US" dirty="0"/>
              <a:t> }  </a:t>
            </a:r>
          </a:p>
          <a:p>
            <a:pPr marL="0" indent="0">
              <a:buNone/>
            </a:pPr>
            <a:r>
              <a:rPr lang="en-US" dirty="0"/>
              <a:t>}  </a:t>
            </a:r>
            <a:endParaRPr lang="en-US" dirty="0" smtClean="0"/>
          </a:p>
          <a:p>
            <a:pPr marL="0" indent="0">
              <a:buNone/>
            </a:pPr>
            <a:r>
              <a:rPr lang="en-US" dirty="0"/>
              <a:t>object is garbage collected </a:t>
            </a:r>
            <a:endParaRPr lang="en-US" dirty="0" smtClean="0"/>
          </a:p>
          <a:p>
            <a:pPr marL="0" indent="0">
              <a:buNone/>
            </a:pPr>
            <a:r>
              <a:rPr lang="en-US" dirty="0" smtClean="0"/>
              <a:t>object </a:t>
            </a:r>
            <a:r>
              <a:rPr lang="en-US" dirty="0"/>
              <a:t>is garbage collected</a:t>
            </a:r>
          </a:p>
          <a:p>
            <a:pPr marL="0" indent="0">
              <a:buNone/>
            </a:pPr>
            <a:endParaRPr lang="en-US" dirty="0"/>
          </a:p>
        </p:txBody>
      </p:sp>
    </p:spTree>
    <p:extLst>
      <p:ext uri="{BB962C8B-B14F-4D97-AF65-F5344CB8AC3E}">
        <p14:creationId xmlns:p14="http://schemas.microsoft.com/office/powerpoint/2010/main" val="27320547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0833" y="450937"/>
            <a:ext cx="11178436" cy="5899759"/>
          </a:xfrm>
        </p:spPr>
        <p:txBody>
          <a:bodyPr>
            <a:normAutofit fontScale="77500" lnSpcReduction="20000"/>
          </a:bodyPr>
          <a:lstStyle/>
          <a:p>
            <a:r>
              <a:rPr lang="en-US" b="1" dirty="0"/>
              <a:t>Java Lambda </a:t>
            </a:r>
            <a:r>
              <a:rPr lang="en-US" b="1" dirty="0" smtClean="0"/>
              <a:t>Expressions-</a:t>
            </a:r>
            <a:endParaRPr lang="en-US" b="1" dirty="0"/>
          </a:p>
          <a:p>
            <a:r>
              <a:rPr lang="en-US" dirty="0"/>
              <a:t>A lambda expression is a new and important feature of Java that was included in Java SE 8. It provides a clear and concise way to represent one method interface using an expression. It is very useful in the collection library. It helps to iterate, filter and extract data from the collection.</a:t>
            </a:r>
          </a:p>
          <a:p>
            <a:r>
              <a:rPr lang="en-US" dirty="0"/>
              <a:t>The Lambda expression is used to provide the implementation of an interface that has a functional interface. It saves a lot of code. In the case of the lambda expression, we don't need to define the method again for providing the implementation. Here, we write the implementation code.</a:t>
            </a:r>
          </a:p>
          <a:p>
            <a:r>
              <a:rPr lang="en-US" dirty="0"/>
              <a:t>Java lambda expression is treated as a function, so the compiler does not create a .class file</a:t>
            </a:r>
            <a:r>
              <a:rPr lang="en-US" dirty="0" smtClean="0"/>
              <a:t>.</a:t>
            </a:r>
          </a:p>
          <a:p>
            <a:r>
              <a:rPr lang="en-US" b="1" dirty="0"/>
              <a:t>Why use Lambda Expression?</a:t>
            </a:r>
          </a:p>
          <a:p>
            <a:r>
              <a:rPr lang="en-US" dirty="0"/>
              <a:t>Lambda expressions in Java help to implement functional interfaces more concisely and expressively, thereby eliminating lengthy boilerplate code and strengthening readability. This new library incorporates a functional programming style to Java and treats the functions as first-class citizens. Lambda expressions uniquely allow to operate on stream collections in a functional style with a simplified syntax</a:t>
            </a:r>
            <a:r>
              <a:rPr lang="en-US" dirty="0" smtClean="0"/>
              <a:t>.</a:t>
            </a:r>
          </a:p>
          <a:p>
            <a:endParaRPr lang="en-US" dirty="0"/>
          </a:p>
          <a:p>
            <a:r>
              <a:rPr lang="en-US" dirty="0"/>
              <a:t>Java Lambda Expression Syntax</a:t>
            </a:r>
          </a:p>
          <a:p>
            <a:pPr marL="0" indent="0">
              <a:buNone/>
            </a:pPr>
            <a:r>
              <a:rPr lang="en-US" dirty="0" smtClean="0"/>
              <a:t>   (</a:t>
            </a:r>
            <a:r>
              <a:rPr lang="en-US" dirty="0"/>
              <a:t>argument-list) -&gt; {body}  </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922415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7995" y="739036"/>
            <a:ext cx="11115805" cy="5437927"/>
          </a:xfrm>
        </p:spPr>
        <p:txBody>
          <a:bodyPr>
            <a:normAutofit fontScale="70000" lnSpcReduction="20000"/>
          </a:bodyPr>
          <a:lstStyle/>
          <a:p>
            <a:r>
              <a:rPr lang="en-US" dirty="0"/>
              <a:t>Java lambda expression consists of the following three components:</a:t>
            </a:r>
          </a:p>
          <a:p>
            <a:r>
              <a:rPr lang="en-US" b="1" dirty="0"/>
              <a:t>Argument-list:</a:t>
            </a:r>
            <a:r>
              <a:rPr lang="en-US" dirty="0"/>
              <a:t> It can be empty or non-empty as well.</a:t>
            </a:r>
          </a:p>
          <a:p>
            <a:r>
              <a:rPr lang="en-US" b="1" dirty="0"/>
              <a:t>Arrow-token:</a:t>
            </a:r>
            <a:r>
              <a:rPr lang="en-US" dirty="0"/>
              <a:t> It is used to link the arguments list and body of expression.</a:t>
            </a:r>
          </a:p>
          <a:p>
            <a:r>
              <a:rPr lang="en-US" b="1" dirty="0"/>
              <a:t>Body:</a:t>
            </a:r>
            <a:r>
              <a:rPr lang="en-US" dirty="0"/>
              <a:t> It contains expressions and statements for lambda expression.</a:t>
            </a:r>
          </a:p>
          <a:p>
            <a:r>
              <a:rPr lang="en-US" b="1" dirty="0"/>
              <a:t>No Parameter Syntax</a:t>
            </a:r>
            <a:endParaRPr lang="en-US" dirty="0"/>
          </a:p>
          <a:p>
            <a:pPr marL="0" indent="0">
              <a:buNone/>
            </a:pPr>
            <a:r>
              <a:rPr lang="en-US" dirty="0"/>
              <a:t>() -&gt; {  </a:t>
            </a:r>
          </a:p>
          <a:p>
            <a:pPr marL="0" indent="0">
              <a:buNone/>
            </a:pPr>
            <a:r>
              <a:rPr lang="en-US" dirty="0"/>
              <a:t>//Body of no parameter lambda  </a:t>
            </a:r>
          </a:p>
          <a:p>
            <a:pPr marL="0" indent="0">
              <a:buNone/>
            </a:pPr>
            <a:r>
              <a:rPr lang="en-US" dirty="0"/>
              <a:t>}  </a:t>
            </a:r>
            <a:endParaRPr lang="en-US" dirty="0" smtClean="0"/>
          </a:p>
          <a:p>
            <a:r>
              <a:rPr lang="en-US" b="1" dirty="0"/>
              <a:t>One Parameter </a:t>
            </a:r>
            <a:r>
              <a:rPr lang="en-US" b="1" dirty="0" smtClean="0"/>
              <a:t>Syntax</a:t>
            </a:r>
          </a:p>
          <a:p>
            <a:pPr marL="0" indent="0">
              <a:buNone/>
            </a:pPr>
            <a:r>
              <a:rPr lang="en-US" dirty="0"/>
              <a:t>(p1) -&gt; {  </a:t>
            </a:r>
          </a:p>
          <a:p>
            <a:pPr marL="0" indent="0">
              <a:buNone/>
            </a:pPr>
            <a:r>
              <a:rPr lang="en-US" dirty="0"/>
              <a:t>//Body of single parameter lambda  </a:t>
            </a:r>
          </a:p>
          <a:p>
            <a:pPr marL="0" indent="0">
              <a:buNone/>
            </a:pPr>
            <a:r>
              <a:rPr lang="en-US" dirty="0"/>
              <a:t>}  </a:t>
            </a:r>
            <a:endParaRPr lang="en-US" dirty="0" smtClean="0"/>
          </a:p>
          <a:p>
            <a:r>
              <a:rPr lang="en-US" b="1" dirty="0"/>
              <a:t>Two Parameter Syntax</a:t>
            </a:r>
            <a:endParaRPr lang="en-US" dirty="0"/>
          </a:p>
          <a:p>
            <a:pPr marL="0" indent="0">
              <a:buNone/>
            </a:pPr>
            <a:r>
              <a:rPr lang="en-US" dirty="0"/>
              <a:t>(p1,p2) -&gt; {  </a:t>
            </a:r>
          </a:p>
          <a:p>
            <a:pPr marL="0" indent="0">
              <a:buNone/>
            </a:pPr>
            <a:r>
              <a:rPr lang="en-US" dirty="0"/>
              <a:t>//Body of multiple parameter lambda  </a:t>
            </a:r>
          </a:p>
          <a:p>
            <a:pPr marL="0" indent="0">
              <a:buNone/>
            </a:pPr>
            <a:r>
              <a:rPr lang="en-US" dirty="0"/>
              <a:t>}  </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2383313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0521" y="375782"/>
            <a:ext cx="11103279" cy="5801182"/>
          </a:xfrm>
        </p:spPr>
        <p:txBody>
          <a:bodyPr>
            <a:normAutofit fontScale="70000" lnSpcReduction="20000"/>
          </a:bodyPr>
          <a:lstStyle/>
          <a:p>
            <a:r>
              <a:rPr lang="en-US" dirty="0" smtClean="0"/>
              <a:t>Interface </a:t>
            </a:r>
            <a:r>
              <a:rPr lang="en-US" dirty="0"/>
              <a:t>Without Lambda </a:t>
            </a:r>
            <a:r>
              <a:rPr lang="en-US" dirty="0" smtClean="0"/>
              <a:t>Expression</a:t>
            </a:r>
          </a:p>
          <a:p>
            <a:pPr marL="0" indent="0">
              <a:buNone/>
            </a:pPr>
            <a:r>
              <a:rPr lang="en-US" dirty="0"/>
              <a:t>interface </a:t>
            </a:r>
            <a:r>
              <a:rPr lang="en-US" dirty="0" err="1"/>
              <a:t>Drawable</a:t>
            </a:r>
            <a:r>
              <a:rPr lang="en-US" dirty="0"/>
              <a:t>{  </a:t>
            </a:r>
          </a:p>
          <a:p>
            <a:pPr marL="0" indent="0">
              <a:buNone/>
            </a:pPr>
            <a:r>
              <a:rPr lang="en-US" dirty="0"/>
              <a:t>    </a:t>
            </a:r>
            <a:r>
              <a:rPr lang="en-US" b="1" dirty="0"/>
              <a:t>public</a:t>
            </a:r>
            <a:r>
              <a:rPr lang="en-US" dirty="0"/>
              <a:t> </a:t>
            </a:r>
            <a:r>
              <a:rPr lang="en-US" b="1" dirty="0"/>
              <a:t>void</a:t>
            </a:r>
            <a:r>
              <a:rPr lang="en-US" dirty="0"/>
              <a:t> draw();  </a:t>
            </a:r>
          </a:p>
          <a:p>
            <a:pPr marL="0" indent="0">
              <a:buNone/>
            </a:pPr>
            <a:r>
              <a:rPr lang="en-US" dirty="0"/>
              <a:t>}  </a:t>
            </a:r>
          </a:p>
          <a:p>
            <a:pPr marL="0" indent="0">
              <a:buNone/>
            </a:pPr>
            <a:r>
              <a:rPr lang="en-US" b="1" dirty="0"/>
              <a:t>public</a:t>
            </a:r>
            <a:r>
              <a:rPr lang="en-US" dirty="0"/>
              <a:t> </a:t>
            </a:r>
            <a:r>
              <a:rPr lang="en-US" b="1" dirty="0"/>
              <a:t>class</a:t>
            </a:r>
            <a:r>
              <a:rPr lang="en-US" dirty="0"/>
              <a:t> </a:t>
            </a:r>
            <a:r>
              <a:rPr lang="en-US" dirty="0" err="1"/>
              <a:t>LambdaExpressionExample</a:t>
            </a:r>
            <a:r>
              <a:rPr lang="en-US" dirty="0"/>
              <a:t> {  </a:t>
            </a:r>
          </a:p>
          <a:p>
            <a:pPr marL="0" indent="0">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marL="0" indent="0">
              <a:buNone/>
            </a:pPr>
            <a:r>
              <a:rPr lang="en-US" dirty="0"/>
              <a:t>       </a:t>
            </a:r>
            <a:r>
              <a:rPr lang="en-US" b="1" dirty="0" err="1"/>
              <a:t>int</a:t>
            </a:r>
            <a:r>
              <a:rPr lang="en-US" dirty="0"/>
              <a:t> width=10;  </a:t>
            </a:r>
          </a:p>
          <a:p>
            <a:pPr marL="0" indent="0">
              <a:buNone/>
            </a:pPr>
            <a:r>
              <a:rPr lang="en-US" dirty="0"/>
              <a:t>  </a:t>
            </a:r>
          </a:p>
          <a:p>
            <a:pPr marL="0" indent="0">
              <a:buNone/>
            </a:pPr>
            <a:r>
              <a:rPr lang="en-US" dirty="0"/>
              <a:t>        //without lambda, </a:t>
            </a:r>
            <a:r>
              <a:rPr lang="en-US" dirty="0" err="1"/>
              <a:t>Drawable</a:t>
            </a:r>
            <a:r>
              <a:rPr lang="en-US" dirty="0"/>
              <a:t> implementation using anonymous class  </a:t>
            </a:r>
          </a:p>
          <a:p>
            <a:pPr marL="0" indent="0">
              <a:buNone/>
            </a:pPr>
            <a:r>
              <a:rPr lang="en-US" dirty="0"/>
              <a:t>       </a:t>
            </a:r>
            <a:r>
              <a:rPr lang="en-US" dirty="0" err="1"/>
              <a:t>Drawable</a:t>
            </a:r>
            <a:r>
              <a:rPr lang="en-US" dirty="0"/>
              <a:t> d=</a:t>
            </a:r>
            <a:r>
              <a:rPr lang="en-US" b="1" dirty="0"/>
              <a:t>new</a:t>
            </a:r>
            <a:r>
              <a:rPr lang="en-US" dirty="0"/>
              <a:t> </a:t>
            </a:r>
            <a:r>
              <a:rPr lang="en-US" dirty="0" err="1"/>
              <a:t>Drawable</a:t>
            </a:r>
            <a:r>
              <a:rPr lang="en-US" dirty="0"/>
              <a:t>(){  </a:t>
            </a:r>
          </a:p>
          <a:p>
            <a:pPr marL="0" indent="0">
              <a:buNone/>
            </a:pPr>
            <a:r>
              <a:rPr lang="en-US" dirty="0"/>
              <a:t>            </a:t>
            </a:r>
            <a:r>
              <a:rPr lang="en-US" b="1" dirty="0"/>
              <a:t>public</a:t>
            </a:r>
            <a:r>
              <a:rPr lang="en-US" dirty="0"/>
              <a:t> </a:t>
            </a:r>
            <a:r>
              <a:rPr lang="en-US" b="1" dirty="0"/>
              <a:t>void</a:t>
            </a:r>
            <a:r>
              <a:rPr lang="en-US" dirty="0"/>
              <a:t> draw(){</a:t>
            </a:r>
            <a:r>
              <a:rPr lang="en-US" dirty="0" err="1"/>
              <a:t>System.out.println</a:t>
            </a:r>
            <a:r>
              <a:rPr lang="en-US" dirty="0"/>
              <a:t>("Drawing "+width);}  </a:t>
            </a:r>
          </a:p>
          <a:p>
            <a:pPr marL="0" indent="0">
              <a:buNone/>
            </a:pPr>
            <a:r>
              <a:rPr lang="en-US" dirty="0"/>
              <a:t>        };  </a:t>
            </a:r>
          </a:p>
          <a:p>
            <a:pPr marL="0" indent="0">
              <a:buNone/>
            </a:pPr>
            <a:r>
              <a:rPr lang="en-US" dirty="0"/>
              <a:t>        </a:t>
            </a:r>
            <a:r>
              <a:rPr lang="en-US" dirty="0" err="1"/>
              <a:t>d.draw</a:t>
            </a:r>
            <a:r>
              <a:rPr lang="en-US" dirty="0"/>
              <a:t>();  </a:t>
            </a:r>
          </a:p>
          <a:p>
            <a:pPr marL="0" indent="0">
              <a:buNone/>
            </a:pPr>
            <a:r>
              <a:rPr lang="en-US" dirty="0"/>
              <a:t>    }  </a:t>
            </a:r>
          </a:p>
          <a:p>
            <a:pPr marL="0" indent="0">
              <a:buNone/>
            </a:pPr>
            <a:r>
              <a:rPr lang="en-US" dirty="0"/>
              <a:t>}  </a:t>
            </a:r>
          </a:p>
          <a:p>
            <a:pPr marL="0" indent="0">
              <a:buNone/>
            </a:pPr>
            <a:r>
              <a:rPr lang="en-US" dirty="0" smtClean="0"/>
              <a:t>Output-</a:t>
            </a:r>
          </a:p>
          <a:p>
            <a:pPr marL="0" indent="0">
              <a:buNone/>
            </a:pPr>
            <a:r>
              <a:rPr lang="en-US" dirty="0"/>
              <a:t>Drawing 10</a:t>
            </a:r>
            <a:endParaRPr lang="en-US" dirty="0"/>
          </a:p>
        </p:txBody>
      </p:sp>
    </p:spTree>
    <p:extLst>
      <p:ext uri="{BB962C8B-B14F-4D97-AF65-F5344CB8AC3E}">
        <p14:creationId xmlns:p14="http://schemas.microsoft.com/office/powerpoint/2010/main" val="19001181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567" y="628172"/>
            <a:ext cx="10877811" cy="311280"/>
          </a:xfrm>
        </p:spPr>
        <p:txBody>
          <a:bodyPr>
            <a:normAutofit fontScale="90000"/>
          </a:bodyPr>
          <a:lstStyle/>
          <a:p>
            <a:r>
              <a:rPr lang="en-US" sz="4000" b="1" dirty="0"/>
              <a:t>Java Lambda Expression Example: No Parameter</a:t>
            </a:r>
            <a:r>
              <a:rPr lang="en-US" dirty="0"/>
              <a:t/>
            </a:r>
            <a:br>
              <a:rPr lang="en-US" dirty="0"/>
            </a:br>
            <a:endParaRPr lang="en-US" dirty="0"/>
          </a:p>
        </p:txBody>
      </p:sp>
      <p:sp>
        <p:nvSpPr>
          <p:cNvPr id="3" name="Content Placeholder 2"/>
          <p:cNvSpPr>
            <a:spLocks noGrp="1"/>
          </p:cNvSpPr>
          <p:nvPr>
            <p:ph idx="1"/>
          </p:nvPr>
        </p:nvSpPr>
        <p:spPr>
          <a:xfrm>
            <a:off x="325677" y="1064712"/>
            <a:ext cx="11028123" cy="5112251"/>
          </a:xfrm>
        </p:spPr>
        <p:txBody>
          <a:bodyPr>
            <a:normAutofit fontScale="77500" lnSpcReduction="20000"/>
          </a:bodyPr>
          <a:lstStyle/>
          <a:p>
            <a:pPr marL="0" indent="0">
              <a:buNone/>
            </a:pPr>
            <a:r>
              <a:rPr lang="en-US" dirty="0"/>
              <a:t>@</a:t>
            </a:r>
            <a:r>
              <a:rPr lang="en-US" dirty="0" err="1"/>
              <a:t>FunctionalInterface</a:t>
            </a:r>
            <a:endParaRPr lang="en-US" dirty="0"/>
          </a:p>
          <a:p>
            <a:pPr marL="0" indent="0">
              <a:buNone/>
            </a:pPr>
            <a:r>
              <a:rPr lang="en-US" dirty="0"/>
              <a:t>interface Greeting {</a:t>
            </a:r>
          </a:p>
          <a:p>
            <a:pPr marL="0" indent="0">
              <a:buNone/>
            </a:pPr>
            <a:r>
              <a:rPr lang="en-US" dirty="0"/>
              <a:t>    void </a:t>
            </a:r>
            <a:r>
              <a:rPr lang="en-US" dirty="0" err="1"/>
              <a:t>sayHello</a:t>
            </a:r>
            <a:r>
              <a:rPr lang="en-US" dirty="0"/>
              <a:t>();</a:t>
            </a:r>
          </a:p>
          <a:p>
            <a:pPr marL="0" indent="0">
              <a:buNone/>
            </a:pPr>
            <a:r>
              <a:rPr lang="en-US" dirty="0"/>
              <a:t>}</a:t>
            </a:r>
          </a:p>
          <a:p>
            <a:pPr marL="0" indent="0">
              <a:buNone/>
            </a:pPr>
            <a:endParaRPr lang="en-US" dirty="0"/>
          </a:p>
          <a:p>
            <a:pPr marL="0" indent="0">
              <a:buNone/>
            </a:pPr>
            <a:r>
              <a:rPr lang="en-US" dirty="0"/>
              <a:t>public class </a:t>
            </a:r>
            <a:r>
              <a:rPr lang="en-US" dirty="0" err="1"/>
              <a:t>LambdaExample</a:t>
            </a:r>
            <a:r>
              <a:rPr lang="en-US" dirty="0"/>
              <a:t> {</a:t>
            </a:r>
          </a:p>
          <a:p>
            <a:pPr marL="0" indent="0">
              <a:buNone/>
            </a:pPr>
            <a:r>
              <a:rPr lang="en-US" dirty="0"/>
              <a:t>    public static void main(String[] </a:t>
            </a:r>
            <a:r>
              <a:rPr lang="en-US" dirty="0" err="1"/>
              <a:t>args</a:t>
            </a:r>
            <a:r>
              <a:rPr lang="en-US" dirty="0"/>
              <a:t>) {</a:t>
            </a:r>
          </a:p>
          <a:p>
            <a:pPr marL="0" indent="0">
              <a:buNone/>
            </a:pPr>
            <a:r>
              <a:rPr lang="en-US" dirty="0"/>
              <a:t>        // Lambda expression with no parameters</a:t>
            </a:r>
          </a:p>
          <a:p>
            <a:pPr marL="0" indent="0">
              <a:buNone/>
            </a:pPr>
            <a:r>
              <a:rPr lang="en-US" dirty="0"/>
              <a:t>        Greeting greet = () -&gt; </a:t>
            </a:r>
            <a:r>
              <a:rPr lang="en-US" dirty="0" err="1"/>
              <a:t>System.out.println</a:t>
            </a:r>
            <a:r>
              <a:rPr lang="en-US" dirty="0"/>
              <a:t>("Hello, World!");</a:t>
            </a:r>
          </a:p>
          <a:p>
            <a:pPr marL="0" indent="0">
              <a:buNone/>
            </a:pPr>
            <a:r>
              <a:rPr lang="en-US" dirty="0"/>
              <a:t>        </a:t>
            </a:r>
          </a:p>
          <a:p>
            <a:pPr marL="0" indent="0">
              <a:buNone/>
            </a:pPr>
            <a:r>
              <a:rPr lang="en-US" dirty="0"/>
              <a:t>        // Calling the lambda function</a:t>
            </a:r>
          </a:p>
          <a:p>
            <a:pPr marL="0" indent="0">
              <a:buNone/>
            </a:pPr>
            <a:r>
              <a:rPr lang="en-US" dirty="0"/>
              <a:t>        </a:t>
            </a:r>
            <a:r>
              <a:rPr lang="en-US" dirty="0" err="1"/>
              <a:t>greet.sayHello</a:t>
            </a:r>
            <a:r>
              <a:rPr lang="en-US" dirty="0"/>
              <a:t>();</a:t>
            </a:r>
          </a:p>
          <a:p>
            <a:pPr marL="0" indent="0">
              <a:buNone/>
            </a:pPr>
            <a:r>
              <a:rPr lang="en-US" dirty="0"/>
              <a:t>    }</a:t>
            </a:r>
          </a:p>
          <a:p>
            <a:pPr marL="0" indent="0">
              <a:buNone/>
            </a:pP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4493900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847" y="302495"/>
            <a:ext cx="10515600" cy="436541"/>
          </a:xfrm>
        </p:spPr>
        <p:txBody>
          <a:bodyPr>
            <a:normAutofit fontScale="90000"/>
          </a:bodyPr>
          <a:lstStyle/>
          <a:p>
            <a:r>
              <a:rPr lang="en-US" sz="3600" b="1" dirty="0"/>
              <a:t>Java Lambda Expression Example: Single Parameter</a:t>
            </a:r>
            <a:r>
              <a:rPr lang="en-US" dirty="0"/>
              <a:t/>
            </a:r>
            <a:br>
              <a:rPr lang="en-US" dirty="0"/>
            </a:br>
            <a:endParaRPr lang="en-US" dirty="0"/>
          </a:p>
        </p:txBody>
      </p:sp>
      <p:sp>
        <p:nvSpPr>
          <p:cNvPr id="3" name="Content Placeholder 2"/>
          <p:cNvSpPr>
            <a:spLocks noGrp="1"/>
          </p:cNvSpPr>
          <p:nvPr>
            <p:ph idx="1"/>
          </p:nvPr>
        </p:nvSpPr>
        <p:spPr>
          <a:xfrm>
            <a:off x="212943" y="651353"/>
            <a:ext cx="11140858" cy="6206647"/>
          </a:xfrm>
        </p:spPr>
        <p:txBody>
          <a:bodyPr>
            <a:normAutofit fontScale="85000" lnSpcReduction="20000"/>
          </a:bodyPr>
          <a:lstStyle/>
          <a:p>
            <a:pPr marL="0" indent="0">
              <a:buNone/>
            </a:pPr>
            <a:r>
              <a:rPr lang="en-US" dirty="0"/>
              <a:t>@</a:t>
            </a:r>
            <a:r>
              <a:rPr lang="en-US" dirty="0" err="1"/>
              <a:t>FunctionalInterface</a:t>
            </a:r>
            <a:endParaRPr lang="en-US" dirty="0"/>
          </a:p>
          <a:p>
            <a:pPr marL="0" indent="0">
              <a:buNone/>
            </a:pPr>
            <a:r>
              <a:rPr lang="en-US" dirty="0"/>
              <a:t>interface Square {</a:t>
            </a:r>
          </a:p>
          <a:p>
            <a:pPr marL="0" indent="0">
              <a:buNone/>
            </a:pPr>
            <a:r>
              <a:rPr lang="en-US" dirty="0"/>
              <a:t>    </a:t>
            </a:r>
            <a:r>
              <a:rPr lang="en-US" dirty="0" err="1"/>
              <a:t>int</a:t>
            </a:r>
            <a:r>
              <a:rPr lang="en-US" dirty="0"/>
              <a:t> calculate(</a:t>
            </a:r>
            <a:r>
              <a:rPr lang="en-US" dirty="0" err="1"/>
              <a:t>int</a:t>
            </a:r>
            <a:r>
              <a:rPr lang="en-US" dirty="0"/>
              <a:t> </a:t>
            </a:r>
            <a:r>
              <a:rPr lang="en-US" dirty="0" smtClean="0"/>
              <a:t> x</a:t>
            </a:r>
            <a:r>
              <a:rPr lang="en-US" dirty="0"/>
              <a:t>);</a:t>
            </a:r>
          </a:p>
          <a:p>
            <a:pPr marL="0" indent="0">
              <a:buNone/>
            </a:pPr>
            <a:r>
              <a:rPr lang="en-US" dirty="0"/>
              <a:t>}</a:t>
            </a:r>
          </a:p>
          <a:p>
            <a:pPr marL="0" indent="0">
              <a:buNone/>
            </a:pPr>
            <a:endParaRPr lang="en-US" dirty="0"/>
          </a:p>
          <a:p>
            <a:pPr marL="0" indent="0">
              <a:buNone/>
            </a:pPr>
            <a:r>
              <a:rPr lang="en-US" dirty="0"/>
              <a:t>public class </a:t>
            </a:r>
            <a:r>
              <a:rPr lang="en-US" dirty="0" err="1"/>
              <a:t>LambdaExample</a:t>
            </a:r>
            <a:r>
              <a:rPr lang="en-US" dirty="0"/>
              <a:t> {</a:t>
            </a:r>
          </a:p>
          <a:p>
            <a:pPr marL="0" indent="0">
              <a:buNone/>
            </a:pPr>
            <a:r>
              <a:rPr lang="en-US" dirty="0"/>
              <a:t>    public static void main(String[] </a:t>
            </a:r>
            <a:r>
              <a:rPr lang="en-US" dirty="0" err="1"/>
              <a:t>args</a:t>
            </a:r>
            <a:r>
              <a:rPr lang="en-US" dirty="0"/>
              <a:t>) {</a:t>
            </a:r>
          </a:p>
          <a:p>
            <a:pPr marL="0" indent="0">
              <a:buNone/>
            </a:pPr>
            <a:r>
              <a:rPr lang="en-US" dirty="0"/>
              <a:t>        // Lambda expression with a single parameter</a:t>
            </a:r>
          </a:p>
          <a:p>
            <a:pPr marL="0" indent="0">
              <a:buNone/>
            </a:pPr>
            <a:r>
              <a:rPr lang="en-US" dirty="0"/>
              <a:t>        Square </a:t>
            </a:r>
            <a:r>
              <a:rPr lang="en-US" dirty="0" err="1"/>
              <a:t>square</a:t>
            </a:r>
            <a:r>
              <a:rPr lang="en-US" dirty="0"/>
              <a:t> = (x) -&gt; x * x;</a:t>
            </a:r>
          </a:p>
          <a:p>
            <a:pPr marL="0" indent="0">
              <a:buNone/>
            </a:pPr>
            <a:r>
              <a:rPr lang="en-US" dirty="0"/>
              <a:t>        </a:t>
            </a:r>
          </a:p>
          <a:p>
            <a:pPr marL="0" indent="0">
              <a:buNone/>
            </a:pPr>
            <a:r>
              <a:rPr lang="en-US" dirty="0"/>
              <a:t>        // Calling the lambda function</a:t>
            </a:r>
          </a:p>
          <a:p>
            <a:pPr marL="0" indent="0">
              <a:buNone/>
            </a:pPr>
            <a:r>
              <a:rPr lang="en-US" dirty="0"/>
              <a:t>        </a:t>
            </a:r>
            <a:r>
              <a:rPr lang="en-US" dirty="0" err="1"/>
              <a:t>System.out.println</a:t>
            </a:r>
            <a:r>
              <a:rPr lang="en-US" dirty="0"/>
              <a:t>("Square of 7: " + </a:t>
            </a:r>
            <a:r>
              <a:rPr lang="en-US" dirty="0" err="1"/>
              <a:t>square.calculate</a:t>
            </a:r>
            <a:r>
              <a:rPr lang="en-US" dirty="0"/>
              <a:t>(7));</a:t>
            </a:r>
          </a:p>
          <a:p>
            <a:pPr marL="0" indent="0">
              <a:buNone/>
            </a:pPr>
            <a:r>
              <a:rPr lang="en-US" dirty="0"/>
              <a:t>    }</a:t>
            </a:r>
          </a:p>
          <a:p>
            <a:pPr marL="0" indent="0">
              <a:buNone/>
            </a:pPr>
            <a:r>
              <a:rPr lang="en-US" dirty="0"/>
              <a:t>}</a:t>
            </a:r>
          </a:p>
          <a:p>
            <a:pPr marL="0" indent="0">
              <a:buNone/>
            </a:pPr>
            <a:r>
              <a:rPr lang="en-US" dirty="0" smtClean="0"/>
              <a:t>Output-</a:t>
            </a:r>
          </a:p>
          <a:p>
            <a:pPr marL="0" indent="0">
              <a:buNone/>
            </a:pPr>
            <a:r>
              <a:rPr lang="en-US" dirty="0"/>
              <a:t>Square of 7: 49</a:t>
            </a:r>
          </a:p>
        </p:txBody>
      </p:sp>
    </p:spTree>
    <p:extLst>
      <p:ext uri="{BB962C8B-B14F-4D97-AF65-F5344CB8AC3E}">
        <p14:creationId xmlns:p14="http://schemas.microsoft.com/office/powerpoint/2010/main" val="2472382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1287</TotalTime>
  <Words>3964</Words>
  <Application>Microsoft Office PowerPoint</Application>
  <PresentationFormat>Custom</PresentationFormat>
  <Paragraphs>842</Paragraphs>
  <Slides>64</Slides>
  <Notes>0</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Office Theme</vt:lpstr>
      <vt:lpstr>Java Programming</vt:lpstr>
      <vt:lpstr>Java:</vt:lpstr>
      <vt:lpstr>Example: Hello World in Java</vt:lpstr>
      <vt:lpstr>Explanation</vt:lpstr>
      <vt:lpstr>PowerPoint Presentation</vt:lpstr>
      <vt:lpstr>Class and Objects</vt:lpstr>
      <vt:lpstr>Syntax of a Class- </vt:lpstr>
      <vt:lpstr>Initializing Object in Java </vt:lpstr>
      <vt:lpstr>2) Initialization through Method </vt:lpstr>
      <vt:lpstr>Initialization through a Constructor </vt:lpstr>
      <vt:lpstr>PowerPoint Presentation</vt:lpstr>
      <vt:lpstr>PowerPoint Presentation</vt:lpstr>
      <vt:lpstr>PowerPoint Presentation</vt:lpstr>
      <vt:lpstr>PowerPoint Presentation</vt:lpstr>
      <vt:lpstr>Example: Class and Objects</vt:lpstr>
      <vt:lpstr>PowerPoint Presentation</vt:lpstr>
      <vt:lpstr>Output-</vt:lpstr>
      <vt:lpstr>Abstraction in Java</vt:lpstr>
      <vt:lpstr>Using abstract class-</vt:lpstr>
      <vt:lpstr>Syntax of Abstract Classes- </vt:lpstr>
      <vt:lpstr>When to Use Abstract Classes? </vt:lpstr>
      <vt:lpstr>PowerPoint Presentation</vt:lpstr>
      <vt:lpstr>PowerPoint Presentation</vt:lpstr>
      <vt:lpstr>PowerPoint Presentation</vt:lpstr>
      <vt:lpstr>2. Using Interfaces</vt:lpstr>
      <vt:lpstr>PowerPoint Presentation</vt:lpstr>
      <vt:lpstr>PowerPoint Presentation</vt:lpstr>
      <vt:lpstr>Java Interface Example: Drawable </vt:lpstr>
      <vt:lpstr>Polymorphism</vt:lpstr>
      <vt:lpstr>Benefits and Use Cases: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Inheritance In 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Encapsulation In Java- </vt:lpstr>
      <vt:lpstr>PowerPoint Presentation</vt:lpstr>
      <vt:lpstr>PowerPoint Presentation</vt:lpstr>
      <vt:lpstr>PowerPoint Presentation</vt:lpstr>
      <vt:lpstr>Garbage Collector</vt:lpstr>
      <vt:lpstr>PowerPoint Presentation</vt:lpstr>
      <vt:lpstr>PowerPoint Presentation</vt:lpstr>
      <vt:lpstr>PowerPoint Presentation</vt:lpstr>
      <vt:lpstr>PowerPoint Presentation</vt:lpstr>
      <vt:lpstr>PowerPoint Presentation</vt:lpstr>
      <vt:lpstr>PowerPoint Presentation</vt:lpstr>
      <vt:lpstr>Java Lambda Expression Example: No Parameter </vt:lpstr>
      <vt:lpstr>Java Lambda Expression Example: Single Parameter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Programming</dc:title>
  <dc:creator>Dhanashri Abhang</dc:creator>
  <cp:lastModifiedBy>admin</cp:lastModifiedBy>
  <cp:revision>31</cp:revision>
  <dcterms:created xsi:type="dcterms:W3CDTF">2025-01-27T10:52:39Z</dcterms:created>
  <dcterms:modified xsi:type="dcterms:W3CDTF">2025-02-07T04:40:00Z</dcterms:modified>
</cp:coreProperties>
</file>