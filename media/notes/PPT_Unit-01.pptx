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8" r:id="rId19"/>
    <p:sldId id="273" r:id="rId20"/>
    <p:sldId id="274" r:id="rId21"/>
    <p:sldId id="277" r:id="rId22"/>
    <p:sldId id="276" r:id="rId23"/>
    <p:sldId id="275"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2" d="100"/>
          <a:sy n="82" d="100"/>
        </p:scale>
        <p:origin x="8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1ACC72-C118-4205-9AA6-765F22DCC8C6}" type="datetimeFigureOut">
              <a:rPr lang="en-IN" smtClean="0"/>
              <a:t>02-02-2026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683EC82A-A9E2-42D2-807E-DF5C9031276D}"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84957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1ACC72-C118-4205-9AA6-765F22DCC8C6}"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3EC82A-A9E2-42D2-807E-DF5C9031276D}"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45527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1ACC72-C118-4205-9AA6-765F22DCC8C6}"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3EC82A-A9E2-42D2-807E-DF5C9031276D}"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4526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1ACC72-C118-4205-9AA6-765F22DCC8C6}"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3EC82A-A9E2-42D2-807E-DF5C9031276D}"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1232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1ACC72-C118-4205-9AA6-765F22DCC8C6}" type="datetimeFigureOut">
              <a:rPr lang="en-IN" smtClean="0"/>
              <a:t>02-02-2026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3EC82A-A9E2-42D2-807E-DF5C9031276D}"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3469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1ACC72-C118-4205-9AA6-765F22DCC8C6}"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3EC82A-A9E2-42D2-807E-DF5C9031276D}"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0404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1ACC72-C118-4205-9AA6-765F22DCC8C6}" type="datetimeFigureOut">
              <a:rPr lang="en-IN" smtClean="0"/>
              <a:t>02-02-2026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3EC82A-A9E2-42D2-807E-DF5C9031276D}" type="slidenum">
              <a:rPr lang="en-IN" smtClean="0"/>
              <a:t>‹#›</a:t>
            </a:fld>
            <a:endParaRPr lang="en-IN"/>
          </a:p>
        </p:txBody>
      </p:sp>
    </p:spTree>
    <p:extLst>
      <p:ext uri="{BB962C8B-B14F-4D97-AF65-F5344CB8AC3E}">
        <p14:creationId xmlns:p14="http://schemas.microsoft.com/office/powerpoint/2010/main" val="692595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1ACC72-C118-4205-9AA6-765F22DCC8C6}"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3EC82A-A9E2-42D2-807E-DF5C9031276D}"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83790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71ACC72-C118-4205-9AA6-765F22DCC8C6}" type="datetimeFigureOut">
              <a:rPr lang="en-IN" smtClean="0"/>
              <a:t>02-02-2026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683EC82A-A9E2-42D2-807E-DF5C9031276D}"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1142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1ACC72-C118-4205-9AA6-765F22DCC8C6}"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3EC82A-A9E2-42D2-807E-DF5C9031276D}"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5984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1ACC72-C118-4205-9AA6-765F22DCC8C6}"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3EC82A-A9E2-42D2-807E-DF5C9031276D}"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6182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71ACC72-C118-4205-9AA6-765F22DCC8C6}" type="datetimeFigureOut">
              <a:rPr lang="en-IN" smtClean="0"/>
              <a:t>02-02-2026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83EC82A-A9E2-42D2-807E-DF5C9031276D}"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238073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51FD4FE-CDCC-A48D-5B34-0BCDF7AD5558}"/>
              </a:ext>
            </a:extLst>
          </p:cNvPr>
          <p:cNvSpPr>
            <a:spLocks noGrp="1"/>
          </p:cNvSpPr>
          <p:nvPr>
            <p:ph type="subTitle" idx="1"/>
          </p:nvPr>
        </p:nvSpPr>
        <p:spPr/>
        <p:txBody>
          <a:bodyPr/>
          <a:lstStyle/>
          <a:p>
            <a:pPr algn="ctr"/>
            <a:r>
              <a:rPr lang="en-US" dirty="0"/>
              <a:t>Prepared by </a:t>
            </a:r>
            <a:r>
              <a:rPr lang="en-US" dirty="0" err="1"/>
              <a:t>D.A.Sarwate</a:t>
            </a:r>
            <a:r>
              <a:rPr lang="en-US" dirty="0"/>
              <a:t> DATE: 02/02/2026</a:t>
            </a:r>
            <a:endParaRPr lang="en-IN" dirty="0"/>
          </a:p>
        </p:txBody>
      </p:sp>
      <p:sp>
        <p:nvSpPr>
          <p:cNvPr id="5" name="Title 4">
            <a:extLst>
              <a:ext uri="{FF2B5EF4-FFF2-40B4-BE49-F238E27FC236}">
                <a16:creationId xmlns:a16="http://schemas.microsoft.com/office/drawing/2014/main" id="{7B28CBAB-E3D0-AD78-CEA8-CADD66B226C6}"/>
              </a:ext>
            </a:extLst>
          </p:cNvPr>
          <p:cNvSpPr>
            <a:spLocks noGrp="1"/>
          </p:cNvSpPr>
          <p:nvPr>
            <p:ph type="ctrTitle"/>
          </p:nvPr>
        </p:nvSpPr>
        <p:spPr/>
        <p:txBody>
          <a:bodyPr>
            <a:normAutofit fontScale="90000"/>
          </a:bodyPr>
          <a:lstStyle/>
          <a:p>
            <a:pPr algn="ctr"/>
            <a:r>
              <a:rPr lang="en-IN" dirty="0"/>
              <a:t>Software Quality Assurance Fundamentals</a:t>
            </a:r>
          </a:p>
        </p:txBody>
      </p:sp>
    </p:spTree>
    <p:extLst>
      <p:ext uri="{BB962C8B-B14F-4D97-AF65-F5344CB8AC3E}">
        <p14:creationId xmlns:p14="http://schemas.microsoft.com/office/powerpoint/2010/main" val="4195611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31B1B-BD97-142D-1F4A-4B7D8C23DEA5}"/>
              </a:ext>
            </a:extLst>
          </p:cNvPr>
          <p:cNvSpPr>
            <a:spLocks noGrp="1"/>
          </p:cNvSpPr>
          <p:nvPr>
            <p:ph type="title"/>
          </p:nvPr>
        </p:nvSpPr>
        <p:spPr/>
        <p:txBody>
          <a:bodyPr/>
          <a:lstStyle/>
          <a:p>
            <a:r>
              <a:rPr lang="en-IN" dirty="0"/>
              <a:t>Definition of Quality</a:t>
            </a:r>
          </a:p>
        </p:txBody>
      </p:sp>
      <p:sp>
        <p:nvSpPr>
          <p:cNvPr id="3" name="Content Placeholder 2">
            <a:extLst>
              <a:ext uri="{FF2B5EF4-FFF2-40B4-BE49-F238E27FC236}">
                <a16:creationId xmlns:a16="http://schemas.microsoft.com/office/drawing/2014/main" id="{53FA0E4E-4C85-34A4-1A39-6FEBF66C9232}"/>
              </a:ext>
            </a:extLst>
          </p:cNvPr>
          <p:cNvSpPr>
            <a:spLocks noGrp="1"/>
          </p:cNvSpPr>
          <p:nvPr>
            <p:ph idx="1"/>
          </p:nvPr>
        </p:nvSpPr>
        <p:spPr/>
        <p:txBody>
          <a:bodyPr/>
          <a:lstStyle/>
          <a:p>
            <a:pPr>
              <a:buFont typeface="Arial" panose="020B0604020202020204" pitchFamily="34" charset="0"/>
              <a:buChar char="•"/>
            </a:pPr>
            <a:r>
              <a:rPr lang="en-US" dirty="0"/>
              <a:t>Quality is the degree to which a product meets </a:t>
            </a:r>
            <a:r>
              <a:rPr lang="en-US" b="1" dirty="0"/>
              <a:t>customer requirements</a:t>
            </a:r>
            <a:endParaRPr lang="en-US" dirty="0"/>
          </a:p>
          <a:p>
            <a:pPr>
              <a:buFont typeface="Arial" panose="020B0604020202020204" pitchFamily="34" charset="0"/>
              <a:buChar char="•"/>
            </a:pPr>
            <a:r>
              <a:rPr lang="en-US" dirty="0"/>
              <a:t>It ensures the product is </a:t>
            </a:r>
            <a:r>
              <a:rPr lang="en-US" b="1" dirty="0"/>
              <a:t>fit for use</a:t>
            </a:r>
            <a:endParaRPr lang="en-US" dirty="0"/>
          </a:p>
          <a:p>
            <a:pPr>
              <a:buFont typeface="Arial" panose="020B0604020202020204" pitchFamily="34" charset="0"/>
              <a:buChar char="•"/>
            </a:pPr>
            <a:r>
              <a:rPr lang="en-US" dirty="0"/>
              <a:t>In software, quality means:</a:t>
            </a:r>
          </a:p>
          <a:p>
            <a:pPr marL="742950" lvl="1" indent="-285750">
              <a:buFont typeface="Arial" panose="020B0604020202020204" pitchFamily="34" charset="0"/>
              <a:buChar char="•"/>
            </a:pPr>
            <a:r>
              <a:rPr lang="en-US" dirty="0"/>
              <a:t>Correct functionality</a:t>
            </a:r>
          </a:p>
          <a:p>
            <a:pPr marL="742950" lvl="1" indent="-285750">
              <a:buFont typeface="Arial" panose="020B0604020202020204" pitchFamily="34" charset="0"/>
              <a:buChar char="•"/>
            </a:pPr>
            <a:r>
              <a:rPr lang="en-US" dirty="0"/>
              <a:t>Reliability</a:t>
            </a:r>
          </a:p>
          <a:p>
            <a:pPr marL="742950" lvl="1" indent="-285750">
              <a:buFont typeface="Arial" panose="020B0604020202020204" pitchFamily="34" charset="0"/>
              <a:buChar char="•"/>
            </a:pPr>
            <a:r>
              <a:rPr lang="en-US" dirty="0"/>
              <a:t>Efficiency</a:t>
            </a:r>
          </a:p>
          <a:p>
            <a:pPr marL="742950" lvl="1" indent="-285750">
              <a:buFont typeface="Arial" panose="020B0604020202020204" pitchFamily="34" charset="0"/>
              <a:buChar char="•"/>
            </a:pPr>
            <a:r>
              <a:rPr lang="en-US" dirty="0"/>
              <a:t>User satisfaction</a:t>
            </a:r>
          </a:p>
          <a:p>
            <a:endParaRPr lang="en-IN" dirty="0"/>
          </a:p>
        </p:txBody>
      </p:sp>
    </p:spTree>
    <p:extLst>
      <p:ext uri="{BB962C8B-B14F-4D97-AF65-F5344CB8AC3E}">
        <p14:creationId xmlns:p14="http://schemas.microsoft.com/office/powerpoint/2010/main" val="2992507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E9576-C098-0CA3-537C-18A45953C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E9AA3-BFCF-F8F6-5651-A3882A4A8A78}"/>
              </a:ext>
            </a:extLst>
          </p:cNvPr>
          <p:cNvSpPr>
            <a:spLocks noGrp="1"/>
          </p:cNvSpPr>
          <p:nvPr>
            <p:ph type="title"/>
          </p:nvPr>
        </p:nvSpPr>
        <p:spPr/>
        <p:txBody>
          <a:bodyPr/>
          <a:lstStyle/>
          <a:p>
            <a:r>
              <a:rPr lang="en-IN" dirty="0"/>
              <a:t>Quality Assurance (QA)</a:t>
            </a:r>
          </a:p>
        </p:txBody>
      </p:sp>
      <p:sp>
        <p:nvSpPr>
          <p:cNvPr id="3" name="Content Placeholder 2">
            <a:extLst>
              <a:ext uri="{FF2B5EF4-FFF2-40B4-BE49-F238E27FC236}">
                <a16:creationId xmlns:a16="http://schemas.microsoft.com/office/drawing/2014/main" id="{13FB847A-0546-A8A8-7902-D11E5E85FF65}"/>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dirty="0"/>
              <a:t>QA is a </a:t>
            </a:r>
            <a:r>
              <a:rPr lang="en-US" b="1" dirty="0"/>
              <a:t>process-oriented approach</a:t>
            </a:r>
            <a:endParaRPr lang="en-US" dirty="0"/>
          </a:p>
          <a:p>
            <a:pPr>
              <a:buFont typeface="Arial" panose="020B0604020202020204" pitchFamily="34" charset="0"/>
              <a:buChar char="•"/>
            </a:pPr>
            <a:r>
              <a:rPr lang="en-US" dirty="0"/>
              <a:t>Focuses on </a:t>
            </a:r>
            <a:r>
              <a:rPr lang="en-US" b="1" dirty="0"/>
              <a:t>preventing defects</a:t>
            </a:r>
            <a:endParaRPr lang="en-US" dirty="0"/>
          </a:p>
          <a:p>
            <a:pPr>
              <a:buFont typeface="Arial" panose="020B0604020202020204" pitchFamily="34" charset="0"/>
              <a:buChar char="•"/>
            </a:pPr>
            <a:r>
              <a:rPr lang="en-US" dirty="0"/>
              <a:t>Ensures proper </a:t>
            </a:r>
            <a:r>
              <a:rPr lang="en-US" b="1" dirty="0"/>
              <a:t>standards, methods, and processes</a:t>
            </a:r>
            <a:r>
              <a:rPr lang="en-US" dirty="0"/>
              <a:t> are followed</a:t>
            </a:r>
          </a:p>
          <a:p>
            <a:pPr>
              <a:buFont typeface="Arial" panose="020B0604020202020204" pitchFamily="34" charset="0"/>
              <a:buChar char="•"/>
            </a:pPr>
            <a:r>
              <a:rPr lang="en-US" dirty="0"/>
              <a:t>Applied throughout the </a:t>
            </a:r>
            <a:r>
              <a:rPr lang="en-US" b="1" dirty="0"/>
              <a:t>Software Development Life Cycle (SDLC)</a:t>
            </a:r>
            <a:endParaRPr lang="en-US" dirty="0"/>
          </a:p>
          <a:p>
            <a:pPr>
              <a:buNone/>
            </a:pPr>
            <a:r>
              <a:rPr lang="en-US" b="1" dirty="0"/>
              <a:t>Examples:</a:t>
            </a:r>
            <a:endParaRPr lang="en-US" dirty="0"/>
          </a:p>
          <a:p>
            <a:pPr>
              <a:buFont typeface="Arial" panose="020B0604020202020204" pitchFamily="34" charset="0"/>
              <a:buChar char="•"/>
            </a:pPr>
            <a:r>
              <a:rPr lang="en-US" dirty="0"/>
              <a:t>Process audits</a:t>
            </a:r>
          </a:p>
          <a:p>
            <a:pPr>
              <a:buFont typeface="Arial" panose="020B0604020202020204" pitchFamily="34" charset="0"/>
              <a:buChar char="•"/>
            </a:pPr>
            <a:r>
              <a:rPr lang="en-US" dirty="0"/>
              <a:t>Reviews</a:t>
            </a:r>
          </a:p>
          <a:p>
            <a:pPr>
              <a:buFont typeface="Arial" panose="020B0604020202020204" pitchFamily="34" charset="0"/>
              <a:buChar char="•"/>
            </a:pPr>
            <a:r>
              <a:rPr lang="en-US" dirty="0"/>
              <a:t>Standard definition</a:t>
            </a:r>
          </a:p>
          <a:p>
            <a:endParaRPr lang="en-IN" dirty="0"/>
          </a:p>
        </p:txBody>
      </p:sp>
    </p:spTree>
    <p:extLst>
      <p:ext uri="{BB962C8B-B14F-4D97-AF65-F5344CB8AC3E}">
        <p14:creationId xmlns:p14="http://schemas.microsoft.com/office/powerpoint/2010/main" val="3756293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1F19D-1E5B-C1B7-EC59-839210BA8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4232B-DF10-83B9-B738-C99DEBE79554}"/>
              </a:ext>
            </a:extLst>
          </p:cNvPr>
          <p:cNvSpPr>
            <a:spLocks noGrp="1"/>
          </p:cNvSpPr>
          <p:nvPr>
            <p:ph type="title"/>
          </p:nvPr>
        </p:nvSpPr>
        <p:spPr/>
        <p:txBody>
          <a:bodyPr/>
          <a:lstStyle/>
          <a:p>
            <a:r>
              <a:rPr lang="en-IN" dirty="0"/>
              <a:t>Quality Control (QC)</a:t>
            </a:r>
          </a:p>
        </p:txBody>
      </p:sp>
      <p:sp>
        <p:nvSpPr>
          <p:cNvPr id="3" name="Content Placeholder 2">
            <a:extLst>
              <a:ext uri="{FF2B5EF4-FFF2-40B4-BE49-F238E27FC236}">
                <a16:creationId xmlns:a16="http://schemas.microsoft.com/office/drawing/2014/main" id="{372DC1C3-B562-A47D-512F-51627286C452}"/>
              </a:ext>
            </a:extLst>
          </p:cNvPr>
          <p:cNvSpPr>
            <a:spLocks noGrp="1"/>
          </p:cNvSpPr>
          <p:nvPr>
            <p:ph idx="1"/>
          </p:nvPr>
        </p:nvSpPr>
        <p:spPr>
          <a:xfrm>
            <a:off x="1451579" y="2015732"/>
            <a:ext cx="9603275" cy="3599622"/>
          </a:xfrm>
        </p:spPr>
        <p:txBody>
          <a:bodyPr>
            <a:normAutofit fontScale="92500" lnSpcReduction="10000"/>
          </a:bodyPr>
          <a:lstStyle/>
          <a:p>
            <a:pPr>
              <a:buFont typeface="Arial" panose="020B0604020202020204" pitchFamily="34" charset="0"/>
              <a:buChar char="•"/>
            </a:pPr>
            <a:r>
              <a:rPr lang="en-US" dirty="0"/>
              <a:t>QC is a </a:t>
            </a:r>
            <a:r>
              <a:rPr lang="en-US" b="1" dirty="0"/>
              <a:t>product-oriented approach</a:t>
            </a:r>
            <a:endParaRPr lang="en-US" dirty="0"/>
          </a:p>
          <a:p>
            <a:pPr>
              <a:buFont typeface="Arial" panose="020B0604020202020204" pitchFamily="34" charset="0"/>
              <a:buChar char="•"/>
            </a:pPr>
            <a:r>
              <a:rPr lang="en-US" dirty="0"/>
              <a:t>Focuses on </a:t>
            </a:r>
            <a:r>
              <a:rPr lang="en-US" b="1" dirty="0"/>
              <a:t>identifying and correcting defects</a:t>
            </a:r>
            <a:endParaRPr lang="en-US" dirty="0"/>
          </a:p>
          <a:p>
            <a:pPr>
              <a:buFont typeface="Arial" panose="020B0604020202020204" pitchFamily="34" charset="0"/>
              <a:buChar char="•"/>
            </a:pPr>
            <a:r>
              <a:rPr lang="en-US" dirty="0"/>
              <a:t>Ensures the final product meets quality standards</a:t>
            </a:r>
          </a:p>
          <a:p>
            <a:pPr>
              <a:buFont typeface="Arial" panose="020B0604020202020204" pitchFamily="34" charset="0"/>
              <a:buChar char="•"/>
            </a:pPr>
            <a:r>
              <a:rPr lang="en-US" dirty="0"/>
              <a:t>Mainly involves </a:t>
            </a:r>
            <a:r>
              <a:rPr lang="en-US" b="1" dirty="0"/>
              <a:t>testing activities</a:t>
            </a:r>
            <a:endParaRPr lang="en-US" dirty="0"/>
          </a:p>
          <a:p>
            <a:pPr>
              <a:buNone/>
            </a:pPr>
            <a:r>
              <a:rPr lang="en-US" b="1" dirty="0"/>
              <a:t>Examples:</a:t>
            </a:r>
            <a:endParaRPr lang="en-US" dirty="0"/>
          </a:p>
          <a:p>
            <a:pPr>
              <a:buFont typeface="Arial" panose="020B0604020202020204" pitchFamily="34" charset="0"/>
              <a:buChar char="•"/>
            </a:pPr>
            <a:r>
              <a:rPr lang="en-US" dirty="0"/>
              <a:t>Software testing</a:t>
            </a:r>
          </a:p>
          <a:p>
            <a:pPr>
              <a:buFont typeface="Arial" panose="020B0604020202020204" pitchFamily="34" charset="0"/>
              <a:buChar char="•"/>
            </a:pPr>
            <a:r>
              <a:rPr lang="en-US" dirty="0"/>
              <a:t>Bug detection</a:t>
            </a:r>
          </a:p>
          <a:p>
            <a:pPr>
              <a:buFont typeface="Arial" panose="020B0604020202020204" pitchFamily="34" charset="0"/>
              <a:buChar char="•"/>
            </a:pPr>
            <a:r>
              <a:rPr lang="en-US" dirty="0"/>
              <a:t>Code inspection</a:t>
            </a:r>
          </a:p>
          <a:p>
            <a:endParaRPr lang="en-IN" dirty="0"/>
          </a:p>
        </p:txBody>
      </p:sp>
    </p:spTree>
    <p:extLst>
      <p:ext uri="{BB962C8B-B14F-4D97-AF65-F5344CB8AC3E}">
        <p14:creationId xmlns:p14="http://schemas.microsoft.com/office/powerpoint/2010/main" val="2330454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7F7E6-577C-85E2-585A-4284DFCE7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BE192-FF03-F89A-F1A1-6279D24EFE18}"/>
              </a:ext>
            </a:extLst>
          </p:cNvPr>
          <p:cNvSpPr>
            <a:spLocks noGrp="1"/>
          </p:cNvSpPr>
          <p:nvPr>
            <p:ph type="title"/>
          </p:nvPr>
        </p:nvSpPr>
        <p:spPr/>
        <p:txBody>
          <a:bodyPr/>
          <a:lstStyle/>
          <a:p>
            <a:r>
              <a:rPr lang="en-US" dirty="0"/>
              <a:t>Difference between QA and QC</a:t>
            </a:r>
            <a:endParaRPr lang="en-IN" dirty="0"/>
          </a:p>
        </p:txBody>
      </p:sp>
      <p:graphicFrame>
        <p:nvGraphicFramePr>
          <p:cNvPr id="4" name="Content Placeholder 3">
            <a:extLst>
              <a:ext uri="{FF2B5EF4-FFF2-40B4-BE49-F238E27FC236}">
                <a16:creationId xmlns:a16="http://schemas.microsoft.com/office/drawing/2014/main" id="{5C752ABD-DE27-B655-6323-948FA59194F6}"/>
              </a:ext>
            </a:extLst>
          </p:cNvPr>
          <p:cNvGraphicFramePr>
            <a:graphicFrameLocks noGrp="1"/>
          </p:cNvGraphicFramePr>
          <p:nvPr>
            <p:ph idx="1"/>
          </p:nvPr>
        </p:nvGraphicFramePr>
        <p:xfrm>
          <a:off x="1450975" y="2643664"/>
          <a:ext cx="9604374" cy="2194560"/>
        </p:xfrm>
        <a:graphic>
          <a:graphicData uri="http://schemas.openxmlformats.org/drawingml/2006/table">
            <a:tbl>
              <a:tblPr/>
              <a:tblGrid>
                <a:gridCol w="4802187">
                  <a:extLst>
                    <a:ext uri="{9D8B030D-6E8A-4147-A177-3AD203B41FA5}">
                      <a16:colId xmlns:a16="http://schemas.microsoft.com/office/drawing/2014/main" val="1050297611"/>
                    </a:ext>
                  </a:extLst>
                </a:gridCol>
                <a:gridCol w="4802187">
                  <a:extLst>
                    <a:ext uri="{9D8B030D-6E8A-4147-A177-3AD203B41FA5}">
                      <a16:colId xmlns:a16="http://schemas.microsoft.com/office/drawing/2014/main" val="2487073058"/>
                    </a:ext>
                  </a:extLst>
                </a:gridCol>
              </a:tblGrid>
              <a:tr h="365760">
                <a:tc>
                  <a:txBody>
                    <a:bodyPr/>
                    <a:lstStyle/>
                    <a:p>
                      <a:pPr>
                        <a:buNone/>
                      </a:pPr>
                      <a:r>
                        <a:rPr lang="en-IN" sz="1800"/>
                        <a:t>uality Assurance (QA)</a:t>
                      </a:r>
                    </a:p>
                  </a:txBody>
                  <a:tcPr anchor="ctr">
                    <a:lnL>
                      <a:noFill/>
                    </a:lnL>
                    <a:lnR>
                      <a:noFill/>
                    </a:lnR>
                    <a:lnT>
                      <a:noFill/>
                    </a:lnT>
                    <a:lnB>
                      <a:noFill/>
                    </a:lnB>
                    <a:noFill/>
                  </a:tcPr>
                </a:tc>
                <a:tc>
                  <a:txBody>
                    <a:bodyPr/>
                    <a:lstStyle/>
                    <a:p>
                      <a:pPr>
                        <a:buNone/>
                      </a:pPr>
                      <a:r>
                        <a:rPr lang="en-IN" sz="1800"/>
                        <a:t>Quality Control (QC)</a:t>
                      </a:r>
                    </a:p>
                  </a:txBody>
                  <a:tcPr anchor="ctr">
                    <a:lnL>
                      <a:noFill/>
                    </a:lnL>
                    <a:lnR>
                      <a:noFill/>
                    </a:lnR>
                    <a:lnT>
                      <a:noFill/>
                    </a:lnT>
                    <a:lnB>
                      <a:noFill/>
                    </a:lnB>
                    <a:noFill/>
                  </a:tcPr>
                </a:tc>
                <a:extLst>
                  <a:ext uri="{0D108BD9-81ED-4DB2-BD59-A6C34878D82A}">
                    <a16:rowId xmlns:a16="http://schemas.microsoft.com/office/drawing/2014/main" val="579471935"/>
                  </a:ext>
                </a:extLst>
              </a:tr>
              <a:tr h="365760">
                <a:tc>
                  <a:txBody>
                    <a:bodyPr/>
                    <a:lstStyle/>
                    <a:p>
                      <a:pPr>
                        <a:buNone/>
                      </a:pPr>
                      <a:r>
                        <a:rPr lang="en-IN" sz="1800"/>
                        <a:t>Focus on process</a:t>
                      </a:r>
                    </a:p>
                  </a:txBody>
                  <a:tcPr anchor="ctr">
                    <a:lnL>
                      <a:noFill/>
                    </a:lnL>
                    <a:lnR>
                      <a:noFill/>
                    </a:lnR>
                    <a:lnT>
                      <a:noFill/>
                    </a:lnT>
                    <a:lnB>
                      <a:noFill/>
                    </a:lnB>
                    <a:noFill/>
                  </a:tcPr>
                </a:tc>
                <a:tc>
                  <a:txBody>
                    <a:bodyPr/>
                    <a:lstStyle/>
                    <a:p>
                      <a:pPr>
                        <a:buNone/>
                      </a:pPr>
                      <a:r>
                        <a:rPr lang="en-IN" sz="1800"/>
                        <a:t>Focus on product</a:t>
                      </a:r>
                    </a:p>
                  </a:txBody>
                  <a:tcPr anchor="ctr">
                    <a:lnL>
                      <a:noFill/>
                    </a:lnL>
                    <a:lnR>
                      <a:noFill/>
                    </a:lnR>
                    <a:lnT>
                      <a:noFill/>
                    </a:lnT>
                    <a:lnB>
                      <a:noFill/>
                    </a:lnB>
                    <a:noFill/>
                  </a:tcPr>
                </a:tc>
                <a:extLst>
                  <a:ext uri="{0D108BD9-81ED-4DB2-BD59-A6C34878D82A}">
                    <a16:rowId xmlns:a16="http://schemas.microsoft.com/office/drawing/2014/main" val="2194285934"/>
                  </a:ext>
                </a:extLst>
              </a:tr>
              <a:tr h="365760">
                <a:tc>
                  <a:txBody>
                    <a:bodyPr/>
                    <a:lstStyle/>
                    <a:p>
                      <a:pPr>
                        <a:buNone/>
                      </a:pPr>
                      <a:r>
                        <a:rPr lang="en-IN" sz="1800"/>
                        <a:t>Prevents defects</a:t>
                      </a:r>
                    </a:p>
                  </a:txBody>
                  <a:tcPr anchor="ctr">
                    <a:lnL>
                      <a:noFill/>
                    </a:lnL>
                    <a:lnR>
                      <a:noFill/>
                    </a:lnR>
                    <a:lnT>
                      <a:noFill/>
                    </a:lnT>
                    <a:lnB>
                      <a:noFill/>
                    </a:lnB>
                    <a:noFill/>
                  </a:tcPr>
                </a:tc>
                <a:tc>
                  <a:txBody>
                    <a:bodyPr/>
                    <a:lstStyle/>
                    <a:p>
                      <a:pPr>
                        <a:buNone/>
                      </a:pPr>
                      <a:r>
                        <a:rPr lang="en-IN" sz="1800"/>
                        <a:t>Detects defects</a:t>
                      </a:r>
                    </a:p>
                  </a:txBody>
                  <a:tcPr anchor="ctr">
                    <a:lnL>
                      <a:noFill/>
                    </a:lnL>
                    <a:lnR>
                      <a:noFill/>
                    </a:lnR>
                    <a:lnT>
                      <a:noFill/>
                    </a:lnT>
                    <a:lnB>
                      <a:noFill/>
                    </a:lnB>
                    <a:noFill/>
                  </a:tcPr>
                </a:tc>
                <a:extLst>
                  <a:ext uri="{0D108BD9-81ED-4DB2-BD59-A6C34878D82A}">
                    <a16:rowId xmlns:a16="http://schemas.microsoft.com/office/drawing/2014/main" val="1182557558"/>
                  </a:ext>
                </a:extLst>
              </a:tr>
              <a:tr h="365760">
                <a:tc>
                  <a:txBody>
                    <a:bodyPr/>
                    <a:lstStyle/>
                    <a:p>
                      <a:pPr>
                        <a:buNone/>
                      </a:pPr>
                      <a:r>
                        <a:rPr lang="en-IN" sz="1800"/>
                        <a:t>Proactive approach</a:t>
                      </a:r>
                    </a:p>
                  </a:txBody>
                  <a:tcPr anchor="ctr">
                    <a:lnL>
                      <a:noFill/>
                    </a:lnL>
                    <a:lnR>
                      <a:noFill/>
                    </a:lnR>
                    <a:lnT>
                      <a:noFill/>
                    </a:lnT>
                    <a:lnB>
                      <a:noFill/>
                    </a:lnB>
                    <a:noFill/>
                  </a:tcPr>
                </a:tc>
                <a:tc>
                  <a:txBody>
                    <a:bodyPr/>
                    <a:lstStyle/>
                    <a:p>
                      <a:pPr>
                        <a:buNone/>
                      </a:pPr>
                      <a:r>
                        <a:rPr lang="en-IN" sz="1800"/>
                        <a:t>Reactive approach</a:t>
                      </a:r>
                    </a:p>
                  </a:txBody>
                  <a:tcPr anchor="ctr">
                    <a:lnL>
                      <a:noFill/>
                    </a:lnL>
                    <a:lnR>
                      <a:noFill/>
                    </a:lnR>
                    <a:lnT>
                      <a:noFill/>
                    </a:lnT>
                    <a:lnB>
                      <a:noFill/>
                    </a:lnB>
                    <a:noFill/>
                  </a:tcPr>
                </a:tc>
                <a:extLst>
                  <a:ext uri="{0D108BD9-81ED-4DB2-BD59-A6C34878D82A}">
                    <a16:rowId xmlns:a16="http://schemas.microsoft.com/office/drawing/2014/main" val="3654718084"/>
                  </a:ext>
                </a:extLst>
              </a:tr>
              <a:tr h="365760">
                <a:tc>
                  <a:txBody>
                    <a:bodyPr/>
                    <a:lstStyle/>
                    <a:p>
                      <a:pPr>
                        <a:buNone/>
                      </a:pPr>
                      <a:r>
                        <a:rPr lang="en-IN" sz="1800"/>
                        <a:t>Process-oriented</a:t>
                      </a:r>
                    </a:p>
                  </a:txBody>
                  <a:tcPr anchor="ctr">
                    <a:lnL>
                      <a:noFill/>
                    </a:lnL>
                    <a:lnR>
                      <a:noFill/>
                    </a:lnR>
                    <a:lnT>
                      <a:noFill/>
                    </a:lnT>
                    <a:lnB>
                      <a:noFill/>
                    </a:lnB>
                    <a:noFill/>
                  </a:tcPr>
                </a:tc>
                <a:tc>
                  <a:txBody>
                    <a:bodyPr/>
                    <a:lstStyle/>
                    <a:p>
                      <a:pPr>
                        <a:buNone/>
                      </a:pPr>
                      <a:r>
                        <a:rPr lang="en-IN" sz="1800"/>
                        <a:t>Product-oriented</a:t>
                      </a:r>
                    </a:p>
                  </a:txBody>
                  <a:tcPr anchor="ctr">
                    <a:lnL>
                      <a:noFill/>
                    </a:lnL>
                    <a:lnR>
                      <a:noFill/>
                    </a:lnR>
                    <a:lnT>
                      <a:noFill/>
                    </a:lnT>
                    <a:lnB>
                      <a:noFill/>
                    </a:lnB>
                    <a:noFill/>
                  </a:tcPr>
                </a:tc>
                <a:extLst>
                  <a:ext uri="{0D108BD9-81ED-4DB2-BD59-A6C34878D82A}">
                    <a16:rowId xmlns:a16="http://schemas.microsoft.com/office/drawing/2014/main" val="1074557533"/>
                  </a:ext>
                </a:extLst>
              </a:tr>
              <a:tr h="365760">
                <a:tc>
                  <a:txBody>
                    <a:bodyPr/>
                    <a:lstStyle/>
                    <a:p>
                      <a:pPr>
                        <a:buNone/>
                      </a:pPr>
                      <a:r>
                        <a:rPr lang="en-IN" sz="1800"/>
                        <a:t>Done during development</a:t>
                      </a:r>
                    </a:p>
                  </a:txBody>
                  <a:tcPr anchor="ctr">
                    <a:lnL>
                      <a:noFill/>
                    </a:lnL>
                    <a:lnR>
                      <a:noFill/>
                    </a:lnR>
                    <a:lnT>
                      <a:noFill/>
                    </a:lnT>
                    <a:lnB>
                      <a:noFill/>
                    </a:lnB>
                    <a:noFill/>
                  </a:tcPr>
                </a:tc>
                <a:tc>
                  <a:txBody>
                    <a:bodyPr/>
                    <a:lstStyle/>
                    <a:p>
                      <a:pPr>
                        <a:buNone/>
                      </a:pPr>
                      <a:r>
                        <a:rPr lang="en-IN" sz="1800" dirty="0"/>
                        <a:t>Done after development</a:t>
                      </a:r>
                    </a:p>
                  </a:txBody>
                  <a:tcPr anchor="ctr">
                    <a:lnL>
                      <a:noFill/>
                    </a:lnL>
                    <a:lnR>
                      <a:noFill/>
                    </a:lnR>
                    <a:lnT>
                      <a:noFill/>
                    </a:lnT>
                    <a:lnB>
                      <a:noFill/>
                    </a:lnB>
                    <a:noFill/>
                  </a:tcPr>
                </a:tc>
                <a:extLst>
                  <a:ext uri="{0D108BD9-81ED-4DB2-BD59-A6C34878D82A}">
                    <a16:rowId xmlns:a16="http://schemas.microsoft.com/office/drawing/2014/main" val="1160317747"/>
                  </a:ext>
                </a:extLst>
              </a:tr>
            </a:tbl>
          </a:graphicData>
        </a:graphic>
      </p:graphicFrame>
    </p:spTree>
    <p:extLst>
      <p:ext uri="{BB962C8B-B14F-4D97-AF65-F5344CB8AC3E}">
        <p14:creationId xmlns:p14="http://schemas.microsoft.com/office/powerpoint/2010/main" val="2796943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8B39D-CA5D-D8E7-EAB2-8C87C457B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6312D-00A9-5290-B3C8-A342F5D59A1E}"/>
              </a:ext>
            </a:extLst>
          </p:cNvPr>
          <p:cNvSpPr>
            <a:spLocks noGrp="1"/>
          </p:cNvSpPr>
          <p:nvPr>
            <p:ph type="title"/>
          </p:nvPr>
        </p:nvSpPr>
        <p:spPr/>
        <p:txBody>
          <a:bodyPr/>
          <a:lstStyle/>
          <a:p>
            <a:r>
              <a:rPr lang="en-US" dirty="0"/>
              <a:t>Software Quality Assurance (SQA) Challenges</a:t>
            </a:r>
            <a:endParaRPr lang="en-IN" dirty="0"/>
          </a:p>
        </p:txBody>
      </p:sp>
      <p:sp>
        <p:nvSpPr>
          <p:cNvPr id="4" name="Rectangle 1">
            <a:extLst>
              <a:ext uri="{FF2B5EF4-FFF2-40B4-BE49-F238E27FC236}">
                <a16:creationId xmlns:a16="http://schemas.microsoft.com/office/drawing/2014/main" id="{8A5B70B4-E5FE-B8AB-C806-9FFC5B54D25C}"/>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Changing customer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Tight project deadlines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Limited resources and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Complex software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Poor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Integration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Rapid technological changes</a:t>
            </a:r>
          </a:p>
        </p:txBody>
      </p:sp>
    </p:spTree>
    <p:extLst>
      <p:ext uri="{BB962C8B-B14F-4D97-AF65-F5344CB8AC3E}">
        <p14:creationId xmlns:p14="http://schemas.microsoft.com/office/powerpoint/2010/main" val="313328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429CE-A9AB-3D4C-E058-ED94A01A1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1B46E-786B-250B-6060-FACBD1A391FF}"/>
              </a:ext>
            </a:extLst>
          </p:cNvPr>
          <p:cNvSpPr>
            <a:spLocks noGrp="1"/>
          </p:cNvSpPr>
          <p:nvPr>
            <p:ph type="title"/>
          </p:nvPr>
        </p:nvSpPr>
        <p:spPr/>
        <p:txBody>
          <a:bodyPr/>
          <a:lstStyle/>
          <a:p>
            <a:r>
              <a:rPr lang="en-IN" dirty="0"/>
              <a:t>Software Quality Assurance Challenges</a:t>
            </a:r>
          </a:p>
        </p:txBody>
      </p:sp>
      <p:sp>
        <p:nvSpPr>
          <p:cNvPr id="3" name="Content Placeholder 2">
            <a:extLst>
              <a:ext uri="{FF2B5EF4-FFF2-40B4-BE49-F238E27FC236}">
                <a16:creationId xmlns:a16="http://schemas.microsoft.com/office/drawing/2014/main" id="{985CC61C-F57B-A5F1-86E8-7ADBDA9F93DC}"/>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dirty="0"/>
              <a:t>Software Quality Assurance ensures high-quality software</a:t>
            </a:r>
          </a:p>
          <a:p>
            <a:pPr>
              <a:buFont typeface="Arial" panose="020B0604020202020204" pitchFamily="34" charset="0"/>
              <a:buChar char="•"/>
            </a:pPr>
            <a:r>
              <a:rPr lang="en-US" dirty="0"/>
              <a:t>SQA faces many challenges due to:</a:t>
            </a:r>
          </a:p>
          <a:p>
            <a:pPr marL="742950" lvl="1" indent="-285750">
              <a:buFont typeface="Arial" panose="020B0604020202020204" pitchFamily="34" charset="0"/>
              <a:buChar char="•"/>
            </a:pPr>
            <a:r>
              <a:rPr lang="en-US" dirty="0"/>
              <a:t>Rapid technology changes</a:t>
            </a:r>
          </a:p>
          <a:p>
            <a:pPr marL="742950" lvl="1" indent="-285750">
              <a:buFont typeface="Arial" panose="020B0604020202020204" pitchFamily="34" charset="0"/>
              <a:buChar char="•"/>
            </a:pPr>
            <a:r>
              <a:rPr lang="en-US" dirty="0"/>
              <a:t>Complex systems</a:t>
            </a:r>
          </a:p>
          <a:p>
            <a:pPr marL="742950" lvl="1" indent="-285750">
              <a:buFont typeface="Arial" panose="020B0604020202020204" pitchFamily="34" charset="0"/>
              <a:buChar char="•"/>
            </a:pPr>
            <a:r>
              <a:rPr lang="en-US" dirty="0"/>
              <a:t>High customer expectations</a:t>
            </a:r>
          </a:p>
          <a:p>
            <a:pPr marL="742950" lvl="1" indent="-285750"/>
            <a:r>
              <a:rPr lang="en-IN" dirty="0"/>
              <a:t>Changing Requirements</a:t>
            </a:r>
          </a:p>
          <a:p>
            <a:pPr marL="742950" lvl="1" indent="-285750"/>
            <a:r>
              <a:rPr lang="en-IN" dirty="0"/>
              <a:t>Time Constraints</a:t>
            </a:r>
          </a:p>
          <a:p>
            <a:pPr marL="742950" lvl="1" indent="-285750"/>
            <a:r>
              <a:rPr lang="en-IN" dirty="0"/>
              <a:t>Limited Resources</a:t>
            </a:r>
          </a:p>
          <a:p>
            <a:pPr marL="742950" lvl="1" indent="-285750"/>
            <a:r>
              <a:rPr lang="en-IN" dirty="0"/>
              <a:t>Increasing Software Complexity</a:t>
            </a:r>
          </a:p>
          <a:p>
            <a:pPr marL="742950" lvl="1" indent="-285750"/>
            <a:r>
              <a:rPr lang="en-IN" b="1" dirty="0"/>
              <a:t>Rapid Technological Changes</a:t>
            </a:r>
          </a:p>
          <a:p>
            <a:pPr marL="742950" lvl="1" indent="-285750"/>
            <a:endParaRPr lang="en-US" dirty="0"/>
          </a:p>
          <a:p>
            <a:endParaRPr lang="en-IN" dirty="0"/>
          </a:p>
        </p:txBody>
      </p:sp>
    </p:spTree>
    <p:extLst>
      <p:ext uri="{BB962C8B-B14F-4D97-AF65-F5344CB8AC3E}">
        <p14:creationId xmlns:p14="http://schemas.microsoft.com/office/powerpoint/2010/main" val="4110087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E2CE-583F-D5EE-57B1-418A0A3A8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E9A0D-AEE7-98D6-0C00-66E524403097}"/>
              </a:ext>
            </a:extLst>
          </p:cNvPr>
          <p:cNvSpPr>
            <a:spLocks noGrp="1"/>
          </p:cNvSpPr>
          <p:nvPr>
            <p:ph type="title"/>
          </p:nvPr>
        </p:nvSpPr>
        <p:spPr/>
        <p:txBody>
          <a:bodyPr/>
          <a:lstStyle/>
          <a:p>
            <a:r>
              <a:rPr lang="en-US" dirty="0"/>
              <a:t>Software Quality Assurance, SQA Planning &amp;Standards (ISO 9000) </a:t>
            </a:r>
            <a:endParaRPr lang="en-IN" dirty="0"/>
          </a:p>
        </p:txBody>
      </p:sp>
      <p:sp>
        <p:nvSpPr>
          <p:cNvPr id="4" name="Rectangle 1">
            <a:extLst>
              <a:ext uri="{FF2B5EF4-FFF2-40B4-BE49-F238E27FC236}">
                <a16:creationId xmlns:a16="http://schemas.microsoft.com/office/drawing/2014/main" id="{BD6777B7-41BD-EA07-FD6C-DBCC10400E0F}"/>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Software quality is essential for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Software Quality Assurance (SQA) ensures quality throughout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SQA focuses on </a:t>
            </a:r>
            <a:r>
              <a:rPr kumimoji="0" lang="en-US" altLang="en-US" sz="1800" b="1" i="0" u="none" strike="noStrike" cap="none" normalizeH="0" baseline="0">
                <a:ln>
                  <a:noFill/>
                </a:ln>
                <a:solidFill>
                  <a:schemeClr val="tx1"/>
                </a:solidFill>
                <a:effectLst/>
                <a:latin typeface="Arial" panose="020B0604020202020204" pitchFamily="34" charset="0"/>
              </a:rPr>
              <a:t>process improvement and defect prevention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0978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F9FA-0322-DCBB-9781-D01355BBA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33437-A70A-07E4-A7B7-522C4F9C94D8}"/>
              </a:ext>
            </a:extLst>
          </p:cNvPr>
          <p:cNvSpPr>
            <a:spLocks noGrp="1"/>
          </p:cNvSpPr>
          <p:nvPr>
            <p:ph type="title"/>
          </p:nvPr>
        </p:nvSpPr>
        <p:spPr/>
        <p:txBody>
          <a:bodyPr/>
          <a:lstStyle/>
          <a:p>
            <a:r>
              <a:rPr lang="en-IN" dirty="0"/>
              <a:t>Objective of Software Quality Assurance (SQA)</a:t>
            </a:r>
          </a:p>
        </p:txBody>
      </p:sp>
      <p:sp>
        <p:nvSpPr>
          <p:cNvPr id="5" name="Rectangle 2">
            <a:extLst>
              <a:ext uri="{FF2B5EF4-FFF2-40B4-BE49-F238E27FC236}">
                <a16:creationId xmlns:a16="http://schemas.microsoft.com/office/drawing/2014/main" id="{5BC7A556-1291-4DC8-4006-0B087543136B}"/>
              </a:ext>
            </a:extLst>
          </p:cNvPr>
          <p:cNvSpPr>
            <a:spLocks noGrp="1" noChangeArrowheads="1"/>
          </p:cNvSpPr>
          <p:nvPr>
            <p:ph idx="1"/>
          </p:nvPr>
        </p:nvSpPr>
        <p:spPr bwMode="auto">
          <a:xfrm>
            <a:off x="1451579" y="3002375"/>
            <a:ext cx="370165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 high-quality software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Prevent defects early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development processes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 maintenance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Increase customer satisfaction     </a:t>
            </a:r>
          </a:p>
        </p:txBody>
      </p:sp>
    </p:spTree>
    <p:extLst>
      <p:ext uri="{BB962C8B-B14F-4D97-AF65-F5344CB8AC3E}">
        <p14:creationId xmlns:p14="http://schemas.microsoft.com/office/powerpoint/2010/main" val="709652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FA3EA-953B-0FB0-761E-5B3BABB52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37A5F-11AF-8379-A5BA-C2A58F639D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187505-AA2E-D81F-C5C0-93711EB7D6E8}"/>
              </a:ext>
            </a:extLst>
          </p:cNvPr>
          <p:cNvSpPr>
            <a:spLocks noGrp="1"/>
          </p:cNvSpPr>
          <p:nvPr>
            <p:ph idx="1"/>
          </p:nvPr>
        </p:nvSpPr>
        <p:spPr/>
        <p:txBody>
          <a:bodyPr>
            <a:normAutofit fontScale="70000" lnSpcReduction="20000"/>
          </a:bodyPr>
          <a:lstStyle/>
          <a:p>
            <a:r>
              <a:rPr lang="en-US" b="1" dirty="0"/>
              <a:t>Software Quality Assurance (SQA)</a:t>
            </a:r>
          </a:p>
          <a:p>
            <a:r>
              <a:rPr lang="en-US" dirty="0"/>
              <a:t>SQA is a </a:t>
            </a:r>
            <a:r>
              <a:rPr lang="en-US" b="1" dirty="0"/>
              <a:t>systematic approach</a:t>
            </a:r>
            <a:r>
              <a:rPr lang="en-US" dirty="0"/>
              <a:t> to ensure software quality</a:t>
            </a:r>
          </a:p>
          <a:p>
            <a:r>
              <a:rPr lang="en-US" dirty="0"/>
              <a:t>Ensures compliance with </a:t>
            </a:r>
            <a:r>
              <a:rPr lang="en-US" b="1" dirty="0"/>
              <a:t>standards and procedures</a:t>
            </a:r>
            <a:endParaRPr lang="en-US" dirty="0"/>
          </a:p>
          <a:p>
            <a:r>
              <a:rPr lang="en-US" dirty="0"/>
              <a:t>Applied across the </a:t>
            </a:r>
            <a:r>
              <a:rPr lang="en-US" b="1" dirty="0"/>
              <a:t>Software Development Life Cycle (SDLC)</a:t>
            </a:r>
            <a:endParaRPr lang="en-US" dirty="0"/>
          </a:p>
          <a:p>
            <a:r>
              <a:rPr lang="en-US" b="1" dirty="0"/>
              <a:t>Objectives of SQA</a:t>
            </a:r>
          </a:p>
          <a:p>
            <a:r>
              <a:rPr lang="en-US" dirty="0"/>
              <a:t>Ensure high-quality software</a:t>
            </a:r>
          </a:p>
          <a:p>
            <a:r>
              <a:rPr lang="en-US" dirty="0"/>
              <a:t>Prevent defects early</a:t>
            </a:r>
          </a:p>
          <a:p>
            <a:r>
              <a:rPr lang="en-US" dirty="0"/>
              <a:t>Improve development processes</a:t>
            </a:r>
          </a:p>
          <a:p>
            <a:r>
              <a:rPr lang="en-US" dirty="0"/>
              <a:t>Reduce maintenance cost</a:t>
            </a:r>
          </a:p>
          <a:p>
            <a:r>
              <a:rPr lang="en-US" dirty="0"/>
              <a:t>Increase customer satisfaction</a:t>
            </a:r>
          </a:p>
          <a:p>
            <a:endParaRPr lang="en-IN" dirty="0"/>
          </a:p>
        </p:txBody>
      </p:sp>
    </p:spTree>
    <p:extLst>
      <p:ext uri="{BB962C8B-B14F-4D97-AF65-F5344CB8AC3E}">
        <p14:creationId xmlns:p14="http://schemas.microsoft.com/office/powerpoint/2010/main" val="920678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135FF-EB6F-C2F1-0A12-906E079BC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7847B-5029-DC51-9340-607820B953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884B15-1F17-4DC1-D99A-1A6F94166814}"/>
              </a:ext>
            </a:extLst>
          </p:cNvPr>
          <p:cNvSpPr>
            <a:spLocks noGrp="1"/>
          </p:cNvSpPr>
          <p:nvPr>
            <p:ph idx="1"/>
          </p:nvPr>
        </p:nvSpPr>
        <p:spPr/>
        <p:txBody>
          <a:bodyPr>
            <a:normAutofit fontScale="70000" lnSpcReduction="20000"/>
          </a:bodyPr>
          <a:lstStyle/>
          <a:p>
            <a:r>
              <a:rPr lang="en-US" b="1" dirty="0"/>
              <a:t>SQA Activities</a:t>
            </a:r>
          </a:p>
          <a:p>
            <a:r>
              <a:rPr lang="en-US" dirty="0"/>
              <a:t>Quality planning</a:t>
            </a:r>
          </a:p>
          <a:p>
            <a:r>
              <a:rPr lang="en-US" dirty="0"/>
              <a:t>Process definition and documentation</a:t>
            </a:r>
          </a:p>
          <a:p>
            <a:r>
              <a:rPr lang="en-US" dirty="0"/>
              <a:t>Reviews and audits</a:t>
            </a:r>
          </a:p>
          <a:p>
            <a:r>
              <a:rPr lang="en-US" dirty="0"/>
              <a:t>Software testing</a:t>
            </a:r>
          </a:p>
          <a:p>
            <a:r>
              <a:rPr lang="en-US" dirty="0"/>
              <a:t>Metrics collection and analysis</a:t>
            </a:r>
          </a:p>
          <a:p>
            <a:r>
              <a:rPr lang="en-US" b="1" dirty="0"/>
              <a:t>SQA Planning</a:t>
            </a:r>
          </a:p>
          <a:p>
            <a:r>
              <a:rPr lang="en-US" dirty="0"/>
              <a:t>SQA Plan defines </a:t>
            </a:r>
            <a:r>
              <a:rPr lang="en-US" b="1" dirty="0"/>
              <a:t>how quality will be managed</a:t>
            </a:r>
            <a:endParaRPr lang="en-US" dirty="0"/>
          </a:p>
          <a:p>
            <a:r>
              <a:rPr lang="en-US" dirty="0"/>
              <a:t>Prepared at the start of the project</a:t>
            </a:r>
          </a:p>
          <a:p>
            <a:r>
              <a:rPr lang="en-US" dirty="0"/>
              <a:t>Serves as a guideline for quality-related activities</a:t>
            </a:r>
          </a:p>
          <a:p>
            <a:endParaRPr lang="en-IN" dirty="0"/>
          </a:p>
        </p:txBody>
      </p:sp>
    </p:spTree>
    <p:extLst>
      <p:ext uri="{BB962C8B-B14F-4D97-AF65-F5344CB8AC3E}">
        <p14:creationId xmlns:p14="http://schemas.microsoft.com/office/powerpoint/2010/main" val="1196321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79D5F-E246-6289-15A4-808DA3906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DEA8E-FFA2-095C-D777-13FA5EDDCF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B7C6275-2100-B942-EB54-ECDFB960F8C1}"/>
              </a:ext>
            </a:extLst>
          </p:cNvPr>
          <p:cNvSpPr>
            <a:spLocks noGrp="1"/>
          </p:cNvSpPr>
          <p:nvPr>
            <p:ph idx="1"/>
          </p:nvPr>
        </p:nvSpPr>
        <p:spPr/>
        <p:txBody>
          <a:bodyPr>
            <a:normAutofit fontScale="47500" lnSpcReduction="20000"/>
          </a:bodyPr>
          <a:lstStyle/>
          <a:p>
            <a:r>
              <a:rPr lang="en-US" b="1" dirty="0"/>
              <a:t>Contents of an SQA Plan</a:t>
            </a:r>
          </a:p>
          <a:p>
            <a:r>
              <a:rPr lang="en-US" dirty="0"/>
              <a:t>Quality objectives and standards</a:t>
            </a:r>
          </a:p>
          <a:p>
            <a:r>
              <a:rPr lang="en-US" dirty="0"/>
              <a:t>Organizational roles and responsibilities</a:t>
            </a:r>
          </a:p>
          <a:p>
            <a:r>
              <a:rPr lang="en-US" dirty="0"/>
              <a:t>Review and audit schedules</a:t>
            </a:r>
          </a:p>
          <a:p>
            <a:r>
              <a:rPr lang="en-US" dirty="0"/>
              <a:t>Testing strategies and tools</a:t>
            </a:r>
          </a:p>
          <a:p>
            <a:r>
              <a:rPr lang="en-US" dirty="0"/>
              <a:t>Quality metrics and reporting</a:t>
            </a:r>
          </a:p>
          <a:p>
            <a:r>
              <a:rPr lang="en-US" b="1" dirty="0"/>
              <a:t>SQA Standards</a:t>
            </a:r>
          </a:p>
          <a:p>
            <a:r>
              <a:rPr lang="en-US" dirty="0"/>
              <a:t>Standards provide </a:t>
            </a:r>
            <a:r>
              <a:rPr lang="en-US" b="1" dirty="0"/>
              <a:t>guidelines for quality assurance</a:t>
            </a:r>
            <a:endParaRPr lang="en-US" dirty="0"/>
          </a:p>
          <a:p>
            <a:r>
              <a:rPr lang="en-US" dirty="0"/>
              <a:t>Help maintain consistency and reliability</a:t>
            </a:r>
          </a:p>
          <a:p>
            <a:r>
              <a:rPr lang="en-US" dirty="0"/>
              <a:t>Common standards:</a:t>
            </a:r>
          </a:p>
          <a:p>
            <a:pPr lvl="1"/>
            <a:r>
              <a:rPr lang="en-US" dirty="0"/>
              <a:t>ISO 9000</a:t>
            </a:r>
          </a:p>
          <a:p>
            <a:pPr lvl="1"/>
            <a:r>
              <a:rPr lang="en-US" dirty="0"/>
              <a:t>IEEE standards</a:t>
            </a:r>
          </a:p>
          <a:p>
            <a:pPr lvl="1"/>
            <a:r>
              <a:rPr lang="en-US" dirty="0"/>
              <a:t>CMMI</a:t>
            </a:r>
          </a:p>
          <a:p>
            <a:endParaRPr lang="en-IN" dirty="0"/>
          </a:p>
        </p:txBody>
      </p:sp>
    </p:spTree>
    <p:extLst>
      <p:ext uri="{BB962C8B-B14F-4D97-AF65-F5344CB8AC3E}">
        <p14:creationId xmlns:p14="http://schemas.microsoft.com/office/powerpoint/2010/main" val="103066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A14B8-EF40-A594-1B54-CE8DEBDD2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FE022-300E-BDA3-0D21-E17D722F73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B528F2-8F8B-CF8B-03E5-7EC7A78E1317}"/>
              </a:ext>
            </a:extLst>
          </p:cNvPr>
          <p:cNvSpPr>
            <a:spLocks noGrp="1"/>
          </p:cNvSpPr>
          <p:nvPr>
            <p:ph idx="1"/>
          </p:nvPr>
        </p:nvSpPr>
        <p:spPr/>
        <p:txBody>
          <a:bodyPr>
            <a:normAutofit fontScale="70000" lnSpcReduction="20000"/>
          </a:bodyPr>
          <a:lstStyle/>
          <a:p>
            <a:r>
              <a:rPr lang="en-US" b="1" dirty="0"/>
              <a:t>ISO 9000 Standard</a:t>
            </a:r>
          </a:p>
          <a:p>
            <a:r>
              <a:rPr lang="en-US" dirty="0"/>
              <a:t>ISO 9000 is an </a:t>
            </a:r>
            <a:r>
              <a:rPr lang="en-US" b="1" dirty="0"/>
              <a:t>international quality management standard</a:t>
            </a:r>
            <a:endParaRPr lang="en-US" dirty="0"/>
          </a:p>
          <a:p>
            <a:r>
              <a:rPr lang="en-US" dirty="0"/>
              <a:t>Focuses on </a:t>
            </a:r>
            <a:r>
              <a:rPr lang="en-US" b="1" dirty="0"/>
              <a:t>process quality</a:t>
            </a:r>
            <a:endParaRPr lang="en-US" dirty="0"/>
          </a:p>
          <a:p>
            <a:r>
              <a:rPr lang="en-US" dirty="0"/>
              <a:t>Applicable to software and other industries</a:t>
            </a:r>
          </a:p>
          <a:p>
            <a:r>
              <a:rPr lang="en-US" b="1" dirty="0"/>
              <a:t>Principles of ISO 9000</a:t>
            </a:r>
          </a:p>
          <a:p>
            <a:r>
              <a:rPr lang="en-US" dirty="0"/>
              <a:t>Customer focus</a:t>
            </a:r>
          </a:p>
          <a:p>
            <a:r>
              <a:rPr lang="en-US" dirty="0"/>
              <a:t>Leadership</a:t>
            </a:r>
          </a:p>
          <a:p>
            <a:r>
              <a:rPr lang="en-US" dirty="0"/>
              <a:t>Process approach</a:t>
            </a:r>
          </a:p>
          <a:p>
            <a:r>
              <a:rPr lang="en-US" dirty="0"/>
              <a:t>Continuous improvement</a:t>
            </a:r>
          </a:p>
          <a:p>
            <a:r>
              <a:rPr lang="en-US" dirty="0"/>
              <a:t>Evidence-based decision making</a:t>
            </a:r>
          </a:p>
          <a:p>
            <a:endParaRPr lang="en-IN" dirty="0"/>
          </a:p>
        </p:txBody>
      </p:sp>
    </p:spTree>
    <p:extLst>
      <p:ext uri="{BB962C8B-B14F-4D97-AF65-F5344CB8AC3E}">
        <p14:creationId xmlns:p14="http://schemas.microsoft.com/office/powerpoint/2010/main" val="3251412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436F3-C763-C241-6876-892614048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4000F-1AD7-A1A1-8F33-5BEA388220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25184C7-1758-41CB-C158-0A2EE85C9814}"/>
              </a:ext>
            </a:extLst>
          </p:cNvPr>
          <p:cNvSpPr>
            <a:spLocks noGrp="1"/>
          </p:cNvSpPr>
          <p:nvPr>
            <p:ph idx="1"/>
          </p:nvPr>
        </p:nvSpPr>
        <p:spPr/>
        <p:txBody>
          <a:bodyPr/>
          <a:lstStyle/>
          <a:p>
            <a:r>
              <a:rPr lang="en-US" b="1" dirty="0"/>
              <a:t>Benefits of ISO 9000</a:t>
            </a:r>
          </a:p>
          <a:p>
            <a:r>
              <a:rPr lang="en-US" dirty="0"/>
              <a:t>Improved software quality</a:t>
            </a:r>
          </a:p>
          <a:p>
            <a:r>
              <a:rPr lang="en-US" dirty="0"/>
              <a:t>Reduced errors and rework</a:t>
            </a:r>
          </a:p>
          <a:p>
            <a:r>
              <a:rPr lang="en-US" dirty="0"/>
              <a:t>Better customer satisfaction</a:t>
            </a:r>
          </a:p>
          <a:p>
            <a:r>
              <a:rPr lang="en-US" dirty="0"/>
              <a:t>Global recognition</a:t>
            </a:r>
          </a:p>
          <a:p>
            <a:r>
              <a:rPr lang="en-US" dirty="0"/>
              <a:t>Improved organizational efficiency</a:t>
            </a:r>
          </a:p>
          <a:p>
            <a:endParaRPr lang="en-IN" dirty="0"/>
          </a:p>
        </p:txBody>
      </p:sp>
    </p:spTree>
    <p:extLst>
      <p:ext uri="{BB962C8B-B14F-4D97-AF65-F5344CB8AC3E}">
        <p14:creationId xmlns:p14="http://schemas.microsoft.com/office/powerpoint/2010/main" val="52531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C0591-E7E7-65FE-91A9-315D75BF0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7C30AA-51C4-BF44-BB30-780872F3AD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0895F2-79FA-727E-263A-D07C003FBFA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77459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CE88A-887C-6290-5635-E08B1486B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B39BD9-9FB3-04E7-D89C-96B5C214C0E0}"/>
              </a:ext>
            </a:extLst>
          </p:cNvPr>
          <p:cNvSpPr>
            <a:spLocks noGrp="1"/>
          </p:cNvSpPr>
          <p:nvPr>
            <p:ph type="title"/>
          </p:nvPr>
        </p:nvSpPr>
        <p:spPr>
          <a:xfrm>
            <a:off x="1451579" y="804519"/>
            <a:ext cx="9603275" cy="520189"/>
          </a:xfrm>
        </p:spPr>
        <p:txBody>
          <a:bodyPr>
            <a:normAutofit fontScale="90000"/>
          </a:bodyPr>
          <a:lstStyle/>
          <a:p>
            <a:r>
              <a:rPr lang="en-US" b="1" dirty="0"/>
              <a:t>1.5 Software Quality factors:- </a:t>
            </a:r>
            <a:br>
              <a:rPr lang="en-US" b="1" dirty="0"/>
            </a:br>
            <a:endParaRPr lang="en-IN" dirty="0"/>
          </a:p>
        </p:txBody>
      </p:sp>
      <p:sp>
        <p:nvSpPr>
          <p:cNvPr id="4" name="Content Placeholder 2">
            <a:extLst>
              <a:ext uri="{FF2B5EF4-FFF2-40B4-BE49-F238E27FC236}">
                <a16:creationId xmlns:a16="http://schemas.microsoft.com/office/drawing/2014/main" id="{48791314-B64C-E98E-A24F-B60D9A55D7FF}"/>
              </a:ext>
            </a:extLst>
          </p:cNvPr>
          <p:cNvSpPr>
            <a:spLocks noGrp="1"/>
          </p:cNvSpPr>
          <p:nvPr>
            <p:ph idx="1"/>
          </p:nvPr>
        </p:nvSpPr>
        <p:spPr>
          <a:xfrm>
            <a:off x="1450976" y="2016125"/>
            <a:ext cx="9474932" cy="4037356"/>
          </a:xfrm>
        </p:spPr>
        <p:txBody>
          <a:bodyPr/>
          <a:lstStyle/>
          <a:p>
            <a:pPr marL="0" indent="0">
              <a:buNone/>
            </a:pPr>
            <a:endParaRPr lang="en-IN" dirty="0"/>
          </a:p>
        </p:txBody>
      </p:sp>
      <p:pic>
        <p:nvPicPr>
          <p:cNvPr id="5" name="Picture 4" descr="SQF.JPG">
            <a:extLst>
              <a:ext uri="{FF2B5EF4-FFF2-40B4-BE49-F238E27FC236}">
                <a16:creationId xmlns:a16="http://schemas.microsoft.com/office/drawing/2014/main" id="{78909527-4EBB-4A8A-B666-B960363C4B5E}"/>
              </a:ext>
            </a:extLst>
          </p:cNvPr>
          <p:cNvPicPr/>
          <p:nvPr/>
        </p:nvPicPr>
        <p:blipFill>
          <a:blip r:embed="rId2"/>
          <a:stretch>
            <a:fillRect/>
          </a:stretch>
        </p:blipFill>
        <p:spPr>
          <a:xfrm>
            <a:off x="1450976" y="1910567"/>
            <a:ext cx="7992888" cy="4248472"/>
          </a:xfrm>
          <a:prstGeom prst="rect">
            <a:avLst/>
          </a:prstGeom>
        </p:spPr>
      </p:pic>
    </p:spTree>
    <p:extLst>
      <p:ext uri="{BB962C8B-B14F-4D97-AF65-F5344CB8AC3E}">
        <p14:creationId xmlns:p14="http://schemas.microsoft.com/office/powerpoint/2010/main" val="1439175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FCA0-8AFB-3A3B-B431-D376F98349FC}"/>
              </a:ext>
            </a:extLst>
          </p:cNvPr>
          <p:cNvSpPr>
            <a:spLocks noGrp="1"/>
          </p:cNvSpPr>
          <p:nvPr>
            <p:ph type="title"/>
          </p:nvPr>
        </p:nvSpPr>
        <p:spPr/>
        <p:txBody>
          <a:bodyPr/>
          <a:lstStyle/>
          <a:p>
            <a:endParaRPr lang="en-IN"/>
          </a:p>
        </p:txBody>
      </p:sp>
      <p:pic>
        <p:nvPicPr>
          <p:cNvPr id="4" name="Content Placeholder 3" descr="SQF1.JPG">
            <a:extLst>
              <a:ext uri="{FF2B5EF4-FFF2-40B4-BE49-F238E27FC236}">
                <a16:creationId xmlns:a16="http://schemas.microsoft.com/office/drawing/2014/main" id="{94CF7D29-B383-BD09-2148-3D0C8D276C85}"/>
              </a:ext>
            </a:extLst>
          </p:cNvPr>
          <p:cNvPicPr>
            <a:picLocks noGrp="1"/>
          </p:cNvPicPr>
          <p:nvPr>
            <p:ph idx="1"/>
          </p:nvPr>
        </p:nvPicPr>
        <p:blipFill>
          <a:blip r:embed="rId2"/>
          <a:stretch>
            <a:fillRect/>
          </a:stretch>
        </p:blipFill>
        <p:spPr>
          <a:xfrm>
            <a:off x="1324708" y="1853754"/>
            <a:ext cx="9730146" cy="3632646"/>
          </a:xfrm>
          <a:prstGeom prst="rect">
            <a:avLst/>
          </a:prstGeom>
        </p:spPr>
      </p:pic>
    </p:spTree>
    <p:extLst>
      <p:ext uri="{BB962C8B-B14F-4D97-AF65-F5344CB8AC3E}">
        <p14:creationId xmlns:p14="http://schemas.microsoft.com/office/powerpoint/2010/main" val="2600043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4147B-D06C-8522-0570-FE12E8FB5D2A}"/>
              </a:ext>
            </a:extLst>
          </p:cNvPr>
          <p:cNvSpPr>
            <a:spLocks noGrp="1"/>
          </p:cNvSpPr>
          <p:nvPr>
            <p:ph type="title"/>
          </p:nvPr>
        </p:nvSpPr>
        <p:spPr/>
        <p:txBody>
          <a:bodyPr/>
          <a:lstStyle/>
          <a:p>
            <a:r>
              <a:rPr lang="en-US" b="1" dirty="0"/>
              <a:t>Software Reliability &amp; Reliability Measurement Factors:-</a:t>
            </a:r>
            <a:endParaRPr lang="en-IN" dirty="0"/>
          </a:p>
        </p:txBody>
      </p:sp>
      <p:sp>
        <p:nvSpPr>
          <p:cNvPr id="3" name="Content Placeholder 2">
            <a:extLst>
              <a:ext uri="{FF2B5EF4-FFF2-40B4-BE49-F238E27FC236}">
                <a16:creationId xmlns:a16="http://schemas.microsoft.com/office/drawing/2014/main" id="{A36087CA-6A6D-994F-F058-4CE21E7604B4}"/>
              </a:ext>
            </a:extLst>
          </p:cNvPr>
          <p:cNvSpPr>
            <a:spLocks noGrp="1"/>
          </p:cNvSpPr>
          <p:nvPr>
            <p:ph idx="1"/>
          </p:nvPr>
        </p:nvSpPr>
        <p:spPr/>
        <p:txBody>
          <a:bodyPr/>
          <a:lstStyle/>
          <a:p>
            <a:r>
              <a:rPr lang="en-US" dirty="0"/>
              <a:t>Reliability metrics are used to quantitatively expressed the reliability of the software product. The option of which metric is to be used depends upon the type of system to which it applies &amp; the requirements of the application domain.</a:t>
            </a:r>
            <a:endParaRPr lang="en-IN" dirty="0"/>
          </a:p>
          <a:p>
            <a:endParaRPr lang="en-IN" dirty="0"/>
          </a:p>
        </p:txBody>
      </p:sp>
    </p:spTree>
    <p:extLst>
      <p:ext uri="{BB962C8B-B14F-4D97-AF65-F5344CB8AC3E}">
        <p14:creationId xmlns:p14="http://schemas.microsoft.com/office/powerpoint/2010/main" val="1480149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9AC5F-ADA4-F8CD-5724-DFFA7B89431D}"/>
              </a:ext>
            </a:extLst>
          </p:cNvPr>
          <p:cNvSpPr>
            <a:spLocks noGrp="1"/>
          </p:cNvSpPr>
          <p:nvPr>
            <p:ph type="title"/>
          </p:nvPr>
        </p:nvSpPr>
        <p:spPr/>
        <p:txBody>
          <a:bodyPr/>
          <a:lstStyle/>
          <a:p>
            <a:endParaRPr lang="en-IN"/>
          </a:p>
        </p:txBody>
      </p:sp>
      <p:pic>
        <p:nvPicPr>
          <p:cNvPr id="4" name="Content Placeholder 3" descr="Reliability Metrics">
            <a:extLst>
              <a:ext uri="{FF2B5EF4-FFF2-40B4-BE49-F238E27FC236}">
                <a16:creationId xmlns:a16="http://schemas.microsoft.com/office/drawing/2014/main" id="{87CB1D98-2A92-2CAE-6B0B-D759A2564EF1}"/>
              </a:ext>
            </a:extLst>
          </p:cNvPr>
          <p:cNvPicPr>
            <a:picLocks noGrp="1"/>
          </p:cNvPicPr>
          <p:nvPr>
            <p:ph idx="1"/>
          </p:nvPr>
        </p:nvPicPr>
        <p:blipFill>
          <a:blip r:embed="rId2"/>
          <a:srcRect/>
          <a:stretch>
            <a:fillRect/>
          </a:stretch>
        </p:blipFill>
        <p:spPr bwMode="auto">
          <a:xfrm>
            <a:off x="1316736" y="2016124"/>
            <a:ext cx="9738118" cy="4189603"/>
          </a:xfrm>
          <a:prstGeom prst="rect">
            <a:avLst/>
          </a:prstGeom>
          <a:noFill/>
          <a:ln w="9525">
            <a:noFill/>
            <a:miter lim="800000"/>
            <a:headEnd/>
            <a:tailEnd/>
          </a:ln>
        </p:spPr>
      </p:pic>
    </p:spTree>
    <p:extLst>
      <p:ext uri="{BB962C8B-B14F-4D97-AF65-F5344CB8AC3E}">
        <p14:creationId xmlns:p14="http://schemas.microsoft.com/office/powerpoint/2010/main" val="1315737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DFD42-C3B2-758A-121D-BAD380EE991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B574E7-8145-D542-9E9E-BE549B9A25FD}"/>
              </a:ext>
            </a:extLst>
          </p:cNvPr>
          <p:cNvSpPr>
            <a:spLocks noGrp="1"/>
          </p:cNvSpPr>
          <p:nvPr>
            <p:ph idx="1"/>
          </p:nvPr>
        </p:nvSpPr>
        <p:spPr/>
        <p:txBody>
          <a:bodyPr>
            <a:normAutofit fontScale="92500" lnSpcReduction="10000"/>
          </a:bodyPr>
          <a:lstStyle/>
          <a:p>
            <a:r>
              <a:rPr lang="en-US" b="1" dirty="0"/>
              <a:t>Mean Time to Failure (MTTF):-</a:t>
            </a:r>
            <a:endParaRPr lang="en-IN" dirty="0"/>
          </a:p>
          <a:p>
            <a:r>
              <a:rPr lang="en-US" b="1" dirty="0"/>
              <a:t>MTTF</a:t>
            </a:r>
            <a:r>
              <a:rPr lang="en-US" dirty="0"/>
              <a:t> is described as the time interval between the two successive failures. An </a:t>
            </a:r>
            <a:r>
              <a:rPr lang="en-US" b="1" dirty="0"/>
              <a:t>MTTF</a:t>
            </a:r>
            <a:r>
              <a:rPr lang="en-US" dirty="0"/>
              <a:t> of 200 mean that one failure can be expected each 200-time units. The time units are entirely dependent on the system &amp; it can even be stated in the number of transactions. </a:t>
            </a:r>
            <a:r>
              <a:rPr lang="en-US" b="1" dirty="0"/>
              <a:t>MTTF</a:t>
            </a:r>
            <a:r>
              <a:rPr lang="en-US" dirty="0"/>
              <a:t> is consistent for systems with large transactions.</a:t>
            </a:r>
            <a:endParaRPr lang="en-IN" dirty="0"/>
          </a:p>
          <a:p>
            <a:r>
              <a:rPr lang="en-US" dirty="0"/>
              <a:t>For example, It is suitable for computer-aided design systems where a designer will work on a design for several hours as well as for Word-processor systems.</a:t>
            </a:r>
            <a:endParaRPr lang="en-IN" dirty="0"/>
          </a:p>
          <a:p>
            <a:r>
              <a:rPr lang="en-US" dirty="0"/>
              <a:t>To measure </a:t>
            </a:r>
            <a:r>
              <a:rPr lang="en-US" b="1" dirty="0"/>
              <a:t>MTTF</a:t>
            </a:r>
            <a:r>
              <a:rPr lang="en-US" dirty="0"/>
              <a:t>, we can evidence the failure data for n failures. Let the failures appear at the time instants </a:t>
            </a:r>
            <a:r>
              <a:rPr lang="en-US" b="1" dirty="0"/>
              <a:t>t</a:t>
            </a:r>
            <a:r>
              <a:rPr lang="en-US" b="1" baseline="-25000" dirty="0"/>
              <a:t>1</a:t>
            </a:r>
            <a:r>
              <a:rPr lang="en-US" b="1" dirty="0"/>
              <a:t>,t</a:t>
            </a:r>
            <a:r>
              <a:rPr lang="en-US" b="1" baseline="-25000" dirty="0"/>
              <a:t>2</a:t>
            </a:r>
            <a:r>
              <a:rPr lang="en-US" b="1" dirty="0"/>
              <a:t>.....t</a:t>
            </a:r>
            <a:r>
              <a:rPr lang="en-US" b="1" baseline="-25000" dirty="0"/>
              <a:t>n</a:t>
            </a:r>
            <a:r>
              <a:rPr lang="en-US" dirty="0"/>
              <a:t>.</a:t>
            </a:r>
            <a:endParaRPr lang="en-IN" dirty="0"/>
          </a:p>
          <a:p>
            <a:endParaRPr lang="en-IN" dirty="0"/>
          </a:p>
        </p:txBody>
      </p:sp>
    </p:spTree>
    <p:extLst>
      <p:ext uri="{BB962C8B-B14F-4D97-AF65-F5344CB8AC3E}">
        <p14:creationId xmlns:p14="http://schemas.microsoft.com/office/powerpoint/2010/main" val="1176932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A2EE-7D1D-A553-662C-0B92DAEEF71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46F735-0D37-0914-FE7A-5B6B16B59F8A}"/>
              </a:ext>
            </a:extLst>
          </p:cNvPr>
          <p:cNvSpPr>
            <a:spLocks noGrp="1"/>
          </p:cNvSpPr>
          <p:nvPr>
            <p:ph idx="1"/>
          </p:nvPr>
        </p:nvSpPr>
        <p:spPr/>
        <p:txBody>
          <a:bodyPr>
            <a:normAutofit fontScale="92500" lnSpcReduction="20000"/>
          </a:bodyPr>
          <a:lstStyle/>
          <a:p>
            <a:r>
              <a:rPr lang="en-US" b="1" dirty="0"/>
              <a:t>Mean Time to Repair (MTTR) :-</a:t>
            </a:r>
            <a:endParaRPr lang="en-IN" dirty="0"/>
          </a:p>
          <a:p>
            <a:pPr marL="0" indent="0">
              <a:buNone/>
            </a:pPr>
            <a:r>
              <a:rPr lang="en-US" dirty="0"/>
              <a:t>Once failure occurs, some-time is required to fix the error. </a:t>
            </a:r>
            <a:r>
              <a:rPr lang="en-US" b="1" dirty="0"/>
              <a:t>MTTR</a:t>
            </a:r>
            <a:r>
              <a:rPr lang="en-US" dirty="0"/>
              <a:t> measures the average time it takes to track the errors causing the failure and to fix them.</a:t>
            </a:r>
            <a:endParaRPr lang="en-IN" dirty="0"/>
          </a:p>
          <a:p>
            <a:r>
              <a:rPr lang="en-US" dirty="0"/>
              <a:t> </a:t>
            </a:r>
            <a:r>
              <a:rPr lang="en-US" b="1" dirty="0"/>
              <a:t>Mean Time Between Failure (MTBR) :-</a:t>
            </a:r>
            <a:endParaRPr lang="en-IN" dirty="0"/>
          </a:p>
          <a:p>
            <a:pPr marL="0" indent="0">
              <a:buNone/>
            </a:pPr>
            <a:r>
              <a:rPr lang="en-US" dirty="0"/>
              <a:t>We can merge </a:t>
            </a:r>
            <a:r>
              <a:rPr lang="en-US" b="1" dirty="0"/>
              <a:t>MTTF</a:t>
            </a:r>
            <a:r>
              <a:rPr lang="en-US" dirty="0"/>
              <a:t> &amp; </a:t>
            </a:r>
            <a:r>
              <a:rPr lang="en-US" b="1" dirty="0"/>
              <a:t>MTTR</a:t>
            </a:r>
            <a:r>
              <a:rPr lang="en-US" dirty="0"/>
              <a:t> metrics to get the MTBF metric.</a:t>
            </a:r>
            <a:endParaRPr lang="en-IN" dirty="0"/>
          </a:p>
          <a:p>
            <a:r>
              <a:rPr lang="en-US" dirty="0"/>
              <a:t>                  </a:t>
            </a:r>
            <a:r>
              <a:rPr lang="en-US" b="1" dirty="0"/>
              <a:t>MTBF = MTTF + MTTR</a:t>
            </a:r>
            <a:endParaRPr lang="en-IN" dirty="0"/>
          </a:p>
          <a:p>
            <a:pPr marL="0" indent="0">
              <a:buNone/>
            </a:pPr>
            <a:r>
              <a:rPr lang="en-US" dirty="0"/>
              <a:t>Thus, an </a:t>
            </a:r>
            <a:r>
              <a:rPr lang="en-US" b="1" dirty="0"/>
              <a:t>MTBF</a:t>
            </a:r>
            <a:r>
              <a:rPr lang="en-US" dirty="0"/>
              <a:t> of 300 denoted that once the failure appears, the next failure is expected to appear only after 300 hours. In this method, the time measurements are real-time &amp; not the execution time as in </a:t>
            </a:r>
            <a:r>
              <a:rPr lang="en-US" b="1" dirty="0"/>
              <a:t>MTTF</a:t>
            </a:r>
            <a:r>
              <a:rPr lang="en-US" dirty="0"/>
              <a:t>.</a:t>
            </a:r>
            <a:endParaRPr lang="en-IN" dirty="0"/>
          </a:p>
          <a:p>
            <a:endParaRPr lang="en-IN" dirty="0"/>
          </a:p>
        </p:txBody>
      </p:sp>
    </p:spTree>
    <p:extLst>
      <p:ext uri="{BB962C8B-B14F-4D97-AF65-F5344CB8AC3E}">
        <p14:creationId xmlns:p14="http://schemas.microsoft.com/office/powerpoint/2010/main" val="2099014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D54D-1B72-5BE7-06BA-666E00AE2D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A50CD8-9DF8-52E6-5D63-097E652C8C89}"/>
              </a:ext>
            </a:extLst>
          </p:cNvPr>
          <p:cNvSpPr>
            <a:spLocks noGrp="1"/>
          </p:cNvSpPr>
          <p:nvPr>
            <p:ph idx="1"/>
          </p:nvPr>
        </p:nvSpPr>
        <p:spPr/>
        <p:txBody>
          <a:bodyPr/>
          <a:lstStyle/>
          <a:p>
            <a:r>
              <a:rPr lang="en-US" b="1" dirty="0"/>
              <a:t>Rate of occurrence of failure (ROCOF):- </a:t>
            </a:r>
            <a:endParaRPr lang="en-IN" dirty="0"/>
          </a:p>
          <a:p>
            <a:pPr marL="0" indent="0">
              <a:buNone/>
            </a:pPr>
            <a:r>
              <a:rPr lang="en-US" dirty="0"/>
              <a:t>It is the number of failures appearing in a unit time interval. The number of unexpected events over a specific time of operation. </a:t>
            </a:r>
            <a:r>
              <a:rPr lang="en-US" b="1" dirty="0"/>
              <a:t>ROCOF</a:t>
            </a:r>
            <a:r>
              <a:rPr lang="en-US" dirty="0"/>
              <a:t> is the frequency of occurrence with which unexpected role is likely to appear. A </a:t>
            </a:r>
            <a:r>
              <a:rPr lang="en-US" b="1" dirty="0"/>
              <a:t>ROCOF</a:t>
            </a:r>
            <a:r>
              <a:rPr lang="en-US" dirty="0"/>
              <a:t> of 0.02 mean that two failures are likely to occur in each 100 operational time unit steps. It is also called the failure intensity metric.</a:t>
            </a:r>
            <a:endParaRPr lang="en-IN" dirty="0"/>
          </a:p>
          <a:p>
            <a:endParaRPr lang="en-IN" dirty="0"/>
          </a:p>
        </p:txBody>
      </p:sp>
    </p:spTree>
    <p:extLst>
      <p:ext uri="{BB962C8B-B14F-4D97-AF65-F5344CB8AC3E}">
        <p14:creationId xmlns:p14="http://schemas.microsoft.com/office/powerpoint/2010/main" val="2847259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A9D57-E007-227E-1E9B-95E7CFBF8FC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BA2FB2-01A1-B78A-D91A-1EFF282E245A}"/>
              </a:ext>
            </a:extLst>
          </p:cNvPr>
          <p:cNvSpPr>
            <a:spLocks noGrp="1"/>
          </p:cNvSpPr>
          <p:nvPr>
            <p:ph idx="1"/>
          </p:nvPr>
        </p:nvSpPr>
        <p:spPr/>
        <p:txBody>
          <a:bodyPr/>
          <a:lstStyle/>
          <a:p>
            <a:r>
              <a:rPr lang="en-US" b="1" dirty="0"/>
              <a:t>Probability of Failure on Demand (POFOD):- </a:t>
            </a:r>
            <a:endParaRPr lang="en-IN" dirty="0"/>
          </a:p>
          <a:p>
            <a:r>
              <a:rPr lang="en-US" b="1" dirty="0"/>
              <a:t>POFOD</a:t>
            </a:r>
            <a:r>
              <a:rPr lang="en-US" dirty="0"/>
              <a:t> is described as the probability that the system will fail when a service is requested. It is the number of system deficiency given several systems inputs.</a:t>
            </a:r>
            <a:endParaRPr lang="en-IN" dirty="0"/>
          </a:p>
          <a:p>
            <a:r>
              <a:rPr lang="en-US" b="1" dirty="0"/>
              <a:t>POFOD</a:t>
            </a:r>
            <a:r>
              <a:rPr lang="en-US" dirty="0"/>
              <a:t> is the possibility that the system will fail when a service request is made.</a:t>
            </a:r>
            <a:endParaRPr lang="en-IN" dirty="0"/>
          </a:p>
          <a:p>
            <a:r>
              <a:rPr lang="en-US" dirty="0"/>
              <a:t>A </a:t>
            </a:r>
            <a:r>
              <a:rPr lang="en-US" b="1" dirty="0"/>
              <a:t>POFOD</a:t>
            </a:r>
            <a:r>
              <a:rPr lang="en-US" dirty="0"/>
              <a:t> of 0.1 means that one out of ten service requests may </a:t>
            </a:r>
            <a:r>
              <a:rPr lang="en-US" dirty="0" err="1"/>
              <a:t>fail.</a:t>
            </a:r>
            <a:r>
              <a:rPr lang="en-US" b="1" dirty="0" err="1"/>
              <a:t>POFOD</a:t>
            </a:r>
            <a:r>
              <a:rPr lang="en-US" dirty="0"/>
              <a:t> is an essential measure for safety-critical systems. POFOD is relevant for protection systems where services are demanded occasionally.</a:t>
            </a:r>
            <a:endParaRPr lang="en-IN" dirty="0"/>
          </a:p>
          <a:p>
            <a:endParaRPr lang="en-IN" dirty="0"/>
          </a:p>
        </p:txBody>
      </p:sp>
    </p:spTree>
    <p:extLst>
      <p:ext uri="{BB962C8B-B14F-4D97-AF65-F5344CB8AC3E}">
        <p14:creationId xmlns:p14="http://schemas.microsoft.com/office/powerpoint/2010/main" val="4024989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35560-16AA-7767-0C45-58C9030D5D36}"/>
              </a:ext>
            </a:extLst>
          </p:cNvPr>
          <p:cNvSpPr>
            <a:spLocks noGrp="1"/>
          </p:cNvSpPr>
          <p:nvPr>
            <p:ph type="title"/>
          </p:nvPr>
        </p:nvSpPr>
        <p:spPr/>
        <p:txBody>
          <a:bodyPr/>
          <a:lstStyle/>
          <a:p>
            <a:r>
              <a:rPr lang="en-US" b="1" dirty="0"/>
              <a:t>Availability (AVAIL)</a:t>
            </a:r>
            <a:br>
              <a:rPr lang="en-IN" dirty="0"/>
            </a:br>
            <a:endParaRPr lang="en-IN" dirty="0"/>
          </a:p>
        </p:txBody>
      </p:sp>
      <p:sp>
        <p:nvSpPr>
          <p:cNvPr id="3" name="Content Placeholder 2">
            <a:extLst>
              <a:ext uri="{FF2B5EF4-FFF2-40B4-BE49-F238E27FC236}">
                <a16:creationId xmlns:a16="http://schemas.microsoft.com/office/drawing/2014/main" id="{5A6669B6-B26F-D6CE-7F74-8E9F70BD68C2}"/>
              </a:ext>
            </a:extLst>
          </p:cNvPr>
          <p:cNvSpPr>
            <a:spLocks noGrp="1"/>
          </p:cNvSpPr>
          <p:nvPr>
            <p:ph idx="1"/>
          </p:nvPr>
        </p:nvSpPr>
        <p:spPr/>
        <p:txBody>
          <a:bodyPr/>
          <a:lstStyle/>
          <a:p>
            <a:r>
              <a:rPr lang="en-US" dirty="0"/>
              <a:t>Availability is the probability that the system is applicable for use at a given time. It takes into account the repair time &amp; the restart time for the system. An availability of 0.995 means that in every 1000 time units, the system is feasible to be available for </a:t>
            </a:r>
            <a:r>
              <a:rPr lang="en-US" b="1" dirty="0"/>
              <a:t>995</a:t>
            </a:r>
            <a:r>
              <a:rPr lang="en-US" dirty="0"/>
              <a:t> of these. The percentage of time that a system is applicable for use, taking into account planned and unplanned downtime. If a system is down an average of four hours out of 100 hours of operation, its </a:t>
            </a:r>
            <a:r>
              <a:rPr lang="en-US" b="1" dirty="0"/>
              <a:t>AVAIL</a:t>
            </a:r>
            <a:r>
              <a:rPr lang="en-US" dirty="0"/>
              <a:t> is 96%.</a:t>
            </a:r>
            <a:endParaRPr lang="en-IN" dirty="0"/>
          </a:p>
          <a:p>
            <a:endParaRPr lang="en-IN" dirty="0"/>
          </a:p>
        </p:txBody>
      </p:sp>
    </p:spTree>
    <p:extLst>
      <p:ext uri="{BB962C8B-B14F-4D97-AF65-F5344CB8AC3E}">
        <p14:creationId xmlns:p14="http://schemas.microsoft.com/office/powerpoint/2010/main" val="246124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6E0D-47A6-A470-C825-FA332A781A5B}"/>
              </a:ext>
            </a:extLst>
          </p:cNvPr>
          <p:cNvSpPr>
            <a:spLocks noGrp="1"/>
          </p:cNvSpPr>
          <p:nvPr>
            <p:ph type="title"/>
          </p:nvPr>
        </p:nvSpPr>
        <p:spPr/>
        <p:txBody>
          <a:bodyPr/>
          <a:lstStyle/>
          <a:p>
            <a:endParaRPr lang="en-IN"/>
          </a:p>
        </p:txBody>
      </p:sp>
      <p:pic>
        <p:nvPicPr>
          <p:cNvPr id="4" name="Content Placeholder 3" descr="Reliability Metrics">
            <a:extLst>
              <a:ext uri="{FF2B5EF4-FFF2-40B4-BE49-F238E27FC236}">
                <a16:creationId xmlns:a16="http://schemas.microsoft.com/office/drawing/2014/main" id="{6957B43B-A809-B40A-61C1-39AC9B84673D}"/>
              </a:ext>
            </a:extLst>
          </p:cNvPr>
          <p:cNvPicPr>
            <a:picLocks noGrp="1"/>
          </p:cNvPicPr>
          <p:nvPr>
            <p:ph idx="1"/>
          </p:nvPr>
        </p:nvPicPr>
        <p:blipFill>
          <a:blip r:embed="rId2"/>
          <a:srcRect/>
          <a:stretch>
            <a:fillRect/>
          </a:stretch>
        </p:blipFill>
        <p:spPr bwMode="auto">
          <a:xfrm>
            <a:off x="1451579" y="2016125"/>
            <a:ext cx="9603275" cy="3449638"/>
          </a:xfrm>
          <a:prstGeom prst="rect">
            <a:avLst/>
          </a:prstGeom>
          <a:noFill/>
          <a:ln w="9525">
            <a:noFill/>
            <a:miter lim="800000"/>
            <a:headEnd/>
            <a:tailEnd/>
          </a:ln>
        </p:spPr>
      </p:pic>
    </p:spTree>
    <p:extLst>
      <p:ext uri="{BB962C8B-B14F-4D97-AF65-F5344CB8AC3E}">
        <p14:creationId xmlns:p14="http://schemas.microsoft.com/office/powerpoint/2010/main" val="2907641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8E95-67DC-DE56-6A58-63DA6B6F246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35E0E2-E05A-3454-AFD4-A5DACE3CB744}"/>
              </a:ext>
            </a:extLst>
          </p:cNvPr>
          <p:cNvSpPr>
            <a:spLocks noGrp="1"/>
          </p:cNvSpPr>
          <p:nvPr>
            <p:ph idx="1"/>
          </p:nvPr>
        </p:nvSpPr>
        <p:spPr/>
        <p:txBody>
          <a:bodyPr/>
          <a:lstStyle/>
          <a:p>
            <a:r>
              <a:rPr lang="en-US" b="1" dirty="0"/>
              <a:t>Reliability Measures:</a:t>
            </a:r>
            <a:endParaRPr lang="en-IN" dirty="0"/>
          </a:p>
          <a:p>
            <a:pPr lvl="0"/>
            <a:r>
              <a:rPr lang="en-US" b="1" dirty="0"/>
              <a:t>What is reliability?</a:t>
            </a:r>
            <a:endParaRPr lang="en-IN" dirty="0"/>
          </a:p>
          <a:p>
            <a:pPr lvl="0"/>
            <a:r>
              <a:rPr lang="en-US" dirty="0"/>
              <a:t>It is the probability of running a computer program without any failure in a specified environment for a specified time period.</a:t>
            </a:r>
            <a:endParaRPr lang="en-IN" dirty="0"/>
          </a:p>
          <a:p>
            <a:pPr lvl="0"/>
            <a:r>
              <a:rPr lang="en-US" dirty="0"/>
              <a:t>Failure means nonconformance to software requirements (as per software quality &amp; reliability terms)</a:t>
            </a:r>
            <a:endParaRPr lang="en-IN" dirty="0"/>
          </a:p>
          <a:p>
            <a:pPr lvl="0"/>
            <a:r>
              <a:rPr lang="en-US" dirty="0"/>
              <a:t>A </a:t>
            </a:r>
            <a:r>
              <a:rPr lang="en-US" b="1" i="1" dirty="0"/>
              <a:t>simple measure of reliability</a:t>
            </a:r>
            <a:r>
              <a:rPr lang="en-US" dirty="0"/>
              <a:t> is </a:t>
            </a:r>
            <a:r>
              <a:rPr lang="en-US" i="1" dirty="0"/>
              <a:t>MTBF Mean Time Between Failure,</a:t>
            </a:r>
            <a:r>
              <a:rPr lang="en-US" dirty="0"/>
              <a:t> where</a:t>
            </a:r>
            <a:endParaRPr lang="en-IN" dirty="0"/>
          </a:p>
          <a:p>
            <a:endParaRPr lang="en-IN" dirty="0"/>
          </a:p>
        </p:txBody>
      </p:sp>
    </p:spTree>
    <p:extLst>
      <p:ext uri="{BB962C8B-B14F-4D97-AF65-F5344CB8AC3E}">
        <p14:creationId xmlns:p14="http://schemas.microsoft.com/office/powerpoint/2010/main" val="3494972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3776F-DDD6-8824-4F1D-24C814F0AF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3938E12-D8F8-BDAC-21CC-AE99DC48FF1C}"/>
              </a:ext>
            </a:extLst>
          </p:cNvPr>
          <p:cNvSpPr>
            <a:spLocks noGrp="1"/>
          </p:cNvSpPr>
          <p:nvPr>
            <p:ph idx="1"/>
          </p:nvPr>
        </p:nvSpPr>
        <p:spPr/>
        <p:txBody>
          <a:bodyPr>
            <a:normAutofit fontScale="85000" lnSpcReduction="20000"/>
          </a:bodyPr>
          <a:lstStyle/>
          <a:p>
            <a:r>
              <a:rPr lang="en-US" b="1" dirty="0"/>
              <a:t>MTBF = MTTF + MTTR</a:t>
            </a:r>
            <a:endParaRPr lang="en-IN" dirty="0"/>
          </a:p>
          <a:p>
            <a:pPr lvl="0"/>
            <a:r>
              <a:rPr lang="en-US" i="1" dirty="0"/>
              <a:t>MTTF: Mean Time To Failure, MTTR: Mean Time To Repair</a:t>
            </a:r>
            <a:endParaRPr lang="en-IN" dirty="0"/>
          </a:p>
          <a:p>
            <a:pPr lvl="0"/>
            <a:r>
              <a:rPr lang="en-US" dirty="0"/>
              <a:t>Reliability is the most costly performance characteristic to assess &amp; most difficult to guarantee.</a:t>
            </a:r>
            <a:endParaRPr lang="en-IN" dirty="0"/>
          </a:p>
          <a:p>
            <a:pPr lvl="0"/>
            <a:r>
              <a:rPr lang="en-US" dirty="0"/>
              <a:t>Software reliability is closely related with software availability.</a:t>
            </a:r>
            <a:endParaRPr lang="en-IN" dirty="0"/>
          </a:p>
          <a:p>
            <a:pPr lvl="0"/>
            <a:r>
              <a:rPr lang="en-US" dirty="0"/>
              <a:t>Availability is the percentage that a program is operating according to requirements at a given point of time.</a:t>
            </a:r>
            <a:endParaRPr lang="en-IN" dirty="0"/>
          </a:p>
          <a:p>
            <a:pPr lvl="0"/>
            <a:r>
              <a:rPr lang="en-US" b="1" dirty="0"/>
              <a:t>Software Reliability</a:t>
            </a:r>
            <a:r>
              <a:rPr lang="en-US" dirty="0"/>
              <a:t> is the probability of a failure free operation over a specified time in a given environment for a specific purpose.</a:t>
            </a:r>
            <a:endParaRPr lang="en-IN" dirty="0"/>
          </a:p>
          <a:p>
            <a:pPr lvl="0"/>
            <a:r>
              <a:rPr lang="en-US" b="1" dirty="0"/>
              <a:t>Software Availability</a:t>
            </a:r>
            <a:r>
              <a:rPr lang="en-US" dirty="0"/>
              <a:t> is the probability, that a system, at a point of time will be operational &amp; able to deliver the requested services.</a:t>
            </a:r>
            <a:endParaRPr lang="en-IN" dirty="0"/>
          </a:p>
          <a:p>
            <a:endParaRPr lang="en-IN" dirty="0"/>
          </a:p>
        </p:txBody>
      </p:sp>
    </p:spTree>
    <p:extLst>
      <p:ext uri="{BB962C8B-B14F-4D97-AF65-F5344CB8AC3E}">
        <p14:creationId xmlns:p14="http://schemas.microsoft.com/office/powerpoint/2010/main" val="3537255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1935-D9E8-71DE-769A-6257961A06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410708-FA1A-2D34-A4B1-B49AA9343BB6}"/>
              </a:ext>
            </a:extLst>
          </p:cNvPr>
          <p:cNvSpPr>
            <a:spLocks noGrp="1"/>
          </p:cNvSpPr>
          <p:nvPr>
            <p:ph idx="1"/>
          </p:nvPr>
        </p:nvSpPr>
        <p:spPr/>
        <p:txBody>
          <a:bodyPr/>
          <a:lstStyle/>
          <a:p>
            <a:pPr lvl="0"/>
            <a:r>
              <a:rPr lang="en-US" dirty="0"/>
              <a:t>Reliability can be improved by :</a:t>
            </a:r>
            <a:endParaRPr lang="en-IN" dirty="0"/>
          </a:p>
          <a:p>
            <a:r>
              <a:rPr lang="en-US" dirty="0"/>
              <a:t>1. Fault avoidance</a:t>
            </a:r>
            <a:endParaRPr lang="en-IN" dirty="0"/>
          </a:p>
          <a:p>
            <a:r>
              <a:rPr lang="en-US" dirty="0"/>
              <a:t>2. Fault Detection &amp; Removal</a:t>
            </a:r>
            <a:endParaRPr lang="en-IN" dirty="0"/>
          </a:p>
          <a:p>
            <a:r>
              <a:rPr lang="en-US" dirty="0"/>
              <a:t>3. Fault Tolerance</a:t>
            </a:r>
            <a:endParaRPr lang="en-IN" dirty="0"/>
          </a:p>
          <a:p>
            <a:endParaRPr lang="en-IN" dirty="0"/>
          </a:p>
        </p:txBody>
      </p:sp>
    </p:spTree>
    <p:extLst>
      <p:ext uri="{BB962C8B-B14F-4D97-AF65-F5344CB8AC3E}">
        <p14:creationId xmlns:p14="http://schemas.microsoft.com/office/powerpoint/2010/main" val="3281215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E2DC7-8CDB-83AC-079D-9B94878D587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5F81B49-8B62-4F96-E64F-95A5FE4C2213}"/>
              </a:ext>
            </a:extLst>
          </p:cNvPr>
          <p:cNvPicPr>
            <a:picLocks noGrp="1" noChangeAspect="1"/>
          </p:cNvPicPr>
          <p:nvPr>
            <p:ph idx="1"/>
          </p:nvPr>
        </p:nvPicPr>
        <p:blipFill>
          <a:blip r:embed="rId2"/>
          <a:stretch>
            <a:fillRect/>
          </a:stretch>
        </p:blipFill>
        <p:spPr>
          <a:xfrm>
            <a:off x="1451579" y="2016125"/>
            <a:ext cx="9603275" cy="4037356"/>
          </a:xfrm>
          <a:prstGeom prst="rect">
            <a:avLst/>
          </a:prstGeom>
        </p:spPr>
      </p:pic>
    </p:spTree>
    <p:extLst>
      <p:ext uri="{BB962C8B-B14F-4D97-AF65-F5344CB8AC3E}">
        <p14:creationId xmlns:p14="http://schemas.microsoft.com/office/powerpoint/2010/main" val="862655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EBBE3-6F22-3206-B3E6-D611B46D1C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CE92F2-A6E4-4291-E99D-3A77B816F55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985903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191</TotalTime>
  <Words>1215</Words>
  <Application>Microsoft Office PowerPoint</Application>
  <PresentationFormat>Widescreen</PresentationFormat>
  <Paragraphs>156</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Gill Sans MT</vt:lpstr>
      <vt:lpstr>Gallery</vt:lpstr>
      <vt:lpstr>Software Quality Assurance Fundamentals</vt:lpstr>
      <vt:lpstr>Definition of Quality</vt:lpstr>
      <vt:lpstr>Quality Assurance (QA)</vt:lpstr>
      <vt:lpstr>Quality Control (QC)</vt:lpstr>
      <vt:lpstr>Difference between QA and QC</vt:lpstr>
      <vt:lpstr>Software Quality Assurance (SQA) Challenges</vt:lpstr>
      <vt:lpstr>Software Quality Assurance Challenges</vt:lpstr>
      <vt:lpstr>Software Quality Assurance, SQA Planning &amp;Standards (ISO 9000) </vt:lpstr>
      <vt:lpstr>Objective of Software Quality Assurance (SQA)</vt:lpstr>
      <vt:lpstr>PowerPoint Presentation</vt:lpstr>
      <vt:lpstr>PowerPoint Presentation</vt:lpstr>
      <vt:lpstr>PowerPoint Presentation</vt:lpstr>
      <vt:lpstr>PowerPoint Presentation</vt:lpstr>
      <vt:lpstr>PowerPoint Presentation</vt:lpstr>
      <vt:lpstr>PowerPoint Presentation</vt:lpstr>
      <vt:lpstr>1.5 Software Quality factors:-  </vt:lpstr>
      <vt:lpstr>PowerPoint Presentation</vt:lpstr>
      <vt:lpstr>Software Reliability &amp; Reliability Measurement Factors:-</vt:lpstr>
      <vt:lpstr>PowerPoint Presentation</vt:lpstr>
      <vt:lpstr>PowerPoint Presentation</vt:lpstr>
      <vt:lpstr>PowerPoint Presentation</vt:lpstr>
      <vt:lpstr>PowerPoint Presentation</vt:lpstr>
      <vt:lpstr>PowerPoint Presentation</vt:lpstr>
      <vt:lpstr>Availability (AVAIL)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Student15 Mca</dc:creator>
  <cp:lastModifiedBy>Student15 Mca</cp:lastModifiedBy>
  <cp:revision>16</cp:revision>
  <dcterms:created xsi:type="dcterms:W3CDTF">2025-02-03T10:38:52Z</dcterms:created>
  <dcterms:modified xsi:type="dcterms:W3CDTF">2026-02-02T06:57:17Z</dcterms:modified>
</cp:coreProperties>
</file>