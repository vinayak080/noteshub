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0" r:id="rId7"/>
    <p:sldId id="259" r:id="rId8"/>
    <p:sldId id="263" r:id="rId9"/>
    <p:sldId id="264" r:id="rId10"/>
    <p:sldId id="265" r:id="rId11"/>
    <p:sldId id="266" r:id="rId12"/>
    <p:sldId id="269" r:id="rId13"/>
    <p:sldId id="270" r:id="rId14"/>
    <p:sldId id="271" r:id="rId15"/>
    <p:sldId id="272" r:id="rId16"/>
    <p:sldId id="273" r:id="rId17"/>
    <p:sldId id="274"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303" r:id="rId34"/>
    <p:sldId id="294" r:id="rId35"/>
    <p:sldId id="295" r:id="rId36"/>
    <p:sldId id="296" r:id="rId37"/>
    <p:sldId id="297" r:id="rId38"/>
    <p:sldId id="301" r:id="rId39"/>
    <p:sldId id="300" r:id="rId40"/>
    <p:sldId id="304"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206"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CC57DFD-7EA6-4AE3-8CED-616994D65FFE}"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C05271-46D5-498F-BCCA-1C6C6AA11689}" type="slidenum">
              <a:rPr lang="en-IN" smtClean="0"/>
              <a:t>‹#›</a:t>
            </a:fld>
            <a:endParaRPr lang="en-IN"/>
          </a:p>
        </p:txBody>
      </p:sp>
    </p:spTree>
    <p:extLst>
      <p:ext uri="{BB962C8B-B14F-4D97-AF65-F5344CB8AC3E}">
        <p14:creationId xmlns:p14="http://schemas.microsoft.com/office/powerpoint/2010/main" val="1081849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CC57DFD-7EA6-4AE3-8CED-616994D65FFE}"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C05271-46D5-498F-BCCA-1C6C6AA11689}" type="slidenum">
              <a:rPr lang="en-IN" smtClean="0"/>
              <a:t>‹#›</a:t>
            </a:fld>
            <a:endParaRPr lang="en-IN"/>
          </a:p>
        </p:txBody>
      </p:sp>
    </p:spTree>
    <p:extLst>
      <p:ext uri="{BB962C8B-B14F-4D97-AF65-F5344CB8AC3E}">
        <p14:creationId xmlns:p14="http://schemas.microsoft.com/office/powerpoint/2010/main" val="1157389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C57DFD-7EA6-4AE3-8CED-616994D65FFE}"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C05271-46D5-498F-BCCA-1C6C6AA11689}" type="slidenum">
              <a:rPr lang="en-IN" smtClean="0"/>
              <a:t>‹#›</a:t>
            </a:fld>
            <a:endParaRPr lang="en-IN"/>
          </a:p>
        </p:txBody>
      </p:sp>
    </p:spTree>
    <p:extLst>
      <p:ext uri="{BB962C8B-B14F-4D97-AF65-F5344CB8AC3E}">
        <p14:creationId xmlns:p14="http://schemas.microsoft.com/office/powerpoint/2010/main" val="4145061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CC57DFD-7EA6-4AE3-8CED-616994D65FFE}" type="datetimeFigureOut">
              <a:rPr lang="en-IN" smtClean="0"/>
              <a:t>27-03-2025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C05271-46D5-498F-BCCA-1C6C6AA11689}" type="slidenum">
              <a:rPr lang="en-IN" smtClean="0"/>
              <a:t>‹#›</a:t>
            </a:fld>
            <a:endParaRPr lang="en-IN"/>
          </a:p>
        </p:txBody>
      </p:sp>
    </p:spTree>
    <p:extLst>
      <p:ext uri="{BB962C8B-B14F-4D97-AF65-F5344CB8AC3E}">
        <p14:creationId xmlns:p14="http://schemas.microsoft.com/office/powerpoint/2010/main" val="1569187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CC57DFD-7EA6-4AE3-8CED-616994D65FFE}" type="datetimeFigureOut">
              <a:rPr lang="en-IN" smtClean="0"/>
              <a:t>27-03-2025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C05271-46D5-498F-BCCA-1C6C6AA11689}" type="slidenum">
              <a:rPr lang="en-IN" smtClean="0"/>
              <a:t>‹#›</a:t>
            </a:fld>
            <a:endParaRPr lang="en-IN"/>
          </a:p>
        </p:txBody>
      </p:sp>
    </p:spTree>
    <p:extLst>
      <p:ext uri="{BB962C8B-B14F-4D97-AF65-F5344CB8AC3E}">
        <p14:creationId xmlns:p14="http://schemas.microsoft.com/office/powerpoint/2010/main" val="1049417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CC57DFD-7EA6-4AE3-8CED-616994D65FFE}" type="datetimeFigureOut">
              <a:rPr lang="en-IN" smtClean="0"/>
              <a:t>27-03-2025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C05271-46D5-498F-BCCA-1C6C6AA11689}" type="slidenum">
              <a:rPr lang="en-IN" smtClean="0"/>
              <a:t>‹#›</a:t>
            </a:fld>
            <a:endParaRPr lang="en-IN"/>
          </a:p>
        </p:txBody>
      </p:sp>
    </p:spTree>
    <p:extLst>
      <p:ext uri="{BB962C8B-B14F-4D97-AF65-F5344CB8AC3E}">
        <p14:creationId xmlns:p14="http://schemas.microsoft.com/office/powerpoint/2010/main" val="156068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C57DFD-7EA6-4AE3-8CED-616994D65FFE}" type="datetimeFigureOut">
              <a:rPr lang="en-IN" smtClean="0"/>
              <a:t>27-03-2025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C05271-46D5-498F-BCCA-1C6C6AA11689}" type="slidenum">
              <a:rPr lang="en-IN" smtClean="0"/>
              <a:t>‹#›</a:t>
            </a:fld>
            <a:endParaRPr lang="en-IN"/>
          </a:p>
        </p:txBody>
      </p:sp>
    </p:spTree>
    <p:extLst>
      <p:ext uri="{BB962C8B-B14F-4D97-AF65-F5344CB8AC3E}">
        <p14:creationId xmlns:p14="http://schemas.microsoft.com/office/powerpoint/2010/main" val="2175688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C57DFD-7EA6-4AE3-8CED-616994D65FFE}" type="datetimeFigureOut">
              <a:rPr lang="en-IN" smtClean="0"/>
              <a:t>27-03-2025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C05271-46D5-498F-BCCA-1C6C6AA11689}" type="slidenum">
              <a:rPr lang="en-IN" smtClean="0"/>
              <a:t>‹#›</a:t>
            </a:fld>
            <a:endParaRPr lang="en-IN"/>
          </a:p>
        </p:txBody>
      </p:sp>
    </p:spTree>
    <p:extLst>
      <p:ext uri="{BB962C8B-B14F-4D97-AF65-F5344CB8AC3E}">
        <p14:creationId xmlns:p14="http://schemas.microsoft.com/office/powerpoint/2010/main" val="835578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C57DFD-7EA6-4AE3-8CED-616994D65FFE}" type="datetimeFigureOut">
              <a:rPr lang="en-IN" smtClean="0"/>
              <a:t>27-03-2025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C05271-46D5-498F-BCCA-1C6C6AA11689}" type="slidenum">
              <a:rPr lang="en-IN" smtClean="0"/>
              <a:t>‹#›</a:t>
            </a:fld>
            <a:endParaRPr lang="en-IN"/>
          </a:p>
        </p:txBody>
      </p:sp>
    </p:spTree>
    <p:extLst>
      <p:ext uri="{BB962C8B-B14F-4D97-AF65-F5344CB8AC3E}">
        <p14:creationId xmlns:p14="http://schemas.microsoft.com/office/powerpoint/2010/main" val="2113760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CC57DFD-7EA6-4AE3-8CED-616994D65FFE}"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C05271-46D5-498F-BCCA-1C6C6AA11689}" type="slidenum">
              <a:rPr lang="en-IN" smtClean="0"/>
              <a:t>‹#›</a:t>
            </a:fld>
            <a:endParaRPr lang="en-IN"/>
          </a:p>
        </p:txBody>
      </p:sp>
    </p:spTree>
    <p:extLst>
      <p:ext uri="{BB962C8B-B14F-4D97-AF65-F5344CB8AC3E}">
        <p14:creationId xmlns:p14="http://schemas.microsoft.com/office/powerpoint/2010/main" val="2156757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CC57DFD-7EA6-4AE3-8CED-616994D65FFE}"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C05271-46D5-498F-BCCA-1C6C6AA11689}" type="slidenum">
              <a:rPr lang="en-IN" smtClean="0"/>
              <a:t>‹#›</a:t>
            </a:fld>
            <a:endParaRPr lang="en-IN"/>
          </a:p>
        </p:txBody>
      </p:sp>
    </p:spTree>
    <p:extLst>
      <p:ext uri="{BB962C8B-B14F-4D97-AF65-F5344CB8AC3E}">
        <p14:creationId xmlns:p14="http://schemas.microsoft.com/office/powerpoint/2010/main" val="3696300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C57DFD-7EA6-4AE3-8CED-616994D65FFE}" type="datetimeFigureOut">
              <a:rPr lang="en-IN" smtClean="0"/>
              <a:t>27-03-2025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C05271-46D5-498F-BCCA-1C6C6AA11689}" type="slidenum">
              <a:rPr lang="en-IN" smtClean="0"/>
              <a:t>‹#›</a:t>
            </a:fld>
            <a:endParaRPr lang="en-IN"/>
          </a:p>
        </p:txBody>
      </p:sp>
    </p:spTree>
    <p:extLst>
      <p:ext uri="{BB962C8B-B14F-4D97-AF65-F5344CB8AC3E}">
        <p14:creationId xmlns:p14="http://schemas.microsoft.com/office/powerpoint/2010/main" val="438911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professionalqa.com/activities-of-formal-review"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software-development-life-cycle-sdlc/" TargetMode="External"/><Relationship Id="rId2" Type="http://schemas.openxmlformats.org/officeDocument/2006/relationships/hyperlink" Target="https://www.geeksforgeeks.org/software-engineering-software-produc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en.wikipedia.org/wiki/Control_flow" TargetMode="External"/><Relationship Id="rId2" Type="http://schemas.openxmlformats.org/officeDocument/2006/relationships/hyperlink" Target="https://en.wikipedia.org/wiki/Static_code_analysis" TargetMode="External"/><Relationship Id="rId1" Type="http://schemas.openxmlformats.org/officeDocument/2006/relationships/slideLayout" Target="../slideLayouts/slideLayout2.xml"/><Relationship Id="rId4" Type="http://schemas.openxmlformats.org/officeDocument/2006/relationships/hyperlink" Target="https://en.wikipedia.org/wiki/Control-flow_graph"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techtarget.com/searchapparchitecture/definition/source-code" TargetMode="External"/><Relationship Id="rId2" Type="http://schemas.openxmlformats.org/officeDocument/2006/relationships/hyperlink" Target="https://www.techtarget.com/searchsoftwarequality/definition/white-box"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forbes.com/sites/forbestechcouncil/2022/10/05/testing-for-startups-how-unit-test-is-the-enemy-of-startups-agility-and-how-you-can-fix-it"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800" b="1" dirty="0" smtClean="0"/>
              <a:t>MCA-I </a:t>
            </a:r>
            <a:r>
              <a:rPr lang="en-US" sz="2800" b="1" dirty="0"/>
              <a:t>(Semester- </a:t>
            </a:r>
            <a:r>
              <a:rPr lang="en-US" sz="2800" b="1" dirty="0" smtClean="0"/>
              <a:t>II)</a:t>
            </a:r>
            <a:r>
              <a:rPr lang="en-IN" sz="2800" dirty="0"/>
              <a:t/>
            </a:r>
            <a:br>
              <a:rPr lang="en-IN" sz="2800" dirty="0"/>
            </a:br>
            <a:r>
              <a:rPr lang="en-US" sz="2800" b="1" dirty="0"/>
              <a:t>Subject :- Software Testing &amp; Quality </a:t>
            </a:r>
            <a:r>
              <a:rPr lang="en-US" sz="2800" b="1" dirty="0" smtClean="0"/>
              <a:t>Assurance</a:t>
            </a:r>
            <a:r>
              <a:rPr lang="en-IN" sz="2800" dirty="0" smtClean="0"/>
              <a:t/>
            </a:r>
            <a:br>
              <a:rPr lang="en-IN" sz="2800" dirty="0" smtClean="0"/>
            </a:br>
            <a:r>
              <a:rPr lang="en-IN" sz="2800" dirty="0" smtClean="0"/>
              <a:t>(</a:t>
            </a:r>
            <a:r>
              <a:rPr lang="en-US" sz="2800" b="1" dirty="0" smtClean="0"/>
              <a:t>Subject </a:t>
            </a:r>
            <a:r>
              <a:rPr lang="en-US" sz="2800" b="1" dirty="0"/>
              <a:t>Code:- </a:t>
            </a:r>
            <a:r>
              <a:rPr lang="en-US" sz="2800" b="1" dirty="0" smtClean="0"/>
              <a:t>IT-22)</a:t>
            </a:r>
            <a:r>
              <a:rPr lang="en-IN" sz="2800" dirty="0" smtClean="0"/>
              <a:t/>
            </a:r>
            <a:br>
              <a:rPr lang="en-IN" sz="2800" dirty="0" smtClean="0"/>
            </a:br>
            <a:r>
              <a:rPr lang="en-US" sz="2800" b="1" dirty="0" smtClean="0"/>
              <a:t>      Chapter</a:t>
            </a:r>
            <a:r>
              <a:rPr lang="en-US" sz="2800" b="1" dirty="0"/>
              <a:t>: 3]   </a:t>
            </a:r>
            <a:r>
              <a:rPr lang="en-US" sz="2800" b="1" dirty="0" smtClean="0"/>
              <a:t>Static &amp; Dynamic </a:t>
            </a:r>
            <a:r>
              <a:rPr lang="en-US" sz="2800" b="1" dirty="0"/>
              <a:t>Testing </a:t>
            </a:r>
            <a:r>
              <a:rPr lang="en-IN" sz="2800" dirty="0"/>
              <a:t/>
            </a:r>
            <a:br>
              <a:rPr lang="en-IN" sz="2800" dirty="0"/>
            </a:br>
            <a:endParaRPr lang="en-IN" sz="2800" dirty="0"/>
          </a:p>
        </p:txBody>
      </p:sp>
      <p:sp>
        <p:nvSpPr>
          <p:cNvPr id="3" name="Subtitle 2"/>
          <p:cNvSpPr>
            <a:spLocks noGrp="1"/>
          </p:cNvSpPr>
          <p:nvPr>
            <p:ph type="subTitle" idx="1"/>
          </p:nvPr>
        </p:nvSpPr>
        <p:spPr/>
        <p:txBody>
          <a:bodyPr/>
          <a:lstStyle/>
          <a:p>
            <a:r>
              <a:rPr lang="en-US" dirty="0" smtClean="0"/>
              <a:t>Prof. </a:t>
            </a:r>
            <a:r>
              <a:rPr lang="en-US" dirty="0" err="1" smtClean="0"/>
              <a:t>Anuradha</a:t>
            </a:r>
            <a:r>
              <a:rPr lang="en-US" dirty="0" smtClean="0"/>
              <a:t> </a:t>
            </a:r>
            <a:r>
              <a:rPr lang="en-US" dirty="0" err="1" smtClean="0"/>
              <a:t>Hajare</a:t>
            </a:r>
            <a:endParaRPr lang="en-IN" dirty="0"/>
          </a:p>
        </p:txBody>
      </p:sp>
    </p:spTree>
    <p:extLst>
      <p:ext uri="{BB962C8B-B14F-4D97-AF65-F5344CB8AC3E}">
        <p14:creationId xmlns:p14="http://schemas.microsoft.com/office/powerpoint/2010/main" val="41630293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3.1. Static Techniques – Review </a:t>
            </a:r>
            <a:endParaRPr lang="en-IN" dirty="0"/>
          </a:p>
        </p:txBody>
      </p:sp>
      <p:sp>
        <p:nvSpPr>
          <p:cNvPr id="3" name="Content Placeholder 2"/>
          <p:cNvSpPr>
            <a:spLocks noGrp="1"/>
          </p:cNvSpPr>
          <p:nvPr>
            <p:ph idx="1"/>
          </p:nvPr>
        </p:nvSpPr>
        <p:spPr/>
        <p:txBody>
          <a:bodyPr/>
          <a:lstStyle/>
          <a:p>
            <a:r>
              <a:rPr lang="en-IN" b="1" dirty="0"/>
              <a:t>3.1.1 Review Process (Informal &amp; Formal) </a:t>
            </a:r>
            <a:endParaRPr lang="en-IN" b="1" dirty="0" smtClean="0"/>
          </a:p>
          <a:p>
            <a:r>
              <a:rPr lang="en-US" b="1" dirty="0"/>
              <a:t>Static Testing</a:t>
            </a:r>
            <a:r>
              <a:rPr lang="en-US" dirty="0"/>
              <a:t> is a software testing technique which is used to check defects in software application without executing the code. Static testing is done to avoid errors at an early stage of development as it is easier to identify the errors and solve the errors.</a:t>
            </a:r>
            <a:endParaRPr lang="en-IN" dirty="0"/>
          </a:p>
          <a:p>
            <a:endParaRPr lang="en-IN" dirty="0"/>
          </a:p>
        </p:txBody>
      </p:sp>
    </p:spTree>
    <p:extLst>
      <p:ext uri="{BB962C8B-B14F-4D97-AF65-F5344CB8AC3E}">
        <p14:creationId xmlns:p14="http://schemas.microsoft.com/office/powerpoint/2010/main" val="675570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9672" y="980728"/>
            <a:ext cx="6480719"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1706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A review in a Static Testing is a process or meeting conducted to find the potential defects in the design of any program. Another significance of review is that all the team members get to know about the progress of the project and sometimes the diversity of thoughts may result in excellent suggestions.</a:t>
            </a:r>
            <a:endParaRPr lang="en-IN" dirty="0"/>
          </a:p>
          <a:p>
            <a:pPr algn="just"/>
            <a:endParaRPr lang="en-IN" dirty="0"/>
          </a:p>
        </p:txBody>
      </p:sp>
    </p:spTree>
    <p:extLst>
      <p:ext uri="{BB962C8B-B14F-4D97-AF65-F5344CB8AC3E}">
        <p14:creationId xmlns:p14="http://schemas.microsoft.com/office/powerpoint/2010/main" val="3055059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9672" y="476672"/>
            <a:ext cx="6048672" cy="5649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3940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6290" y="404664"/>
            <a:ext cx="7146110" cy="576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68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b="1" dirty="0"/>
              <a:t>Formal Review:</a:t>
            </a:r>
            <a:endParaRPr lang="en-IN" b="1" dirty="0"/>
          </a:p>
          <a:p>
            <a:r>
              <a:rPr lang="en-IN" dirty="0"/>
              <a:t>A type of peer review, </a:t>
            </a:r>
            <a:r>
              <a:rPr lang="en-IN" b="1" u="sng" dirty="0">
                <a:hlinkClick r:id="rId2"/>
              </a:rPr>
              <a:t>"formal review"</a:t>
            </a:r>
            <a:r>
              <a:rPr lang="en-IN" dirty="0"/>
              <a:t> follows a formal process and has a specific formal agenda. It has a well structured and regulated process, which is usually implemented at the end of each life cycle. During this process, a formal review panel or board considers the necessary steps for the next life cycle.</a:t>
            </a:r>
          </a:p>
          <a:p>
            <a:r>
              <a:rPr lang="en-US" b="1" i="1" dirty="0"/>
              <a:t>Features of Formal Review:</a:t>
            </a:r>
            <a:endParaRPr lang="en-IN" b="1" i="1" dirty="0"/>
          </a:p>
          <a:p>
            <a:pPr lvl="0"/>
            <a:r>
              <a:rPr lang="en-US" dirty="0"/>
              <a:t>This evaluates conformance to specification and various standards.</a:t>
            </a:r>
            <a:endParaRPr lang="en-IN" dirty="0"/>
          </a:p>
          <a:p>
            <a:pPr lvl="0"/>
            <a:r>
              <a:rPr lang="en-US" dirty="0"/>
              <a:t>Conducted by a group of 3 or more individuals.</a:t>
            </a:r>
            <a:endParaRPr lang="en-IN" dirty="0"/>
          </a:p>
          <a:p>
            <a:pPr lvl="0"/>
            <a:r>
              <a:rPr lang="en-US" dirty="0"/>
              <a:t>The review team petitions the management of technical leadership to act on the suggested recommendations.</a:t>
            </a:r>
            <a:endParaRPr lang="en-IN" dirty="0"/>
          </a:p>
          <a:p>
            <a:endParaRPr lang="en-IN" dirty="0"/>
          </a:p>
        </p:txBody>
      </p:sp>
    </p:spTree>
    <p:extLst>
      <p:ext uri="{BB962C8B-B14F-4D97-AF65-F5344CB8AC3E}">
        <p14:creationId xmlns:p14="http://schemas.microsoft.com/office/powerpoint/2010/main" val="4249142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Formal review consists </a:t>
            </a:r>
            <a:r>
              <a:rPr lang="en-US" dirty="0" smtClean="0"/>
              <a:t>steps</a:t>
            </a:r>
            <a:r>
              <a:rPr lang="en-US" dirty="0"/>
              <a:t>, which are:</a:t>
            </a:r>
            <a:endParaRPr lang="en-IN" sz="2400" dirty="0"/>
          </a:p>
          <a:p>
            <a:pPr lvl="1"/>
            <a:r>
              <a:rPr lang="en-US" dirty="0"/>
              <a:t>Planning.</a:t>
            </a:r>
            <a:endParaRPr lang="en-IN" sz="2000" dirty="0"/>
          </a:p>
          <a:p>
            <a:pPr lvl="1"/>
            <a:r>
              <a:rPr lang="en-US" dirty="0"/>
              <a:t>Kick-off.</a:t>
            </a:r>
            <a:endParaRPr lang="en-IN" sz="2000" dirty="0"/>
          </a:p>
          <a:p>
            <a:pPr lvl="1"/>
            <a:r>
              <a:rPr lang="en-US" dirty="0"/>
              <a:t>Preparation.</a:t>
            </a:r>
            <a:endParaRPr lang="en-IN" sz="2000" dirty="0"/>
          </a:p>
          <a:p>
            <a:pPr lvl="1"/>
            <a:r>
              <a:rPr lang="en-US" dirty="0"/>
              <a:t>Review meeting.</a:t>
            </a:r>
            <a:endParaRPr lang="en-IN" sz="2000" dirty="0"/>
          </a:p>
          <a:p>
            <a:pPr lvl="1"/>
            <a:r>
              <a:rPr lang="en-US" dirty="0"/>
              <a:t>Rework.</a:t>
            </a:r>
            <a:endParaRPr lang="en-IN" sz="2000" dirty="0"/>
          </a:p>
          <a:p>
            <a:pPr marL="0" indent="0">
              <a:buNone/>
            </a:pPr>
            <a:r>
              <a:rPr lang="en-US" dirty="0" smtClean="0"/>
              <a:t>     - Follow </a:t>
            </a:r>
            <a:r>
              <a:rPr lang="en-US" dirty="0"/>
              <a:t>up</a:t>
            </a:r>
            <a:endParaRPr lang="en-IN" dirty="0"/>
          </a:p>
        </p:txBody>
      </p:sp>
    </p:spTree>
    <p:extLst>
      <p:ext uri="{BB962C8B-B14F-4D97-AF65-F5344CB8AC3E}">
        <p14:creationId xmlns:p14="http://schemas.microsoft.com/office/powerpoint/2010/main" val="3339838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a:t>Informal Review:</a:t>
            </a:r>
            <a:endParaRPr lang="en-IN" b="1" dirty="0"/>
          </a:p>
          <a:p>
            <a:r>
              <a:rPr lang="en-IN" dirty="0"/>
              <a:t>Unlike Formal Reviews, Informal reviews are applied multiple times during the early stages of software development process. The major difference between the </a:t>
            </a:r>
            <a:r>
              <a:rPr lang="en-IN" b="1" dirty="0"/>
              <a:t>formal and informal reviews</a:t>
            </a:r>
            <a:r>
              <a:rPr lang="en-IN" dirty="0"/>
              <a:t> is that the former follows a formal agenda, whereas the latter is conducted as per the need of the team and follows an informal agenda. Though time saving, this process is not documented and does not require any entry criteria or large group of members.</a:t>
            </a:r>
          </a:p>
          <a:p>
            <a:endParaRPr lang="en-IN" dirty="0"/>
          </a:p>
        </p:txBody>
      </p:sp>
    </p:spTree>
    <p:extLst>
      <p:ext uri="{BB962C8B-B14F-4D97-AF65-F5344CB8AC3E}">
        <p14:creationId xmlns:p14="http://schemas.microsoft.com/office/powerpoint/2010/main" val="2519818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b="1" i="1" dirty="0"/>
              <a:t>Features of Informal Review:</a:t>
            </a:r>
            <a:endParaRPr lang="en-IN" b="1" i="1" dirty="0"/>
          </a:p>
          <a:p>
            <a:pPr lvl="0"/>
            <a:r>
              <a:rPr lang="en-US" dirty="0"/>
              <a:t>Conducted by a group of 2-7 members, which includes the designer an any other interested party.</a:t>
            </a:r>
            <a:endParaRPr lang="en-IN" dirty="0"/>
          </a:p>
          <a:p>
            <a:pPr lvl="0"/>
            <a:r>
              <a:rPr lang="en-US" dirty="0"/>
              <a:t>Here the team identifies errors &amp; issues as well as examine alternatives.</a:t>
            </a:r>
            <a:endParaRPr lang="en-IN" dirty="0"/>
          </a:p>
          <a:p>
            <a:pPr lvl="0"/>
            <a:r>
              <a:rPr lang="en-US" dirty="0"/>
              <a:t>It is a forum for learning.</a:t>
            </a:r>
            <a:endParaRPr lang="en-IN" dirty="0"/>
          </a:p>
          <a:p>
            <a:pPr lvl="0"/>
            <a:r>
              <a:rPr lang="en-US" dirty="0"/>
              <a:t>All the changes are made by the software designer.</a:t>
            </a:r>
            <a:endParaRPr lang="en-IN" dirty="0"/>
          </a:p>
          <a:p>
            <a:pPr lvl="0"/>
            <a:r>
              <a:rPr lang="en-US" dirty="0"/>
              <a:t>These changes are verified by other project controls.</a:t>
            </a:r>
            <a:endParaRPr lang="en-IN" dirty="0"/>
          </a:p>
          <a:p>
            <a:r>
              <a:rPr lang="en-US" dirty="0"/>
              <a:t>The role of informal review is to keep the author informed and to improve the quality of the product</a:t>
            </a:r>
            <a:endParaRPr lang="en-IN" dirty="0"/>
          </a:p>
        </p:txBody>
      </p:sp>
    </p:spTree>
    <p:extLst>
      <p:ext uri="{BB962C8B-B14F-4D97-AF65-F5344CB8AC3E}">
        <p14:creationId xmlns:p14="http://schemas.microsoft.com/office/powerpoint/2010/main" val="1118487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    </a:t>
            </a:r>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89699537"/>
              </p:ext>
            </p:extLst>
          </p:nvPr>
        </p:nvGraphicFramePr>
        <p:xfrm>
          <a:off x="457200" y="980728"/>
          <a:ext cx="8229600" cy="4536504"/>
        </p:xfrm>
        <a:graphic>
          <a:graphicData uri="http://schemas.openxmlformats.org/drawingml/2006/table">
            <a:tbl>
              <a:tblPr firstRow="1" firstCol="1" bandRow="1">
                <a:tableStyleId>{5C22544A-7EE6-4342-B048-85BDC9FD1C3A}</a:tableStyleId>
              </a:tblPr>
              <a:tblGrid>
                <a:gridCol w="4114800"/>
                <a:gridCol w="4114800"/>
              </a:tblGrid>
              <a:tr h="920851">
                <a:tc>
                  <a:txBody>
                    <a:bodyPr/>
                    <a:lstStyle/>
                    <a:p>
                      <a:pPr>
                        <a:lnSpc>
                          <a:spcPct val="115000"/>
                        </a:lnSpc>
                        <a:spcAft>
                          <a:spcPts val="0"/>
                        </a:spcAft>
                      </a:pPr>
                      <a:r>
                        <a:rPr lang="en-IN" sz="1250" spc="10">
                          <a:effectLst/>
                        </a:rPr>
                        <a:t>Informal reviews</a:t>
                      </a:r>
                      <a:endParaRPr lang="en-IN" sz="110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1250" spc="10">
                          <a:effectLst/>
                        </a:rPr>
                        <a:t>Formal reviews</a:t>
                      </a:r>
                      <a:endParaRPr lang="en-IN" sz="1100">
                        <a:effectLst/>
                        <a:latin typeface="Calibri"/>
                        <a:ea typeface="Calibri"/>
                        <a:cs typeface="Times New Roman"/>
                      </a:endParaRPr>
                    </a:p>
                  </a:txBody>
                  <a:tcPr marL="95250" marR="95250" marT="133350" marB="133350" anchor="b"/>
                </a:tc>
              </a:tr>
              <a:tr h="1347401">
                <a:tc>
                  <a:txBody>
                    <a:bodyPr/>
                    <a:lstStyle/>
                    <a:p>
                      <a:pPr>
                        <a:lnSpc>
                          <a:spcPct val="115000"/>
                        </a:lnSpc>
                        <a:spcAft>
                          <a:spcPts val="0"/>
                        </a:spcAft>
                      </a:pPr>
                      <a:r>
                        <a:rPr lang="en-IN" sz="1250" spc="10">
                          <a:effectLst/>
                        </a:rPr>
                        <a:t>It is a type of review that typically occurs spontaneously among teams.</a:t>
                      </a:r>
                      <a:endParaRPr lang="en-IN" sz="110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1250" spc="10">
                          <a:effectLst/>
                        </a:rPr>
                        <a:t>It is a type of review that is done by a team of software testers or the reviewer’s team.</a:t>
                      </a:r>
                      <a:endParaRPr lang="en-IN" sz="1100">
                        <a:effectLst/>
                        <a:latin typeface="Calibri"/>
                        <a:ea typeface="Calibri"/>
                        <a:cs typeface="Times New Roman"/>
                      </a:endParaRPr>
                    </a:p>
                  </a:txBody>
                  <a:tcPr marL="95250" marR="95250" marT="133350" marB="133350" anchor="b"/>
                </a:tc>
              </a:tr>
              <a:tr h="1347401">
                <a:tc>
                  <a:txBody>
                    <a:bodyPr/>
                    <a:lstStyle/>
                    <a:p>
                      <a:pPr>
                        <a:lnSpc>
                          <a:spcPct val="115000"/>
                        </a:lnSpc>
                        <a:spcAft>
                          <a:spcPts val="0"/>
                        </a:spcAft>
                      </a:pPr>
                      <a:r>
                        <a:rPr lang="en-IN" sz="1250" spc="10">
                          <a:effectLst/>
                        </a:rPr>
                        <a:t>It is generally done by Software developers or engineers.</a:t>
                      </a:r>
                      <a:endParaRPr lang="en-IN" sz="110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1250" spc="10">
                          <a:effectLst/>
                        </a:rPr>
                        <a:t>It is done by the Reviewers and they are responsible for this all review.</a:t>
                      </a:r>
                      <a:endParaRPr lang="en-IN" sz="1100">
                        <a:effectLst/>
                        <a:latin typeface="Calibri"/>
                        <a:ea typeface="Calibri"/>
                        <a:cs typeface="Times New Roman"/>
                      </a:endParaRPr>
                    </a:p>
                  </a:txBody>
                  <a:tcPr marL="95250" marR="95250" marT="133350" marB="133350" anchor="b"/>
                </a:tc>
              </a:tr>
              <a:tr h="920851">
                <a:tc>
                  <a:txBody>
                    <a:bodyPr/>
                    <a:lstStyle/>
                    <a:p>
                      <a:pPr>
                        <a:lnSpc>
                          <a:spcPct val="115000"/>
                        </a:lnSpc>
                        <a:spcAft>
                          <a:spcPts val="0"/>
                        </a:spcAft>
                      </a:pPr>
                      <a:r>
                        <a:rPr lang="en-IN" sz="1250" spc="10">
                          <a:effectLst/>
                        </a:rPr>
                        <a:t>Here, no report is created as it is informal.</a:t>
                      </a:r>
                      <a:endParaRPr lang="en-IN" sz="110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1250" spc="10" dirty="0">
                          <a:effectLst/>
                        </a:rPr>
                        <a:t>Here, a report is created as it is formal.</a:t>
                      </a:r>
                      <a:endParaRPr lang="en-IN" sz="1100" dirty="0">
                        <a:effectLst/>
                        <a:latin typeface="Calibri"/>
                        <a:ea typeface="Calibri"/>
                        <a:cs typeface="Times New Roman"/>
                      </a:endParaRPr>
                    </a:p>
                  </a:txBody>
                  <a:tcPr marL="95250" marR="95250" marT="133350" marB="133350" anchor="b"/>
                </a:tc>
              </a:tr>
            </a:tbl>
          </a:graphicData>
        </a:graphic>
      </p:graphicFrame>
    </p:spTree>
    <p:extLst>
      <p:ext uri="{BB962C8B-B14F-4D97-AF65-F5344CB8AC3E}">
        <p14:creationId xmlns:p14="http://schemas.microsoft.com/office/powerpoint/2010/main" val="3136596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433467"/>
          </a:xfrm>
        </p:spPr>
        <p:txBody>
          <a:bodyPr>
            <a:normAutofit fontScale="92500" lnSpcReduction="20000"/>
          </a:bodyPr>
          <a:lstStyle/>
          <a:p>
            <a:r>
              <a:rPr lang="en-IN" b="1" dirty="0"/>
              <a:t>What is Technical review</a:t>
            </a:r>
            <a:r>
              <a:rPr lang="en-IN" dirty="0"/>
              <a:t>?</a:t>
            </a:r>
          </a:p>
          <a:p>
            <a:r>
              <a:rPr lang="en-IN" dirty="0"/>
              <a:t>A Technical review is a static white-box testing technique which is conducted to spot the defects early in the life cycle that cannot be detected by black box testing techniques.</a:t>
            </a:r>
          </a:p>
          <a:p>
            <a:r>
              <a:rPr lang="en-US" dirty="0"/>
              <a:t>A software technical review is examined by a team of qualified software engineers for the suitability of the software product. This process can also be defined as a critical evaluation of an object in the software. Through the software technical review process, we can identify the errors or defects in the software product in the early phase itself.</a:t>
            </a:r>
            <a:endParaRPr lang="en-IN" dirty="0"/>
          </a:p>
          <a:p>
            <a:endParaRPr lang="en-IN" dirty="0"/>
          </a:p>
        </p:txBody>
      </p:sp>
    </p:spTree>
    <p:extLst>
      <p:ext uri="{BB962C8B-B14F-4D97-AF65-F5344CB8AC3E}">
        <p14:creationId xmlns:p14="http://schemas.microsoft.com/office/powerpoint/2010/main" val="1798780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36"/>
            <a:ext cx="8229600" cy="5073427"/>
          </a:xfrm>
        </p:spPr>
        <p:txBody>
          <a:bodyPr>
            <a:normAutofit fontScale="92500"/>
          </a:bodyPr>
          <a:lstStyle/>
          <a:p>
            <a:r>
              <a:rPr lang="en-IN" b="1" dirty="0"/>
              <a:t>What is Peer Review?</a:t>
            </a:r>
          </a:p>
          <a:p>
            <a:r>
              <a:rPr lang="en-IN" dirty="0"/>
              <a:t>A peer review, a review technique, which is a static white-box testing which are conducted to spot the defects early in the life cycle that cannot be detected by black box testing techniques.</a:t>
            </a:r>
          </a:p>
          <a:p>
            <a:r>
              <a:rPr lang="en-US" dirty="0"/>
              <a:t>Peer review is the process of assessing the technical content and quality of the product and it is usually conducted by the author of the work product along with some other developers</a:t>
            </a:r>
            <a:endParaRPr lang="en-IN" dirty="0"/>
          </a:p>
        </p:txBody>
      </p:sp>
    </p:spTree>
    <p:extLst>
      <p:ext uri="{BB962C8B-B14F-4D97-AF65-F5344CB8AC3E}">
        <p14:creationId xmlns:p14="http://schemas.microsoft.com/office/powerpoint/2010/main" val="732578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3.1.4 Walkthrough </a:t>
            </a:r>
            <a:endParaRPr lang="en-IN" dirty="0"/>
          </a:p>
        </p:txBody>
      </p:sp>
      <p:sp>
        <p:nvSpPr>
          <p:cNvPr id="3" name="Content Placeholder 2"/>
          <p:cNvSpPr>
            <a:spLocks noGrp="1"/>
          </p:cNvSpPr>
          <p:nvPr>
            <p:ph idx="1"/>
          </p:nvPr>
        </p:nvSpPr>
        <p:spPr/>
        <p:txBody>
          <a:bodyPr>
            <a:normAutofit fontScale="77500" lnSpcReduction="20000"/>
          </a:bodyPr>
          <a:lstStyle/>
          <a:p>
            <a:pPr fontAlgn="base"/>
            <a:r>
              <a:rPr lang="en-IN" dirty="0"/>
              <a:t>Walkthrough is a method of conducting informal group/individual review. In a walkthrough, author describes and explain work product in a informal meeting to his peers or supervisor to get feedback. Here, validity of the proposed solution for work product is checked.</a:t>
            </a:r>
          </a:p>
          <a:p>
            <a:pPr fontAlgn="base"/>
            <a:r>
              <a:rPr lang="en-IN" dirty="0"/>
              <a:t>It is cheaper to make changes when design is on the paper rather than at time of conversion. Walkthrough is a static method of quality assurance. Walkthrough are informal meetings but with purpose.</a:t>
            </a:r>
          </a:p>
          <a:p>
            <a:pPr fontAlgn="base"/>
            <a:r>
              <a:rPr lang="en-IN" dirty="0"/>
              <a:t>in which a designer or programmer leads members of the development team and other interested parties through a software product, and the participants ask questions and make comments about possible errors, violation of development standards, and other problems.</a:t>
            </a:r>
          </a:p>
          <a:p>
            <a:endParaRPr lang="en-IN" dirty="0"/>
          </a:p>
        </p:txBody>
      </p:sp>
    </p:spTree>
    <p:extLst>
      <p:ext uri="{BB962C8B-B14F-4D97-AF65-F5344CB8AC3E}">
        <p14:creationId xmlns:p14="http://schemas.microsoft.com/office/powerpoint/2010/main" val="2649773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001419"/>
          </a:xfrm>
        </p:spPr>
        <p:txBody>
          <a:bodyPr>
            <a:normAutofit fontScale="77500" lnSpcReduction="20000"/>
          </a:bodyPr>
          <a:lstStyle/>
          <a:p>
            <a:pPr marL="0" indent="0">
              <a:buNone/>
            </a:pPr>
            <a:r>
              <a:rPr lang="en-IN" b="1" dirty="0"/>
              <a:t>Walkthrough Participants:</a:t>
            </a:r>
          </a:p>
          <a:p>
            <a:pPr lvl="0"/>
            <a:r>
              <a:rPr lang="en-IN" b="1" dirty="0"/>
              <a:t>Author </a:t>
            </a:r>
            <a:r>
              <a:rPr lang="en-IN" dirty="0"/>
              <a:t>- The Author of the document under review.</a:t>
            </a:r>
          </a:p>
          <a:p>
            <a:pPr lvl="0"/>
            <a:r>
              <a:rPr lang="en-IN" b="1" dirty="0"/>
              <a:t>Presenter</a:t>
            </a:r>
            <a:r>
              <a:rPr lang="en-IN" dirty="0"/>
              <a:t> - The presenter usually develops the agenda for the walkthrough and presents the output being reviewed.</a:t>
            </a:r>
          </a:p>
          <a:p>
            <a:pPr lvl="0"/>
            <a:r>
              <a:rPr lang="en-IN" b="1" dirty="0"/>
              <a:t>Moderator</a:t>
            </a:r>
            <a:r>
              <a:rPr lang="en-IN" dirty="0"/>
              <a:t> - The moderator facilitates the walkthrough session, ensures the walkthrough agenda is followed, and encourages all the reviewers to participate.</a:t>
            </a:r>
          </a:p>
          <a:p>
            <a:pPr lvl="0"/>
            <a:r>
              <a:rPr lang="en-IN" b="1" dirty="0"/>
              <a:t>Reviewers</a:t>
            </a:r>
            <a:r>
              <a:rPr lang="en-IN" dirty="0"/>
              <a:t> - The reviewers evaluate the document under test to determine if it is technically accurate.</a:t>
            </a:r>
          </a:p>
          <a:p>
            <a:r>
              <a:rPr lang="en-US" b="1" dirty="0"/>
              <a:t>Scribe</a:t>
            </a:r>
            <a:r>
              <a:rPr lang="en-US" dirty="0"/>
              <a:t> - The scribe is the recorder of the structured walkthrough outcomes who records the issues identified and any other technical comments, suggestions, and unresolved questions</a:t>
            </a:r>
            <a:endParaRPr lang="en-IN" dirty="0"/>
          </a:p>
        </p:txBody>
      </p:sp>
    </p:spTree>
    <p:extLst>
      <p:ext uri="{BB962C8B-B14F-4D97-AF65-F5344CB8AC3E}">
        <p14:creationId xmlns:p14="http://schemas.microsoft.com/office/powerpoint/2010/main" val="2556180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3.1.5 Inspection </a:t>
            </a:r>
            <a:endParaRPr lang="en-IN" dirty="0"/>
          </a:p>
        </p:txBody>
      </p:sp>
      <p:sp>
        <p:nvSpPr>
          <p:cNvPr id="3" name="Content Placeholder 2"/>
          <p:cNvSpPr>
            <a:spLocks noGrp="1"/>
          </p:cNvSpPr>
          <p:nvPr>
            <p:ph idx="1"/>
          </p:nvPr>
        </p:nvSpPr>
        <p:spPr/>
        <p:txBody>
          <a:bodyPr>
            <a:normAutofit fontScale="92500" lnSpcReduction="20000"/>
          </a:bodyPr>
          <a:lstStyle/>
          <a:p>
            <a:pPr algn="just" fontAlgn="base"/>
            <a:r>
              <a:rPr lang="en-IN" dirty="0"/>
              <a:t>An inspection is defined as formal, rigorous, in depth group review designed to identify problems as close to their point of origin as possible. Inspections improve reliability, availability, and maintainability of </a:t>
            </a:r>
            <a:r>
              <a:rPr lang="en-IN" dirty="0">
                <a:hlinkClick r:id="rId2"/>
              </a:rPr>
              <a:t>software product</a:t>
            </a:r>
            <a:r>
              <a:rPr lang="en-IN" dirty="0"/>
              <a:t>.</a:t>
            </a:r>
          </a:p>
          <a:p>
            <a:pPr algn="just" fontAlgn="base"/>
            <a:r>
              <a:rPr lang="en-IN" dirty="0"/>
              <a:t>Anything readable that is produced during the </a:t>
            </a:r>
            <a:r>
              <a:rPr lang="en-IN" dirty="0">
                <a:hlinkClick r:id="rId3"/>
              </a:rPr>
              <a:t>software development</a:t>
            </a:r>
            <a:r>
              <a:rPr lang="en-IN" dirty="0"/>
              <a:t> can be inspected. Inspections can be combined with structured, systematic testing to provide a powerful tool for creating defect-free programs.</a:t>
            </a:r>
          </a:p>
          <a:p>
            <a:endParaRPr lang="en-IN" dirty="0"/>
          </a:p>
        </p:txBody>
      </p:sp>
    </p:spTree>
    <p:extLst>
      <p:ext uri="{BB962C8B-B14F-4D97-AF65-F5344CB8AC3E}">
        <p14:creationId xmlns:p14="http://schemas.microsoft.com/office/powerpoint/2010/main" val="2657452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0" indent="0" fontAlgn="base">
              <a:buNone/>
            </a:pPr>
            <a:r>
              <a:rPr lang="en-IN" b="1" dirty="0"/>
              <a:t>Stages in the inspections process :</a:t>
            </a:r>
            <a:endParaRPr lang="en-IN" dirty="0"/>
          </a:p>
          <a:p>
            <a:pPr lvl="0" fontAlgn="base"/>
            <a:r>
              <a:rPr lang="en-IN" b="1" dirty="0"/>
              <a:t>Planning :</a:t>
            </a:r>
            <a:r>
              <a:rPr lang="en-IN" dirty="0"/>
              <a:t> Inspection is planned by moderator.</a:t>
            </a:r>
          </a:p>
          <a:p>
            <a:pPr lvl="0" fontAlgn="base"/>
            <a:r>
              <a:rPr lang="en-IN" b="1" dirty="0"/>
              <a:t>Overview meeting :</a:t>
            </a:r>
            <a:r>
              <a:rPr lang="en-IN" dirty="0"/>
              <a:t> Author describes background of work product.</a:t>
            </a:r>
          </a:p>
          <a:p>
            <a:pPr lvl="0" fontAlgn="base"/>
            <a:r>
              <a:rPr lang="en-IN" b="1" dirty="0"/>
              <a:t>Preparation :</a:t>
            </a:r>
            <a:r>
              <a:rPr lang="en-IN" dirty="0"/>
              <a:t> Each inspector examines work product to identify possible defects.</a:t>
            </a:r>
          </a:p>
          <a:p>
            <a:pPr lvl="0" fontAlgn="base"/>
            <a:r>
              <a:rPr lang="en-IN" b="1" dirty="0"/>
              <a:t>Inspection meeting :</a:t>
            </a:r>
            <a:r>
              <a:rPr lang="en-IN" dirty="0"/>
              <a:t> During this meeting, reader reads through work product, part by part and inspectors points out the defects for every part.</a:t>
            </a:r>
          </a:p>
          <a:p>
            <a:pPr lvl="0" fontAlgn="base"/>
            <a:r>
              <a:rPr lang="en-IN" b="1" dirty="0"/>
              <a:t>Rework :</a:t>
            </a:r>
            <a:r>
              <a:rPr lang="en-IN" dirty="0"/>
              <a:t> Author makes changes to work product according to action plans from the inspection meeting.</a:t>
            </a:r>
          </a:p>
          <a:p>
            <a:pPr lvl="0" fontAlgn="base"/>
            <a:r>
              <a:rPr lang="en-IN" b="1" dirty="0"/>
              <a:t>Follow-up :</a:t>
            </a:r>
            <a:r>
              <a:rPr lang="en-IN" dirty="0"/>
              <a:t> Changes made by author are checked to make sure that everything is correct.</a:t>
            </a:r>
          </a:p>
          <a:p>
            <a:endParaRPr lang="en-IN" dirty="0"/>
          </a:p>
        </p:txBody>
      </p:sp>
    </p:spTree>
    <p:extLst>
      <p:ext uri="{BB962C8B-B14F-4D97-AF65-F5344CB8AC3E}">
        <p14:creationId xmlns:p14="http://schemas.microsoft.com/office/powerpoint/2010/main" val="197404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3.2.2 Control-Flow Analysis (CFA) </a:t>
            </a:r>
            <a:endParaRPr lang="en-IN" dirty="0"/>
          </a:p>
        </p:txBody>
      </p:sp>
      <p:sp>
        <p:nvSpPr>
          <p:cNvPr id="3" name="Content Placeholder 2"/>
          <p:cNvSpPr>
            <a:spLocks noGrp="1"/>
          </p:cNvSpPr>
          <p:nvPr>
            <p:ph idx="1"/>
          </p:nvPr>
        </p:nvSpPr>
        <p:spPr/>
        <p:txBody>
          <a:bodyPr>
            <a:normAutofit fontScale="85000" lnSpcReduction="20000"/>
          </a:bodyPr>
          <a:lstStyle/>
          <a:p>
            <a:pPr algn="just" fontAlgn="base"/>
            <a:r>
              <a:rPr lang="en-US" dirty="0"/>
              <a:t>It is a </a:t>
            </a:r>
            <a:r>
              <a:rPr lang="en-US" u="sng" dirty="0">
                <a:hlinkClick r:id="rId2" tooltip="Static code analysis"/>
              </a:rPr>
              <a:t>static-code-analysis</a:t>
            </a:r>
            <a:r>
              <a:rPr lang="en-US" dirty="0"/>
              <a:t> technique for determining the </a:t>
            </a:r>
            <a:r>
              <a:rPr lang="en-US" u="sng" dirty="0">
                <a:hlinkClick r:id="rId3" tooltip="Control flow"/>
              </a:rPr>
              <a:t>control flow</a:t>
            </a:r>
            <a:r>
              <a:rPr lang="en-US" dirty="0"/>
              <a:t> of a program. The control flow is expressed as a </a:t>
            </a:r>
            <a:r>
              <a:rPr lang="en-US" u="sng" dirty="0">
                <a:hlinkClick r:id="rId4" tooltip="Control-flow graph"/>
              </a:rPr>
              <a:t>control-flow graph</a:t>
            </a:r>
            <a:r>
              <a:rPr lang="en-US" dirty="0"/>
              <a:t> (CFG).</a:t>
            </a:r>
            <a:endParaRPr lang="en-IN" dirty="0"/>
          </a:p>
          <a:p>
            <a:pPr algn="just"/>
            <a:r>
              <a:rPr lang="en-IN" dirty="0"/>
              <a:t>Control flow testing is a testing technique that comes under white box testing. The aim of this technique is to determine the execution order of statements or instructions of the program through a control structure. The control structure of a program is used to develop a test case for the program. In this technique, a particular part of a large program is selected by the tester to set the testing path. It is mostly used in unit testing. Test cases represented by the control graph of the program.</a:t>
            </a:r>
          </a:p>
          <a:p>
            <a:pPr algn="just"/>
            <a:endParaRPr lang="en-IN" dirty="0"/>
          </a:p>
        </p:txBody>
      </p:sp>
    </p:spTree>
    <p:extLst>
      <p:ext uri="{BB962C8B-B14F-4D97-AF65-F5344CB8AC3E}">
        <p14:creationId xmlns:p14="http://schemas.microsoft.com/office/powerpoint/2010/main" val="1092213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Notations used for Control Flow Graph</a:t>
            </a:r>
            <a:endParaRPr lang="en-IN" dirty="0"/>
          </a:p>
          <a:p>
            <a:pPr lvl="0"/>
            <a:r>
              <a:rPr lang="en-US" dirty="0"/>
              <a:t>Node</a:t>
            </a:r>
            <a:endParaRPr lang="en-IN" dirty="0"/>
          </a:p>
          <a:p>
            <a:pPr lvl="0"/>
            <a:r>
              <a:rPr lang="en-US" dirty="0"/>
              <a:t>Edge</a:t>
            </a:r>
            <a:endParaRPr lang="en-IN" dirty="0"/>
          </a:p>
          <a:p>
            <a:pPr lvl="0"/>
            <a:r>
              <a:rPr lang="en-US" dirty="0"/>
              <a:t>Decision Node</a:t>
            </a:r>
            <a:endParaRPr lang="en-IN" dirty="0"/>
          </a:p>
          <a:p>
            <a:pPr lvl="0"/>
            <a:r>
              <a:rPr lang="en-US" dirty="0"/>
              <a:t>Junction node</a:t>
            </a:r>
            <a:endParaRPr lang="en-IN" dirty="0"/>
          </a:p>
          <a:p>
            <a:endParaRPr lang="en-IN" dirty="0"/>
          </a:p>
        </p:txBody>
      </p:sp>
    </p:spTree>
    <p:extLst>
      <p:ext uri="{BB962C8B-B14F-4D97-AF65-F5344CB8AC3E}">
        <p14:creationId xmlns:p14="http://schemas.microsoft.com/office/powerpoint/2010/main" val="2171339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31640" y="1052737"/>
            <a:ext cx="6048671" cy="4340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6808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IN" b="1" i="1" dirty="0"/>
              <a:t>Control Flow Graph is a graphical representation of control flow or computation that is done during the execution of the program</a:t>
            </a:r>
            <a:r>
              <a:rPr lang="en-IN" b="1" i="1" dirty="0" smtClean="0"/>
              <a:t>.</a:t>
            </a:r>
          </a:p>
          <a:p>
            <a:pPr algn="just"/>
            <a:r>
              <a:rPr lang="en-IN" dirty="0" smtClean="0"/>
              <a:t> </a:t>
            </a:r>
            <a:r>
              <a:rPr lang="en-IN" dirty="0"/>
              <a:t>Control flow graphs are mostly used in static analysis as well as compiler applications, as they can accurately represent the flow inside of a program unit. </a:t>
            </a:r>
          </a:p>
        </p:txBody>
      </p:sp>
    </p:spTree>
    <p:extLst>
      <p:ext uri="{BB962C8B-B14F-4D97-AF65-F5344CB8AC3E}">
        <p14:creationId xmlns:p14="http://schemas.microsoft.com/office/powerpoint/2010/main" val="2568602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95736" y="836712"/>
            <a:ext cx="5256584" cy="518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4995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332656"/>
            <a:ext cx="7992887" cy="5249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2283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t>
            </a:r>
            <a:r>
              <a:rPr lang="en-IN" b="1" dirty="0"/>
              <a:t>Static Analysis by Tools (Automated Static Analysis) </a:t>
            </a:r>
            <a:endParaRPr lang="en-IN" dirty="0"/>
          </a:p>
        </p:txBody>
      </p:sp>
      <p:sp>
        <p:nvSpPr>
          <p:cNvPr id="3" name="Content Placeholder 2"/>
          <p:cNvSpPr>
            <a:spLocks noGrp="1"/>
          </p:cNvSpPr>
          <p:nvPr>
            <p:ph idx="1"/>
          </p:nvPr>
        </p:nvSpPr>
        <p:spPr/>
        <p:txBody>
          <a:bodyPr>
            <a:normAutofit lnSpcReduction="10000"/>
          </a:bodyPr>
          <a:lstStyle/>
          <a:p>
            <a:r>
              <a:rPr lang="en-IN" dirty="0"/>
              <a:t>Static analysis tools refer to a wide array of tools that examine source code, executable, or even documentation, to find problems before they happen; without actually running the code. These tools vary greatly in scope and purpose, ranging from compiler-level checks for logical errors, to code styling enforcement, to cloud-based suites of tools that cover everything from documentation formatting to code complexity analysis.</a:t>
            </a:r>
          </a:p>
          <a:p>
            <a:endParaRPr lang="en-IN" dirty="0"/>
          </a:p>
        </p:txBody>
      </p:sp>
    </p:spTree>
    <p:extLst>
      <p:ext uri="{BB962C8B-B14F-4D97-AF65-F5344CB8AC3E}">
        <p14:creationId xmlns:p14="http://schemas.microsoft.com/office/powerpoint/2010/main" val="1622565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Static code Analysis Tools</a:t>
            </a:r>
            <a:endParaRPr lang="en-IN" dirty="0"/>
          </a:p>
        </p:txBody>
      </p:sp>
      <p:sp>
        <p:nvSpPr>
          <p:cNvPr id="3" name="Content Placeholder 2"/>
          <p:cNvSpPr>
            <a:spLocks noGrp="1"/>
          </p:cNvSpPr>
          <p:nvPr>
            <p:ph idx="1"/>
          </p:nvPr>
        </p:nvSpPr>
        <p:spPr/>
        <p:txBody>
          <a:bodyPr>
            <a:normAutofit fontScale="32500" lnSpcReduction="20000"/>
          </a:bodyPr>
          <a:lstStyle/>
          <a:p>
            <a:pPr fontAlgn="base"/>
            <a:endParaRPr lang="en-IN" sz="2400" dirty="0"/>
          </a:p>
          <a:p>
            <a:pPr lvl="1" fontAlgn="base"/>
            <a:r>
              <a:rPr lang="en-IN" sz="4500" b="1" dirty="0" err="1"/>
              <a:t>AdaControl</a:t>
            </a:r>
            <a:r>
              <a:rPr lang="en-IN" sz="4500" b="1" dirty="0"/>
              <a:t> :- </a:t>
            </a:r>
            <a:endParaRPr lang="en-IN" sz="4500" dirty="0"/>
          </a:p>
          <a:p>
            <a:pPr fontAlgn="base"/>
            <a:r>
              <a:rPr lang="en-IN" sz="4500" dirty="0"/>
              <a:t>A tool to control occurrences of various entities or programming patterns in Ada code, used for checking coding standards, enforcement of safety related rules, and support for various manual inspections. Features automatic fixing of violations.</a:t>
            </a:r>
          </a:p>
          <a:p>
            <a:pPr lvl="1" fontAlgn="base"/>
            <a:r>
              <a:rPr lang="en-IN" sz="4500" b="1" dirty="0"/>
              <a:t>Apache </a:t>
            </a:r>
            <a:r>
              <a:rPr lang="en-IN" sz="4500" b="1" dirty="0" err="1"/>
              <a:t>Yetus</a:t>
            </a:r>
            <a:r>
              <a:rPr lang="en-IN" sz="4500" b="1" dirty="0"/>
              <a:t> :- </a:t>
            </a:r>
            <a:endParaRPr lang="en-IN" sz="4500" dirty="0"/>
          </a:p>
          <a:p>
            <a:pPr fontAlgn="base"/>
            <a:r>
              <a:rPr lang="en-IN" sz="4500" dirty="0"/>
              <a:t>A collection of build and release tools. Included is the '</a:t>
            </a:r>
            <a:r>
              <a:rPr lang="en-IN" sz="4500" dirty="0" err="1"/>
              <a:t>precommit</a:t>
            </a:r>
            <a:r>
              <a:rPr lang="en-IN" sz="4500" dirty="0"/>
              <a:t>' module that is used to execute full and partial/patch CI builds that provides static analysis of code via other tools as part of a configurable report. Built-in support may be extended with plug-</a:t>
            </a:r>
            <a:r>
              <a:rPr lang="en-IN" sz="4500" dirty="0" err="1"/>
              <a:t>ins.It</a:t>
            </a:r>
            <a:r>
              <a:rPr lang="en-IN" sz="4500" dirty="0"/>
              <a:t> is supported by Java &amp; Python</a:t>
            </a:r>
          </a:p>
          <a:p>
            <a:pPr lvl="1" fontAlgn="base"/>
            <a:r>
              <a:rPr lang="en-IN" sz="4500" b="1" dirty="0" err="1"/>
              <a:t>Astree</a:t>
            </a:r>
            <a:r>
              <a:rPr lang="en-IN" sz="4500" b="1" dirty="0"/>
              <a:t> :- </a:t>
            </a:r>
            <a:endParaRPr lang="en-IN" sz="4500" dirty="0"/>
          </a:p>
          <a:p>
            <a:pPr fontAlgn="base"/>
            <a:r>
              <a:rPr lang="en-IN" sz="4500" dirty="0"/>
              <a:t>Finds all potential runtime errors and data races by abstract interpretation, can prove their absence, and can prove functional assertions; tailored towards safety-critical C code </a:t>
            </a:r>
          </a:p>
          <a:p>
            <a:pPr lvl="1" fontAlgn="base"/>
            <a:r>
              <a:rPr lang="en-IN" sz="4500" b="1" dirty="0"/>
              <a:t>Code Peer </a:t>
            </a:r>
            <a:endParaRPr lang="en-IN" sz="4500" dirty="0"/>
          </a:p>
          <a:p>
            <a:pPr fontAlgn="base"/>
            <a:r>
              <a:rPr lang="en-IN" sz="4500" dirty="0"/>
              <a:t>An advanced static analysis tool that detects potential run-time logic errors in Ada programs.</a:t>
            </a:r>
          </a:p>
          <a:p>
            <a:pPr lvl="1" fontAlgn="base"/>
            <a:r>
              <a:rPr lang="en-IN" sz="4500" b="1" dirty="0"/>
              <a:t>Code Scene</a:t>
            </a:r>
            <a:r>
              <a:rPr lang="en-IN" sz="4500" dirty="0"/>
              <a:t>:- </a:t>
            </a:r>
          </a:p>
          <a:p>
            <a:pPr fontAlgn="base"/>
            <a:r>
              <a:rPr lang="en-IN" sz="4500" dirty="0" err="1"/>
              <a:t>Behavioral</a:t>
            </a:r>
            <a:r>
              <a:rPr lang="en-IN" sz="4500" dirty="0"/>
              <a:t> analysis of code. Helps identify, prioritize, and manage technical debt. Measures organizational aspects of developer teams. Automated pull request integrations. It is supported by various programming languages as C,C++ ,C#, Java </a:t>
            </a:r>
          </a:p>
          <a:p>
            <a:endParaRPr lang="en-IN" sz="4500" dirty="0"/>
          </a:p>
        </p:txBody>
      </p:sp>
    </p:spTree>
    <p:extLst>
      <p:ext uri="{BB962C8B-B14F-4D97-AF65-F5344CB8AC3E}">
        <p14:creationId xmlns:p14="http://schemas.microsoft.com/office/powerpoint/2010/main" val="858743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001419"/>
          </a:xfrm>
        </p:spPr>
        <p:txBody>
          <a:bodyPr/>
          <a:lstStyle/>
          <a:p>
            <a:r>
              <a:rPr lang="en-US" dirty="0"/>
              <a:t>In software testing, test design techniques are methods used to create effective test cases, aiming to maximize coverage and efficiency. Some common techniques include black-box methods like boundary value analysis and equivalence partitioning, white-box methods, as well as exploratory testing and experience-based approaches. </a:t>
            </a:r>
          </a:p>
        </p:txBody>
      </p:sp>
    </p:spTree>
    <p:extLst>
      <p:ext uri="{BB962C8B-B14F-4D97-AF65-F5344CB8AC3E}">
        <p14:creationId xmlns:p14="http://schemas.microsoft.com/office/powerpoint/2010/main" val="4124166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85000" lnSpcReduction="20000"/>
          </a:bodyPr>
          <a:lstStyle/>
          <a:p>
            <a:r>
              <a:rPr lang="en-US" b="1" dirty="0" smtClean="0"/>
              <a:t>Black-Box </a:t>
            </a:r>
            <a:r>
              <a:rPr lang="en-US" b="1" dirty="0"/>
              <a:t>Techniques (Focus n functionality, without looking at the code):</a:t>
            </a:r>
          </a:p>
          <a:p>
            <a:r>
              <a:rPr lang="en-US" b="1" dirty="0"/>
              <a:t>Boundary Value Analysis:</a:t>
            </a:r>
            <a:endParaRPr lang="en-US" dirty="0"/>
          </a:p>
          <a:p>
            <a:pPr fontAlgn="ctr"/>
            <a:r>
              <a:rPr lang="en-US" dirty="0"/>
              <a:t>Tests values at the edges of input or output ranges (e.g., minimum, maximum, just above/below these limits) to identify potential vulnerabilities. </a:t>
            </a:r>
          </a:p>
          <a:p>
            <a:r>
              <a:rPr lang="en-US" b="1" dirty="0"/>
              <a:t>Equivalence Partitioning:</a:t>
            </a:r>
            <a:endParaRPr lang="en-US" dirty="0"/>
          </a:p>
          <a:p>
            <a:pPr fontAlgn="ctr"/>
            <a:r>
              <a:rPr lang="en-US" dirty="0"/>
              <a:t>Divides input data into groups (equivalence classes) based on their expected behavior, then selects representative values from each class to test. </a:t>
            </a:r>
          </a:p>
          <a:p>
            <a:r>
              <a:rPr lang="en-US" b="1" dirty="0"/>
              <a:t>Decision Table Testing:</a:t>
            </a:r>
            <a:endParaRPr lang="en-US" dirty="0"/>
          </a:p>
          <a:p>
            <a:r>
              <a:rPr lang="en-US" dirty="0"/>
              <a:t>Used when multiple input conditions result in different outputs; it systematically tests all possible combinations. </a:t>
            </a:r>
          </a:p>
          <a:p>
            <a:endParaRPr lang="en-US" dirty="0"/>
          </a:p>
        </p:txBody>
      </p:sp>
    </p:spTree>
    <p:extLst>
      <p:ext uri="{BB962C8B-B14F-4D97-AF65-F5344CB8AC3E}">
        <p14:creationId xmlns:p14="http://schemas.microsoft.com/office/powerpoint/2010/main" val="30327236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433467"/>
          </a:xfrm>
        </p:spPr>
        <p:txBody>
          <a:bodyPr>
            <a:normAutofit lnSpcReduction="10000"/>
          </a:bodyPr>
          <a:lstStyle/>
          <a:p>
            <a:r>
              <a:rPr lang="en-US" b="1" dirty="0"/>
              <a:t>White-Box Techniques (Focus on the code's structure and logic):</a:t>
            </a:r>
          </a:p>
          <a:p>
            <a:r>
              <a:rPr lang="en-US" b="1" dirty="0"/>
              <a:t>Path Testing:</a:t>
            </a:r>
            <a:r>
              <a:rPr lang="en-US" dirty="0"/>
              <a:t> Tests different paths through the code to ensure that all branches are executed and that the program logic works correctly.</a:t>
            </a:r>
          </a:p>
          <a:p>
            <a:r>
              <a:rPr lang="en-US" b="1" dirty="0"/>
              <a:t>Statement Coverage:</a:t>
            </a:r>
            <a:r>
              <a:rPr lang="en-US" dirty="0"/>
              <a:t> Ensures that every line of code is executed at least once during testing.</a:t>
            </a:r>
          </a:p>
          <a:p>
            <a:r>
              <a:rPr lang="en-US" b="1" dirty="0"/>
              <a:t>Decision Coverage:</a:t>
            </a:r>
            <a:r>
              <a:rPr lang="en-US" dirty="0"/>
              <a:t> Ensures that every decision point in the code (e.g., if, while) is evaluated for both true and false cases. </a:t>
            </a:r>
          </a:p>
          <a:p>
            <a:endParaRPr lang="en-US" dirty="0"/>
          </a:p>
        </p:txBody>
      </p:sp>
    </p:spTree>
    <p:extLst>
      <p:ext uri="{BB962C8B-B14F-4D97-AF65-F5344CB8AC3E}">
        <p14:creationId xmlns:p14="http://schemas.microsoft.com/office/powerpoint/2010/main" val="1445302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fontScale="90000"/>
          </a:bodyPr>
          <a:lstStyle/>
          <a:p>
            <a:r>
              <a:rPr lang="en-US" b="1" dirty="0" smtClean="0"/>
              <a:t/>
            </a:r>
            <a:br>
              <a:rPr lang="en-US" b="1" dirty="0" smtClean="0"/>
            </a:br>
            <a:r>
              <a:rPr lang="en-US" b="1" dirty="0" err="1" smtClean="0"/>
              <a:t>Cyclomatic</a:t>
            </a:r>
            <a:r>
              <a:rPr lang="en-US" b="1" dirty="0" smtClean="0"/>
              <a:t> </a:t>
            </a:r>
            <a:r>
              <a:rPr lang="en-US" b="1" dirty="0"/>
              <a:t>Complexity</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err="1"/>
              <a:t>Cyclomatic</a:t>
            </a:r>
            <a:r>
              <a:rPr lang="en-US" dirty="0"/>
              <a:t> complexity, developed by Thomas McCabe, is a metric that measures the complexity of a program by counting its decision points. It measures the number of unique paths through the code, indicating how complex the logic is. Lower complexity suggests simpler, more manageable code, reducing the chances of errors and making it easier to maintain and modify. Essentially, it helps assess the code’s readability and risk associated with changes.</a:t>
            </a:r>
          </a:p>
        </p:txBody>
      </p:sp>
    </p:spTree>
    <p:extLst>
      <p:ext uri="{BB962C8B-B14F-4D97-AF65-F5344CB8AC3E}">
        <p14:creationId xmlns:p14="http://schemas.microsoft.com/office/powerpoint/2010/main" val="3496875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en-US" b="1" dirty="0"/>
              <a:t>Formula for Calculating </a:t>
            </a:r>
            <a:r>
              <a:rPr lang="en-US" b="1" dirty="0" err="1"/>
              <a:t>Cyclomatic</a:t>
            </a:r>
            <a:r>
              <a:rPr lang="en-US" b="1" dirty="0"/>
              <a:t> Complexity</a:t>
            </a:r>
          </a:p>
          <a:p>
            <a:pPr fontAlgn="base"/>
            <a:r>
              <a:rPr lang="en-US" dirty="0"/>
              <a:t>Mathematically, for a structured program, the directed graph inside the control flow is the edge joining two basic blocks of the program as control may pass from first to second. </a:t>
            </a:r>
            <a:br>
              <a:rPr lang="en-US" dirty="0"/>
            </a:br>
            <a:r>
              <a:rPr lang="en-US" dirty="0"/>
              <a:t>So, </a:t>
            </a:r>
            <a:r>
              <a:rPr lang="en-US" b="1" dirty="0" err="1"/>
              <a:t>cyclomatic</a:t>
            </a:r>
            <a:r>
              <a:rPr lang="en-US" b="1" dirty="0"/>
              <a:t> complexity M</a:t>
            </a:r>
            <a:r>
              <a:rPr lang="en-US" dirty="0"/>
              <a:t> would be defined as, </a:t>
            </a:r>
          </a:p>
          <a:p>
            <a:endParaRPr lang="en-US" dirty="0"/>
          </a:p>
        </p:txBody>
      </p:sp>
    </p:spTree>
    <p:extLst>
      <p:ext uri="{BB962C8B-B14F-4D97-AF65-F5344CB8AC3E}">
        <p14:creationId xmlns:p14="http://schemas.microsoft.com/office/powerpoint/2010/main" val="34873595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8229600" cy="4929411"/>
          </a:xfrm>
        </p:spPr>
        <p:txBody>
          <a:bodyPr>
            <a:normAutofit/>
          </a:bodyPr>
          <a:lstStyle/>
          <a:p>
            <a:pPr fontAlgn="base"/>
            <a:r>
              <a:rPr lang="en-US" b="1" i="1" dirty="0"/>
              <a:t>M = E – N + 2P </a:t>
            </a:r>
            <a:endParaRPr lang="en-US" i="1" dirty="0"/>
          </a:p>
          <a:p>
            <a:pPr fontAlgn="base"/>
            <a:r>
              <a:rPr lang="en-US" i="1" dirty="0"/>
              <a:t>where</a:t>
            </a:r>
          </a:p>
          <a:p>
            <a:pPr fontAlgn="base"/>
            <a:r>
              <a:rPr lang="en-US" i="1" dirty="0"/>
              <a:t>E = the number of edges in the control flow graph  </a:t>
            </a:r>
            <a:br>
              <a:rPr lang="en-US" i="1" dirty="0"/>
            </a:br>
            <a:r>
              <a:rPr lang="en-US" i="1" dirty="0"/>
              <a:t>N = the number of nodes in the control flow graph </a:t>
            </a:r>
            <a:br>
              <a:rPr lang="en-US" i="1" dirty="0"/>
            </a:br>
            <a:r>
              <a:rPr lang="en-US" i="1" dirty="0"/>
              <a:t>P = the number of connected components </a:t>
            </a:r>
          </a:p>
        </p:txBody>
      </p:sp>
    </p:spTree>
    <p:extLst>
      <p:ext uri="{BB962C8B-B14F-4D97-AF65-F5344CB8AC3E}">
        <p14:creationId xmlns:p14="http://schemas.microsoft.com/office/powerpoint/2010/main" val="3644865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flow based Testing</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Data </a:t>
            </a:r>
            <a:r>
              <a:rPr lang="en-US" dirty="0"/>
              <a:t>flow testing is a white-box testing technique that examines the flow of data in a program. It focuses on the points where variables are defined and used and aims to identify and eliminate potential anomalies that could disrupt the flow of data, leading to program malfunctions or erroneous outputs.</a:t>
            </a:r>
          </a:p>
          <a:p>
            <a:r>
              <a:rPr lang="en-US" dirty="0"/>
              <a:t>Data flow testing operates on two distinct levels: static and dynamic.</a:t>
            </a:r>
          </a:p>
          <a:p>
            <a:r>
              <a:rPr lang="en-US" dirty="0"/>
              <a:t>Static data flow testing involves analyzing the source code without executing the program. It constructs a control flow graph, which represents the various paths of execution through the code. This graph is then analyzed to identify potential data flow anomalies, such </a:t>
            </a:r>
            <a:r>
              <a:rPr lang="en-US" dirty="0" smtClean="0"/>
              <a:t>as:</a:t>
            </a:r>
          </a:p>
          <a:p>
            <a:r>
              <a:rPr lang="en-US" dirty="0" smtClean="0"/>
              <a:t>Definition-Use </a:t>
            </a:r>
            <a:r>
              <a:rPr lang="en-US" dirty="0"/>
              <a:t>Anomalies: A variable is defined but never used, or vice versa.</a:t>
            </a:r>
          </a:p>
          <a:p>
            <a:r>
              <a:rPr lang="en-US" dirty="0"/>
              <a:t>Redundant Definitions: A variable is defined multiple times before being used.</a:t>
            </a:r>
          </a:p>
          <a:p>
            <a:r>
              <a:rPr lang="en-US" dirty="0"/>
              <a:t>Uninitialized Use: A variable is used before it has been assigned a value.</a:t>
            </a:r>
          </a:p>
          <a:p>
            <a:endParaRPr lang="en-US" dirty="0"/>
          </a:p>
          <a:p>
            <a:endParaRPr lang="en-US" dirty="0"/>
          </a:p>
        </p:txBody>
      </p:sp>
    </p:spTree>
    <p:extLst>
      <p:ext uri="{BB962C8B-B14F-4D97-AF65-F5344CB8AC3E}">
        <p14:creationId xmlns:p14="http://schemas.microsoft.com/office/powerpoint/2010/main" val="2565068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4704"/>
            <a:ext cx="8229600" cy="5361459"/>
          </a:xfrm>
        </p:spPr>
        <p:txBody>
          <a:bodyPr>
            <a:normAutofit fontScale="92500" lnSpcReduction="20000"/>
          </a:bodyPr>
          <a:lstStyle/>
          <a:p>
            <a:r>
              <a:rPr lang="en-US" dirty="0"/>
              <a:t>Dynamic data flow testing, on the other hand, involves executing the program and monitoring the actual flow of data values through variables. It can detect anomalies related to</a:t>
            </a:r>
            <a:r>
              <a:rPr lang="en-US" dirty="0" smtClean="0"/>
              <a:t>:</a:t>
            </a:r>
          </a:p>
          <a:p>
            <a:r>
              <a:rPr lang="en-US" dirty="0"/>
              <a:t>Data Corruption: A variable’s value is modified unexpectedly, leading to incorrect program behavior.</a:t>
            </a:r>
          </a:p>
          <a:p>
            <a:r>
              <a:rPr lang="en-US" dirty="0"/>
              <a:t>Memory Leaks: Unnecessary memory allocations are not properly released, causing memory consumption to grow uncontrollably.</a:t>
            </a:r>
          </a:p>
          <a:p>
            <a:r>
              <a:rPr lang="en-US" dirty="0"/>
              <a:t>Invalid Data Manipulation: Data is manipulated in an unintended manner, resulting in erroneous calculations or outputs.</a:t>
            </a:r>
          </a:p>
          <a:p>
            <a:endParaRPr lang="en-US" dirty="0"/>
          </a:p>
        </p:txBody>
      </p:sp>
    </p:spTree>
    <p:extLst>
      <p:ext uri="{BB962C8B-B14F-4D97-AF65-F5344CB8AC3E}">
        <p14:creationId xmlns:p14="http://schemas.microsoft.com/office/powerpoint/2010/main" val="392481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Mutation Testing </a:t>
            </a:r>
            <a:endParaRPr lang="en-US" dirty="0"/>
          </a:p>
        </p:txBody>
      </p:sp>
      <p:sp>
        <p:nvSpPr>
          <p:cNvPr id="3" name="Content Placeholder 2"/>
          <p:cNvSpPr>
            <a:spLocks noGrp="1"/>
          </p:cNvSpPr>
          <p:nvPr>
            <p:ph idx="1"/>
          </p:nvPr>
        </p:nvSpPr>
        <p:spPr/>
        <p:txBody>
          <a:bodyPr>
            <a:normAutofit lnSpcReduction="10000"/>
          </a:bodyPr>
          <a:lstStyle/>
          <a:p>
            <a:r>
              <a:rPr lang="en-US" dirty="0"/>
              <a:t>Mutation testing, also known as code mutation testing, is a form of </a:t>
            </a:r>
            <a:r>
              <a:rPr lang="en-US" u="sng" dirty="0">
                <a:hlinkClick r:id="rId2"/>
              </a:rPr>
              <a:t>white box testing</a:t>
            </a:r>
            <a:r>
              <a:rPr lang="en-US" dirty="0"/>
              <a:t> in which testers change specific components of an application's </a:t>
            </a:r>
            <a:r>
              <a:rPr lang="en-US" u="sng" dirty="0">
                <a:hlinkClick r:id="rId3"/>
              </a:rPr>
              <a:t>source code</a:t>
            </a:r>
            <a:r>
              <a:rPr lang="en-US" dirty="0"/>
              <a:t> to ensure a software test suite can detect the changes. Changes introduced to the software are intended to cause errors in the program. Mutation testing is designed to ensure the quality of a software testing tool, not the applications it analyzes.</a:t>
            </a:r>
          </a:p>
        </p:txBody>
      </p:sp>
    </p:spTree>
    <p:extLst>
      <p:ext uri="{BB962C8B-B14F-4D97-AF65-F5344CB8AC3E}">
        <p14:creationId xmlns:p14="http://schemas.microsoft.com/office/powerpoint/2010/main" val="105650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92500" lnSpcReduction="10000"/>
          </a:bodyPr>
          <a:lstStyle/>
          <a:p>
            <a:r>
              <a:rPr lang="en-US" b="1" dirty="0"/>
              <a:t>Types of mutation testing</a:t>
            </a:r>
          </a:p>
          <a:p>
            <a:r>
              <a:rPr lang="en-US" dirty="0"/>
              <a:t>There are three main types of mutation testing:</a:t>
            </a:r>
          </a:p>
          <a:p>
            <a:r>
              <a:rPr lang="en-US" b="1" dirty="0"/>
              <a:t>Statement mutation.</a:t>
            </a:r>
            <a:r>
              <a:rPr lang="en-US" dirty="0"/>
              <a:t> Statements are deleted or replaced with a different statement. For example, the statement "A=10 by B=5" is replaced with "A=5 by B=15."</a:t>
            </a:r>
          </a:p>
          <a:p>
            <a:r>
              <a:rPr lang="en-US" b="1" dirty="0"/>
              <a:t>Value mutation.</a:t>
            </a:r>
            <a:r>
              <a:rPr lang="en-US" dirty="0"/>
              <a:t> Values are changed to find errors. For example, "A= 15" is changed to "A= 10" or "A=25."</a:t>
            </a:r>
          </a:p>
          <a:p>
            <a:r>
              <a:rPr lang="en-US" b="1" dirty="0"/>
              <a:t>Decision mutation.</a:t>
            </a:r>
            <a:r>
              <a:rPr lang="en-US" dirty="0"/>
              <a:t> Arithmetic or logical operators are changed to detect errors. For example, "(A&lt;B)" is changed to "(A&gt;B)."</a:t>
            </a:r>
          </a:p>
          <a:p>
            <a:endParaRPr lang="en-US" dirty="0"/>
          </a:p>
        </p:txBody>
      </p:sp>
    </p:spTree>
    <p:extLst>
      <p:ext uri="{BB962C8B-B14F-4D97-AF65-F5344CB8AC3E}">
        <p14:creationId xmlns:p14="http://schemas.microsoft.com/office/powerpoint/2010/main" val="41713405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92500" lnSpcReduction="10000"/>
          </a:bodyPr>
          <a:lstStyle/>
          <a:p>
            <a:r>
              <a:rPr lang="en-US" b="1" dirty="0"/>
              <a:t>Advantages and disadvantages</a:t>
            </a:r>
          </a:p>
          <a:p>
            <a:r>
              <a:rPr lang="en-US" dirty="0"/>
              <a:t>Code mutation provides the following advantages:</a:t>
            </a:r>
          </a:p>
          <a:p>
            <a:r>
              <a:rPr lang="en-US" dirty="0"/>
              <a:t>Helps to ensure the identification of weak tests or code.</a:t>
            </a:r>
          </a:p>
          <a:p>
            <a:r>
              <a:rPr lang="en-US" dirty="0"/>
              <a:t>Offers a high level of error detection.</a:t>
            </a:r>
          </a:p>
          <a:p>
            <a:r>
              <a:rPr lang="en-US" dirty="0"/>
              <a:t>Increases the use of object-oriented frameworks and unit tests </a:t>
            </a:r>
            <a:r>
              <a:rPr lang="en-US" u="sng" dirty="0">
                <a:hlinkClick r:id="rId2"/>
              </a:rPr>
              <a:t>if an organization uses them</a:t>
            </a:r>
            <a:r>
              <a:rPr lang="en-US" dirty="0"/>
              <a:t>.</a:t>
            </a:r>
          </a:p>
          <a:p>
            <a:r>
              <a:rPr lang="en-US" dirty="0"/>
              <a:t>Offers more mutation testing tools due to the increased frameworks and unit tests.</a:t>
            </a:r>
          </a:p>
          <a:p>
            <a:r>
              <a:rPr lang="en-US" dirty="0"/>
              <a:t>Helps organizations determine the usefulness of their testing tool through the use of scoring.</a:t>
            </a:r>
          </a:p>
          <a:p>
            <a:endParaRPr lang="en-US" dirty="0"/>
          </a:p>
        </p:txBody>
      </p:sp>
    </p:spTree>
    <p:extLst>
      <p:ext uri="{BB962C8B-B14F-4D97-AF65-F5344CB8AC3E}">
        <p14:creationId xmlns:p14="http://schemas.microsoft.com/office/powerpoint/2010/main" val="23242107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lstStyle/>
          <a:p>
            <a:r>
              <a:rPr lang="en-US" dirty="0"/>
              <a:t>Disadvantages of code mutation include the following:</a:t>
            </a:r>
          </a:p>
          <a:p>
            <a:r>
              <a:rPr lang="en-US" dirty="0"/>
              <a:t>Isn't practical without the use of an automation tool.</a:t>
            </a:r>
          </a:p>
          <a:p>
            <a:r>
              <a:rPr lang="en-US" dirty="0"/>
              <a:t>Can be time-consuming and costly due to the large number of mutants being tested.</a:t>
            </a:r>
          </a:p>
          <a:p>
            <a:endParaRPr lang="en-US" dirty="0"/>
          </a:p>
        </p:txBody>
      </p:sp>
    </p:spTree>
    <p:extLst>
      <p:ext uri="{BB962C8B-B14F-4D97-AF65-F5344CB8AC3E}">
        <p14:creationId xmlns:p14="http://schemas.microsoft.com/office/powerpoint/2010/main" val="3592238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Test Design Techniques-Experience based technique</a:t>
            </a:r>
            <a:endParaRPr lang="en-US" dirty="0"/>
          </a:p>
        </p:txBody>
      </p:sp>
      <p:sp>
        <p:nvSpPr>
          <p:cNvPr id="3" name="Content Placeholder 2"/>
          <p:cNvSpPr>
            <a:spLocks noGrp="1"/>
          </p:cNvSpPr>
          <p:nvPr>
            <p:ph idx="1"/>
          </p:nvPr>
        </p:nvSpPr>
        <p:spPr/>
        <p:txBody>
          <a:bodyPr/>
          <a:lstStyle/>
          <a:p>
            <a:r>
              <a:rPr lang="en-US" b="1" dirty="0"/>
              <a:t>Experience-based testing techniques- </a:t>
            </a:r>
            <a:r>
              <a:rPr lang="en-US" dirty="0"/>
              <a:t>In software testing rely on the tester's skills, intuition, and past experiences to uncover potential issues and design tests, rather than strictly following predefined test cases or detailed requirements. These techniques are particularly useful when specifications are inadequate or time is limited. </a:t>
            </a:r>
          </a:p>
          <a:p>
            <a:endParaRPr lang="en-US" dirty="0"/>
          </a:p>
        </p:txBody>
      </p:sp>
    </p:spTree>
    <p:extLst>
      <p:ext uri="{BB962C8B-B14F-4D97-AF65-F5344CB8AC3E}">
        <p14:creationId xmlns:p14="http://schemas.microsoft.com/office/powerpoint/2010/main" val="869507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Types of Experience-Based </a:t>
            </a:r>
            <a:r>
              <a:rPr lang="en-US" dirty="0" smtClean="0"/>
              <a:t>Techniques</a:t>
            </a:r>
            <a:endParaRPr lang="en-US" dirty="0"/>
          </a:p>
        </p:txBody>
      </p:sp>
      <p:sp>
        <p:nvSpPr>
          <p:cNvPr id="3" name="Content Placeholder 2"/>
          <p:cNvSpPr>
            <a:spLocks noGrp="1"/>
          </p:cNvSpPr>
          <p:nvPr>
            <p:ph idx="1"/>
          </p:nvPr>
        </p:nvSpPr>
        <p:spPr/>
        <p:txBody>
          <a:bodyPr>
            <a:normAutofit lnSpcReduction="10000"/>
          </a:bodyPr>
          <a:lstStyle/>
          <a:p>
            <a:r>
              <a:rPr lang="en-US" b="1" dirty="0"/>
              <a:t>Error Guessing:</a:t>
            </a:r>
            <a:endParaRPr lang="en-US" dirty="0"/>
          </a:p>
          <a:p>
            <a:pPr fontAlgn="ctr"/>
            <a:r>
              <a:rPr lang="en-US" dirty="0"/>
              <a:t>Testers use their experience and intuition to identify areas where the software might be prone to errors or weaknesses. </a:t>
            </a:r>
          </a:p>
          <a:p>
            <a:r>
              <a:rPr lang="en-US" b="1" dirty="0"/>
              <a:t>Exploratory Testing:</a:t>
            </a:r>
            <a:endParaRPr lang="en-US" dirty="0"/>
          </a:p>
          <a:p>
            <a:pPr fontAlgn="ctr"/>
            <a:r>
              <a:rPr lang="en-US" dirty="0"/>
              <a:t>Testers explore the software, focusing on learning about its strengths and weaknesses, and designing tests on the fly, without extensive planning or documentation. </a:t>
            </a:r>
          </a:p>
          <a:p>
            <a:endParaRPr lang="en-US" dirty="0"/>
          </a:p>
        </p:txBody>
      </p:sp>
    </p:spTree>
    <p:extLst>
      <p:ext uri="{BB962C8B-B14F-4D97-AF65-F5344CB8AC3E}">
        <p14:creationId xmlns:p14="http://schemas.microsoft.com/office/powerpoint/2010/main" val="28864418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                         </a:t>
            </a:r>
          </a:p>
          <a:p>
            <a:endParaRPr lang="en-US" dirty="0"/>
          </a:p>
          <a:p>
            <a:endParaRPr lang="en-US" dirty="0" smtClean="0"/>
          </a:p>
          <a:p>
            <a:pPr marL="0" indent="0">
              <a:buNone/>
            </a:pPr>
            <a:r>
              <a:rPr lang="en-US" sz="4400" dirty="0" smtClean="0"/>
              <a:t>                             END</a:t>
            </a:r>
            <a:endParaRPr lang="en-US" sz="4400" dirty="0"/>
          </a:p>
        </p:txBody>
      </p:sp>
    </p:spTree>
    <p:extLst>
      <p:ext uri="{BB962C8B-B14F-4D97-AF65-F5344CB8AC3E}">
        <p14:creationId xmlns:p14="http://schemas.microsoft.com/office/powerpoint/2010/main" val="3856181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1020</TotalTime>
  <Words>1603</Words>
  <Application>Microsoft Office PowerPoint</Application>
  <PresentationFormat>On-screen Show (4:3)</PresentationFormat>
  <Paragraphs>145</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MCA-I (Semester- II) Subject :- Software Testing &amp; Quality Assurance (Subject Code:- IT-22)       Chapter: 3]   Static &amp; Dynamic Testing  </vt:lpstr>
      <vt:lpstr>3.1. Static Techniques – Review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3.1.4 Walkthrough </vt:lpstr>
      <vt:lpstr>PowerPoint Presentation</vt:lpstr>
      <vt:lpstr>3.1.5 Inspection </vt:lpstr>
      <vt:lpstr>PowerPoint Presentation</vt:lpstr>
      <vt:lpstr>3.2.2 Control-Flow Analysis (CFA) </vt:lpstr>
      <vt:lpstr>PowerPoint Presentation</vt:lpstr>
      <vt:lpstr>PowerPoint Presentation</vt:lpstr>
      <vt:lpstr>PowerPoint Presentation</vt:lpstr>
      <vt:lpstr>PowerPoint Presentation</vt:lpstr>
      <vt:lpstr>PowerPoint Presentation</vt:lpstr>
      <vt:lpstr> Static Analysis by Tools (Automated Static Analysis) </vt:lpstr>
      <vt:lpstr>Static code Analysis Tools</vt:lpstr>
      <vt:lpstr>PowerPoint Presentation</vt:lpstr>
      <vt:lpstr>PowerPoint Presentation</vt:lpstr>
      <vt:lpstr>PowerPoint Presentation</vt:lpstr>
      <vt:lpstr> Cyclomatic Complexity </vt:lpstr>
      <vt:lpstr>PowerPoint Presentation</vt:lpstr>
      <vt:lpstr>PowerPoint Presentation</vt:lpstr>
      <vt:lpstr>Data flow based Testing</vt:lpstr>
      <vt:lpstr>PowerPoint Presentation</vt:lpstr>
      <vt:lpstr>Mutation Testing </vt:lpstr>
      <vt:lpstr>PowerPoint Presentation</vt:lpstr>
      <vt:lpstr>PowerPoint Presentation</vt:lpstr>
      <vt:lpstr>PowerPoint Presentation</vt:lpstr>
      <vt:lpstr>Test Design Techniques-Experience based technique</vt:lpstr>
      <vt:lpstr>Types of Experience-Based Techniques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MCA-II (Semester- III) Subject :- Software Testing &amp; Quality Assurance (Subject Code:- IT-33)       Chapter: 3]   Static Testing</dc:title>
  <dc:creator>MCA</dc:creator>
  <cp:lastModifiedBy>admin</cp:lastModifiedBy>
  <cp:revision>42</cp:revision>
  <dcterms:created xsi:type="dcterms:W3CDTF">2022-02-17T09:35:59Z</dcterms:created>
  <dcterms:modified xsi:type="dcterms:W3CDTF">2025-03-27T09:45:40Z</dcterms:modified>
</cp:coreProperties>
</file>