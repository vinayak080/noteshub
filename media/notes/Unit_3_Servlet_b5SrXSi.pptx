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E2B00D-08FD-4A56-B0C6-1983DA0AC6A4}" type="datetimeFigureOut">
              <a:rPr lang="en-US" smtClean="0"/>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1955936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2B00D-08FD-4A56-B0C6-1983DA0AC6A4}" type="datetimeFigureOut">
              <a:rPr lang="en-US" smtClean="0"/>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3915750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E2B00D-08FD-4A56-B0C6-1983DA0AC6A4}" type="datetimeFigureOut">
              <a:rPr lang="en-US" smtClean="0"/>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3474687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E2B00D-08FD-4A56-B0C6-1983DA0AC6A4}" type="datetimeFigureOut">
              <a:rPr lang="en-US" smtClean="0"/>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1859719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E2B00D-08FD-4A56-B0C6-1983DA0AC6A4}" type="datetimeFigureOut">
              <a:rPr lang="en-US" smtClean="0"/>
              <a:t>3/13/2025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1463431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E2B00D-08FD-4A56-B0C6-1983DA0AC6A4}" type="datetimeFigureOut">
              <a:rPr lang="en-US" smtClean="0"/>
              <a:t>3/13/2025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644604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E2B00D-08FD-4A56-B0C6-1983DA0AC6A4}" type="datetimeFigureOut">
              <a:rPr lang="en-US" smtClean="0"/>
              <a:t>3/13/2025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4081060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E2B00D-08FD-4A56-B0C6-1983DA0AC6A4}" type="datetimeFigureOut">
              <a:rPr lang="en-US" smtClean="0"/>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207717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E2B00D-08FD-4A56-B0C6-1983DA0AC6A4}" type="datetimeFigureOut">
              <a:rPr lang="en-US" smtClean="0"/>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1531639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2B00D-08FD-4A56-B0C6-1983DA0AC6A4}" type="datetimeFigureOut">
              <a:rPr lang="en-US" smtClean="0"/>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277919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2B00D-08FD-4A56-B0C6-1983DA0AC6A4}" type="datetimeFigureOut">
              <a:rPr lang="en-US" smtClean="0"/>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6D6B3-173A-4DC4-B049-A3B6A21B5716}" type="slidenum">
              <a:rPr lang="en-US" smtClean="0"/>
              <a:t>‹#›</a:t>
            </a:fld>
            <a:endParaRPr lang="en-US"/>
          </a:p>
        </p:txBody>
      </p:sp>
    </p:spTree>
    <p:extLst>
      <p:ext uri="{BB962C8B-B14F-4D97-AF65-F5344CB8AC3E}">
        <p14:creationId xmlns:p14="http://schemas.microsoft.com/office/powerpoint/2010/main" val="1142067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E2B00D-08FD-4A56-B0C6-1983DA0AC6A4}" type="datetimeFigureOut">
              <a:rPr lang="en-US" smtClean="0"/>
              <a:t>3/13/2025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B6D6B3-173A-4DC4-B049-A3B6A21B5716}" type="slidenum">
              <a:rPr lang="en-US" smtClean="0"/>
              <a:t>‹#›</a:t>
            </a:fld>
            <a:endParaRPr lang="en-US"/>
          </a:p>
        </p:txBody>
      </p:sp>
    </p:spTree>
    <p:extLst>
      <p:ext uri="{BB962C8B-B14F-4D97-AF65-F5344CB8AC3E}">
        <p14:creationId xmlns:p14="http://schemas.microsoft.com/office/powerpoint/2010/main" val="3248242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924800" cy="2212975"/>
          </a:xfrm>
        </p:spPr>
        <p:txBody>
          <a:bodyPr>
            <a:normAutofit/>
          </a:bodyPr>
          <a:lstStyle/>
          <a:p>
            <a:r>
              <a:rPr lang="en-US" sz="4800" b="1" dirty="0" smtClean="0">
                <a:latin typeface="Times New Roman" pitchFamily="18" charset="0"/>
                <a:cs typeface="Times New Roman" pitchFamily="18" charset="0"/>
              </a:rPr>
              <a:t>Unit 3 Servlet</a:t>
            </a:r>
            <a:endParaRPr lang="en-US" sz="4800" b="1" dirty="0">
              <a:latin typeface="Times New Roman" pitchFamily="18" charset="0"/>
              <a:cs typeface="Times New Roman" pitchFamily="18" charset="0"/>
            </a:endParaRPr>
          </a:p>
        </p:txBody>
      </p:sp>
    </p:spTree>
    <p:extLst>
      <p:ext uri="{BB962C8B-B14F-4D97-AF65-F5344CB8AC3E}">
        <p14:creationId xmlns:p14="http://schemas.microsoft.com/office/powerpoint/2010/main" val="2074177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4525963"/>
          </a:xfrm>
        </p:spPr>
        <p:txBody>
          <a:bodyPr>
            <a:normAutofit fontScale="92500" lnSpcReduction="10000"/>
          </a:bodyPr>
          <a:lstStyle/>
          <a:p>
            <a:pPr fontAlgn="base"/>
            <a:r>
              <a:rPr lang="en-US" b="1" dirty="0"/>
              <a:t>J</a:t>
            </a:r>
            <a:r>
              <a:rPr lang="en-US" b="1" dirty="0" smtClean="0"/>
              <a:t>ava </a:t>
            </a:r>
            <a:r>
              <a:rPr lang="en-US" b="1" dirty="0"/>
              <a:t>Servlet</a:t>
            </a:r>
            <a:r>
              <a:rPr lang="en-US" dirty="0"/>
              <a:t> is a Java program that runs on a Java-enabled web server or application server. It handles client requests, processes them, and generates responses dynamically. Servlets are the backbone of many server-side Java applications due to their efficiency and scalability.</a:t>
            </a:r>
          </a:p>
          <a:p>
            <a:pPr fontAlgn="base"/>
            <a:r>
              <a:rPr lang="en-US" dirty="0"/>
              <a:t>Servlets work on the server side.</a:t>
            </a:r>
          </a:p>
          <a:p>
            <a:pPr fontAlgn="base"/>
            <a:r>
              <a:rPr lang="en-US" dirty="0"/>
              <a:t>Servlets are capable of handling complex requests obtained from the web server.</a:t>
            </a:r>
          </a:p>
          <a:p>
            <a:pPr fontAlgn="base"/>
            <a:r>
              <a:rPr lang="en-US" dirty="0"/>
              <a:t>Generate dynamic responses efficiently.</a:t>
            </a:r>
          </a:p>
          <a:p>
            <a:endParaRPr lang="en-US" dirty="0"/>
          </a:p>
        </p:txBody>
      </p:sp>
    </p:spTree>
    <p:extLst>
      <p:ext uri="{BB962C8B-B14F-4D97-AF65-F5344CB8AC3E}">
        <p14:creationId xmlns:p14="http://schemas.microsoft.com/office/powerpoint/2010/main" val="147447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305800" cy="5440363"/>
          </a:xfrm>
        </p:spPr>
        <p:txBody>
          <a:bodyPr>
            <a:normAutofit fontScale="92500" lnSpcReduction="20000"/>
          </a:bodyPr>
          <a:lstStyle/>
          <a:p>
            <a:pPr fontAlgn="base"/>
            <a:r>
              <a:rPr lang="en-US" b="1" dirty="0"/>
              <a:t>Benefits of Java Servlets:</a:t>
            </a:r>
            <a:endParaRPr lang="en-US" dirty="0"/>
          </a:p>
          <a:p>
            <a:pPr fontAlgn="base"/>
            <a:r>
              <a:rPr lang="en-US" b="1" dirty="0"/>
              <a:t>Performance</a:t>
            </a:r>
            <a:r>
              <a:rPr lang="en-US" dirty="0"/>
              <a:t>: Faster execution as Servlets do not create new processes for each request.</a:t>
            </a:r>
          </a:p>
          <a:p>
            <a:pPr fontAlgn="base"/>
            <a:r>
              <a:rPr lang="en-US" b="1" dirty="0"/>
              <a:t>Portability</a:t>
            </a:r>
            <a:r>
              <a:rPr lang="en-US" dirty="0"/>
              <a:t>: Write-once, run-anywhere feature of Java..</a:t>
            </a:r>
          </a:p>
          <a:p>
            <a:pPr fontAlgn="base"/>
            <a:r>
              <a:rPr lang="en-US" b="1" dirty="0"/>
              <a:t>Memory: </a:t>
            </a:r>
            <a:r>
              <a:rPr lang="en-US" dirty="0"/>
              <a:t>Single instance handles multiple requests.</a:t>
            </a:r>
          </a:p>
          <a:p>
            <a:pPr fontAlgn="base"/>
            <a:r>
              <a:rPr lang="en-US" dirty="0"/>
              <a:t>Integration: Easily integrates with databases using JDBC.</a:t>
            </a:r>
          </a:p>
          <a:p>
            <a:pPr fontAlgn="base"/>
            <a:r>
              <a:rPr lang="en-US" b="1" dirty="0"/>
              <a:t>Security</a:t>
            </a:r>
            <a:r>
              <a:rPr lang="en-US" dirty="0"/>
              <a:t>: Inherits robust security features from web servers.</a:t>
            </a:r>
          </a:p>
          <a:p>
            <a:pPr fontAlgn="base"/>
            <a:r>
              <a:rPr lang="en-US" b="1" dirty="0"/>
              <a:t>Cost-Effective: </a:t>
            </a:r>
            <a:r>
              <a:rPr lang="en-US" dirty="0"/>
              <a:t>Many web servers like Apache Tomcat are free to use with Java Servlets.</a:t>
            </a:r>
          </a:p>
          <a:p>
            <a:endParaRPr lang="en-US" dirty="0"/>
          </a:p>
        </p:txBody>
      </p:sp>
    </p:spTree>
    <p:extLst>
      <p:ext uri="{BB962C8B-B14F-4D97-AF65-F5344CB8AC3E}">
        <p14:creationId xmlns:p14="http://schemas.microsoft.com/office/powerpoint/2010/main" val="3718102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Java Servlets Architecture</a:t>
            </a:r>
            <a:br>
              <a:rPr lang="en-US" b="1" dirty="0"/>
            </a:b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685800"/>
            <a:ext cx="6705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63236" y="3687901"/>
            <a:ext cx="8763000" cy="3170099"/>
          </a:xfrm>
          <a:prstGeom prst="rect">
            <a:avLst/>
          </a:prstGeom>
        </p:spPr>
        <p:txBody>
          <a:bodyPr wrap="square">
            <a:spAutoFit/>
          </a:bodyPr>
          <a:lstStyle/>
          <a:p>
            <a:pPr fontAlgn="base"/>
            <a:r>
              <a:rPr lang="en-US" sz="2000" b="1" dirty="0"/>
              <a:t>Execution of Java Servlets</a:t>
            </a:r>
          </a:p>
          <a:p>
            <a:pPr fontAlgn="base"/>
            <a:r>
              <a:rPr lang="en-US" sz="2000" dirty="0"/>
              <a:t>Execution of Servlets basically involves Six basic steps: </a:t>
            </a:r>
          </a:p>
          <a:p>
            <a:pPr fontAlgn="base"/>
            <a:r>
              <a:rPr lang="en-US" sz="2000" dirty="0"/>
              <a:t>The Clients send the request to the Web Server.</a:t>
            </a:r>
          </a:p>
          <a:p>
            <a:pPr fontAlgn="base"/>
            <a:r>
              <a:rPr lang="en-US" sz="2000" dirty="0"/>
              <a:t>The Web Server receives the request.</a:t>
            </a:r>
          </a:p>
          <a:p>
            <a:pPr fontAlgn="base"/>
            <a:r>
              <a:rPr lang="en-US" sz="2000" dirty="0"/>
              <a:t>The Web Server passes the request to the corresponding servlet.</a:t>
            </a:r>
          </a:p>
          <a:p>
            <a:pPr fontAlgn="base"/>
            <a:r>
              <a:rPr lang="en-US" sz="2000" dirty="0"/>
              <a:t>The Servlet processes the request and generates the response in the form of output.</a:t>
            </a:r>
          </a:p>
          <a:p>
            <a:pPr fontAlgn="base"/>
            <a:r>
              <a:rPr lang="en-US" sz="2000" dirty="0"/>
              <a:t>The Servlet sends the response back to the webserver.</a:t>
            </a:r>
          </a:p>
          <a:p>
            <a:pPr fontAlgn="base"/>
            <a:r>
              <a:rPr lang="en-US" sz="2000" dirty="0"/>
              <a:t>The Web Server sends the response back to the client and the client browser displays it on the screen</a:t>
            </a:r>
            <a:r>
              <a:rPr lang="en-US" dirty="0"/>
              <a:t>.</a:t>
            </a:r>
          </a:p>
        </p:txBody>
      </p:sp>
    </p:spTree>
    <p:extLst>
      <p:ext uri="{BB962C8B-B14F-4D97-AF65-F5344CB8AC3E}">
        <p14:creationId xmlns:p14="http://schemas.microsoft.com/office/powerpoint/2010/main" val="2110731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Starting with first Servlet Application</a:t>
            </a:r>
            <a:br>
              <a:rPr lang="en-US" b="1" dirty="0"/>
            </a:br>
            <a:endParaRPr lang="en-US" dirty="0"/>
          </a:p>
        </p:txBody>
      </p:sp>
      <p:sp>
        <p:nvSpPr>
          <p:cNvPr id="3" name="Content Placeholder 2"/>
          <p:cNvSpPr>
            <a:spLocks noGrp="1"/>
          </p:cNvSpPr>
          <p:nvPr>
            <p:ph idx="1"/>
          </p:nvPr>
        </p:nvSpPr>
        <p:spPr>
          <a:xfrm>
            <a:off x="533400" y="914400"/>
            <a:ext cx="8153400" cy="5211763"/>
          </a:xfrm>
        </p:spPr>
        <p:txBody>
          <a:bodyPr>
            <a:normAutofit fontScale="77500" lnSpcReduction="20000"/>
          </a:bodyPr>
          <a:lstStyle/>
          <a:p>
            <a:pPr fontAlgn="base"/>
            <a:r>
              <a:rPr lang="en-US" dirty="0"/>
              <a:t>To get started with Servlets, let’s first start with a simple Servlet application </a:t>
            </a:r>
            <a:r>
              <a:rPr lang="en-US" i="1" dirty="0" err="1"/>
              <a:t>i.e</a:t>
            </a:r>
            <a:r>
              <a:rPr lang="en-US" dirty="0"/>
              <a:t> </a:t>
            </a:r>
            <a:r>
              <a:rPr lang="en-US" b="1" dirty="0" err="1"/>
              <a:t>LifeCycle</a:t>
            </a:r>
            <a:r>
              <a:rPr lang="en-US" dirty="0"/>
              <a:t> application, that will demonstrate the implementation of the </a:t>
            </a:r>
            <a:r>
              <a:rPr lang="en-US" b="1" dirty="0" err="1"/>
              <a:t>init</a:t>
            </a:r>
            <a:r>
              <a:rPr lang="en-US" b="1" dirty="0"/>
              <a:t>()</a:t>
            </a:r>
            <a:r>
              <a:rPr lang="en-US" dirty="0"/>
              <a:t>, </a:t>
            </a:r>
            <a:r>
              <a:rPr lang="en-US" b="1" dirty="0"/>
              <a:t>service()</a:t>
            </a:r>
            <a:r>
              <a:rPr lang="en-US" dirty="0"/>
              <a:t> and </a:t>
            </a:r>
            <a:r>
              <a:rPr lang="en-US" b="1" dirty="0"/>
              <a:t>destroy()</a:t>
            </a:r>
            <a:r>
              <a:rPr lang="en-US" dirty="0"/>
              <a:t> methods.</a:t>
            </a:r>
            <a:br>
              <a:rPr lang="en-US" dirty="0"/>
            </a:br>
            <a:r>
              <a:rPr lang="en-US" dirty="0"/>
              <a:t>First of all it is important to understand that if we are developing any Servlet application, it will handle some client’s request so, whenever we talk about Servlets we need to develop a index.html page (can be any other name also) which will request a particular Servlet to handle the request made by the client (in this case index.html page).</a:t>
            </a:r>
            <a:br>
              <a:rPr lang="en-US" dirty="0"/>
            </a:br>
            <a:r>
              <a:rPr lang="en-US" dirty="0"/>
              <a:t>To be simple, lets first describe the steps to develop the </a:t>
            </a:r>
            <a:r>
              <a:rPr lang="en-US" b="1" dirty="0" err="1"/>
              <a:t>LifeCycle</a:t>
            </a:r>
            <a:r>
              <a:rPr lang="en-US" dirty="0"/>
              <a:t> application : </a:t>
            </a:r>
          </a:p>
          <a:p>
            <a:pPr fontAlgn="base"/>
            <a:r>
              <a:rPr lang="en-US" dirty="0"/>
              <a:t>Creating the index.html page</a:t>
            </a:r>
          </a:p>
          <a:p>
            <a:pPr fontAlgn="base"/>
            <a:r>
              <a:rPr lang="en-US" dirty="0"/>
              <a:t>Creating the </a:t>
            </a:r>
            <a:r>
              <a:rPr lang="en-US" b="1" dirty="0" err="1"/>
              <a:t>LifeCycle</a:t>
            </a:r>
            <a:r>
              <a:rPr lang="en-US" dirty="0"/>
              <a:t> Servlet</a:t>
            </a:r>
          </a:p>
          <a:p>
            <a:pPr fontAlgn="base"/>
            <a:r>
              <a:rPr lang="en-US" dirty="0"/>
              <a:t>Creating deployment descriptor</a:t>
            </a:r>
            <a:br>
              <a:rPr lang="en-US" dirty="0"/>
            </a:br>
            <a:r>
              <a:rPr lang="en-US" dirty="0"/>
              <a:t> </a:t>
            </a:r>
          </a:p>
          <a:p>
            <a:endParaRPr lang="en-US" dirty="0"/>
          </a:p>
        </p:txBody>
      </p:sp>
    </p:spTree>
    <p:extLst>
      <p:ext uri="{BB962C8B-B14F-4D97-AF65-F5344CB8AC3E}">
        <p14:creationId xmlns:p14="http://schemas.microsoft.com/office/powerpoint/2010/main" val="3556116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305800" cy="6248400"/>
          </a:xfrm>
        </p:spPr>
        <p:txBody>
          <a:bodyPr>
            <a:normAutofit fontScale="85000" lnSpcReduction="20000"/>
          </a:bodyPr>
          <a:lstStyle/>
          <a:p>
            <a:pPr fontAlgn="base"/>
            <a:r>
              <a:rPr lang="en-US" b="1" dirty="0"/>
              <a:t>Creating the index.html page</a:t>
            </a:r>
          </a:p>
          <a:p>
            <a:pPr fontAlgn="base"/>
            <a:r>
              <a:rPr lang="en-US" dirty="0"/>
              <a:t>For the sake of simplicity, this page will just have a button </a:t>
            </a:r>
            <a:r>
              <a:rPr lang="en-US" b="1" dirty="0"/>
              <a:t>invoke life cycle</a:t>
            </a:r>
            <a:r>
              <a:rPr lang="en-US" dirty="0"/>
              <a:t>. When you will click this button it will call </a:t>
            </a:r>
            <a:r>
              <a:rPr lang="en-US" b="1" dirty="0" err="1"/>
              <a:t>LifeCycleServlet</a:t>
            </a:r>
            <a:r>
              <a:rPr lang="en-US" dirty="0"/>
              <a:t> (which is mapped according to the entry in web.xml file). </a:t>
            </a:r>
            <a:endParaRPr lang="en-US" dirty="0" smtClean="0"/>
          </a:p>
          <a:p>
            <a:pPr marL="0" indent="0" fontAlgn="base">
              <a:buNone/>
            </a:pPr>
            <a:endParaRPr lang="en-US" dirty="0"/>
          </a:p>
          <a:p>
            <a:pPr marL="0" indent="0">
              <a:buNone/>
            </a:pPr>
            <a:r>
              <a:rPr lang="en-US" dirty="0" smtClean="0"/>
              <a:t>&lt;html&gt;</a:t>
            </a:r>
          </a:p>
          <a:p>
            <a:pPr marL="0" indent="0">
              <a:buNone/>
            </a:pPr>
            <a:r>
              <a:rPr lang="en-US" dirty="0" smtClean="0"/>
              <a:t>	&lt;form action="</a:t>
            </a:r>
            <a:r>
              <a:rPr lang="en-US" dirty="0" err="1" smtClean="0"/>
              <a:t>LifeCycleServlet</a:t>
            </a:r>
            <a:r>
              <a:rPr lang="en-US" dirty="0" smtClean="0"/>
              <a:t>"&gt;</a:t>
            </a:r>
          </a:p>
          <a:p>
            <a:pPr marL="0" indent="0">
              <a:buNone/>
            </a:pPr>
            <a:r>
              <a:rPr lang="en-US" dirty="0" smtClean="0"/>
              <a:t>		&lt;input type="submit" value="invoke life cycle servlet"&gt;</a:t>
            </a:r>
          </a:p>
          <a:p>
            <a:pPr marL="0" indent="0">
              <a:buNone/>
            </a:pPr>
            <a:r>
              <a:rPr lang="en-US" dirty="0" smtClean="0"/>
              <a:t>	&lt;/form&gt;</a:t>
            </a:r>
          </a:p>
          <a:p>
            <a:pPr marL="0" indent="0">
              <a:buNone/>
            </a:pPr>
            <a:r>
              <a:rPr lang="en-US" dirty="0" smtClean="0"/>
              <a:t>&lt;/html&gt;</a:t>
            </a:r>
          </a:p>
          <a:p>
            <a:pPr marL="0" indent="0">
              <a:buNone/>
            </a:pPr>
            <a:endParaRPr lang="en-US" dirty="0"/>
          </a:p>
          <a:p>
            <a:pPr marL="0" indent="0">
              <a:buNone/>
            </a:pPr>
            <a:r>
              <a:rPr lang="en-US" dirty="0"/>
              <a:t>The name of the Servlet is given in action attribute of form tag to which the request will be send on clicking the button, in this case </a:t>
            </a:r>
            <a:r>
              <a:rPr lang="en-US" b="1" dirty="0" err="1"/>
              <a:t>FirstServlet</a:t>
            </a:r>
            <a:r>
              <a:rPr lang="en-US" dirty="0"/>
              <a:t>. </a:t>
            </a:r>
            <a:endParaRPr lang="en-US" dirty="0" smtClean="0"/>
          </a:p>
          <a:p>
            <a:pPr marL="0" indent="0">
              <a:buNone/>
            </a:pPr>
            <a:endParaRPr lang="en-US" dirty="0"/>
          </a:p>
        </p:txBody>
      </p:sp>
    </p:spTree>
    <p:extLst>
      <p:ext uri="{BB962C8B-B14F-4D97-AF65-F5344CB8AC3E}">
        <p14:creationId xmlns:p14="http://schemas.microsoft.com/office/powerpoint/2010/main" val="2570406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7239000"/>
          </a:xfrm>
        </p:spPr>
        <p:txBody>
          <a:bodyPr>
            <a:normAutofit fontScale="47500" lnSpcReduction="20000"/>
          </a:bodyPr>
          <a:lstStyle/>
          <a:p>
            <a:pPr fontAlgn="base"/>
            <a:r>
              <a:rPr lang="en-US" b="1" dirty="0"/>
              <a:t>Creating the Servlet (</a:t>
            </a:r>
            <a:r>
              <a:rPr lang="en-US" b="1" dirty="0" err="1"/>
              <a:t>FirstServlet</a:t>
            </a:r>
            <a:r>
              <a:rPr lang="en-US" b="1" dirty="0"/>
              <a:t>)</a:t>
            </a:r>
          </a:p>
          <a:p>
            <a:pPr fontAlgn="base"/>
            <a:r>
              <a:rPr lang="en-US" dirty="0"/>
              <a:t>Now, its time to create the </a:t>
            </a:r>
            <a:r>
              <a:rPr lang="en-US" dirty="0" err="1"/>
              <a:t>LifeCycleServlet</a:t>
            </a:r>
            <a:r>
              <a:rPr lang="en-US" dirty="0"/>
              <a:t> which implements </a:t>
            </a:r>
            <a:r>
              <a:rPr lang="en-US" b="1" dirty="0" err="1"/>
              <a:t>init</a:t>
            </a:r>
            <a:r>
              <a:rPr lang="en-US" b="1" dirty="0"/>
              <a:t>()</a:t>
            </a:r>
            <a:r>
              <a:rPr lang="en-US" dirty="0"/>
              <a:t>, </a:t>
            </a:r>
            <a:r>
              <a:rPr lang="en-US" b="1" dirty="0"/>
              <a:t>service()</a:t>
            </a:r>
            <a:r>
              <a:rPr lang="en-US" dirty="0"/>
              <a:t> and </a:t>
            </a:r>
            <a:r>
              <a:rPr lang="en-US" b="1" dirty="0"/>
              <a:t>destroy()</a:t>
            </a:r>
            <a:r>
              <a:rPr lang="en-US" dirty="0"/>
              <a:t> methods to demonstrate the lifecycle of a Servlet.</a:t>
            </a:r>
          </a:p>
          <a:p>
            <a:pPr marL="0" indent="0">
              <a:buNone/>
            </a:pPr>
            <a:r>
              <a:rPr lang="en-US" dirty="0" smtClean="0"/>
              <a:t>// importing the </a:t>
            </a:r>
            <a:r>
              <a:rPr lang="en-US" dirty="0" err="1" smtClean="0"/>
              <a:t>javax.servlet</a:t>
            </a:r>
            <a:r>
              <a:rPr lang="en-US" dirty="0" smtClean="0"/>
              <a:t> package</a:t>
            </a:r>
          </a:p>
          <a:p>
            <a:pPr marL="0" indent="0">
              <a:buNone/>
            </a:pPr>
            <a:r>
              <a:rPr lang="en-US" dirty="0" smtClean="0"/>
              <a:t>// importing java.io package for </a:t>
            </a:r>
            <a:r>
              <a:rPr lang="en-US" dirty="0" err="1" smtClean="0"/>
              <a:t>PrintWriter</a:t>
            </a:r>
            <a:endParaRPr lang="en-US" dirty="0" smtClean="0"/>
          </a:p>
          <a:p>
            <a:pPr marL="0" indent="0">
              <a:buNone/>
            </a:pPr>
            <a:r>
              <a:rPr lang="en-US" dirty="0" smtClean="0"/>
              <a:t>import </a:t>
            </a:r>
            <a:r>
              <a:rPr lang="en-US" dirty="0" err="1" smtClean="0"/>
              <a:t>javax.servlet</a:t>
            </a:r>
            <a:r>
              <a:rPr lang="en-US" dirty="0" smtClean="0"/>
              <a:t>.*;</a:t>
            </a:r>
          </a:p>
          <a:p>
            <a:pPr marL="0" indent="0">
              <a:buNone/>
            </a:pPr>
            <a:r>
              <a:rPr lang="en-US" dirty="0" smtClean="0"/>
              <a:t>import java.io.*;</a:t>
            </a:r>
          </a:p>
          <a:p>
            <a:pPr marL="0" indent="0">
              <a:buNone/>
            </a:pPr>
            <a:endParaRPr lang="en-US" dirty="0" smtClean="0"/>
          </a:p>
          <a:p>
            <a:pPr marL="0" indent="0">
              <a:buNone/>
            </a:pPr>
            <a:r>
              <a:rPr lang="en-US" dirty="0" smtClean="0"/>
              <a:t>// now creating a servlet by implementing Servlet interface</a:t>
            </a:r>
          </a:p>
          <a:p>
            <a:pPr marL="0" indent="0">
              <a:buNone/>
            </a:pPr>
            <a:r>
              <a:rPr lang="en-US" dirty="0" smtClean="0"/>
              <a:t>public class </a:t>
            </a:r>
            <a:r>
              <a:rPr lang="en-US" dirty="0" err="1" smtClean="0"/>
              <a:t>LifeCycleServlet</a:t>
            </a:r>
            <a:r>
              <a:rPr lang="en-US" dirty="0" smtClean="0"/>
              <a:t> implements Servlet {</a:t>
            </a:r>
          </a:p>
          <a:p>
            <a:pPr marL="0" indent="0">
              <a:buNone/>
            </a:pPr>
            <a:endParaRPr lang="en-US" dirty="0" smtClean="0"/>
          </a:p>
          <a:p>
            <a:pPr marL="0" indent="0">
              <a:buNone/>
            </a:pPr>
            <a:r>
              <a:rPr lang="en-US" dirty="0" smtClean="0"/>
              <a:t>	</a:t>
            </a:r>
            <a:r>
              <a:rPr lang="en-US" dirty="0" err="1" smtClean="0"/>
              <a:t>ServletConfig</a:t>
            </a:r>
            <a:r>
              <a:rPr lang="en-US" dirty="0" smtClean="0"/>
              <a:t> </a:t>
            </a:r>
            <a:r>
              <a:rPr lang="en-US" dirty="0" err="1" smtClean="0"/>
              <a:t>config</a:t>
            </a:r>
            <a:r>
              <a:rPr lang="en-US" dirty="0" smtClean="0"/>
              <a:t> = null;</a:t>
            </a:r>
          </a:p>
          <a:p>
            <a:pPr marL="0" indent="0">
              <a:buNone/>
            </a:pPr>
            <a:endParaRPr lang="en-US" dirty="0" smtClean="0"/>
          </a:p>
          <a:p>
            <a:pPr marL="0" indent="0">
              <a:buNone/>
            </a:pPr>
            <a:r>
              <a:rPr lang="en-US" dirty="0" smtClean="0"/>
              <a:t>	// </a:t>
            </a:r>
            <a:r>
              <a:rPr lang="en-US" dirty="0" err="1" smtClean="0"/>
              <a:t>init</a:t>
            </a:r>
            <a:r>
              <a:rPr lang="en-US" dirty="0" smtClean="0"/>
              <a:t> method</a:t>
            </a:r>
          </a:p>
          <a:p>
            <a:pPr marL="0" indent="0">
              <a:buNone/>
            </a:pPr>
            <a:r>
              <a:rPr lang="en-US" dirty="0" smtClean="0"/>
              <a:t>	public void </a:t>
            </a:r>
            <a:r>
              <a:rPr lang="en-US" dirty="0" err="1" smtClean="0"/>
              <a:t>init</a:t>
            </a:r>
            <a:r>
              <a:rPr lang="en-US" dirty="0" smtClean="0"/>
              <a:t>(</a:t>
            </a:r>
            <a:r>
              <a:rPr lang="en-US" dirty="0" err="1" smtClean="0"/>
              <a:t>ServletConfig</a:t>
            </a:r>
            <a:r>
              <a:rPr lang="en-US" dirty="0" smtClean="0"/>
              <a:t> </a:t>
            </a:r>
            <a:r>
              <a:rPr lang="en-US" dirty="0" err="1" smtClean="0"/>
              <a:t>sc</a:t>
            </a:r>
            <a:r>
              <a:rPr lang="en-US" dirty="0" smtClean="0"/>
              <a:t>)</a:t>
            </a:r>
          </a:p>
          <a:p>
            <a:pPr marL="0" indent="0">
              <a:buNone/>
            </a:pPr>
            <a:r>
              <a:rPr lang="en-US" dirty="0" smtClean="0"/>
              <a:t>	{</a:t>
            </a:r>
          </a:p>
          <a:p>
            <a:pPr marL="0" indent="0">
              <a:buNone/>
            </a:pPr>
            <a:r>
              <a:rPr lang="en-US" dirty="0" smtClean="0"/>
              <a:t>		</a:t>
            </a:r>
            <a:r>
              <a:rPr lang="en-US" dirty="0" err="1" smtClean="0"/>
              <a:t>config</a:t>
            </a:r>
            <a:r>
              <a:rPr lang="en-US" dirty="0" smtClean="0"/>
              <a:t> = </a:t>
            </a:r>
            <a:r>
              <a:rPr lang="en-US" dirty="0" err="1" smtClean="0"/>
              <a:t>sc</a:t>
            </a:r>
            <a:r>
              <a:rPr lang="en-US" dirty="0" smtClean="0"/>
              <a:t>;</a:t>
            </a:r>
          </a:p>
          <a:p>
            <a:pPr marL="0" indent="0">
              <a:buNone/>
            </a:pPr>
            <a:r>
              <a:rPr lang="en-US" dirty="0" smtClean="0"/>
              <a:t>		</a:t>
            </a:r>
            <a:r>
              <a:rPr lang="en-US" dirty="0" err="1" smtClean="0"/>
              <a:t>System.out.println</a:t>
            </a:r>
            <a:r>
              <a:rPr lang="en-US" dirty="0" smtClean="0"/>
              <a:t>("in </a:t>
            </a:r>
            <a:r>
              <a:rPr lang="en-US" dirty="0" err="1" smtClean="0"/>
              <a:t>init</a:t>
            </a:r>
            <a:r>
              <a:rPr lang="en-US" dirty="0" smtClean="0"/>
              <a:t>");</a:t>
            </a:r>
          </a:p>
          <a:p>
            <a:pPr marL="0" indent="0">
              <a:buNone/>
            </a:pPr>
            <a:r>
              <a:rPr lang="en-US" dirty="0" smtClean="0"/>
              <a:t>	}</a:t>
            </a:r>
          </a:p>
          <a:p>
            <a:pPr marL="0" indent="0">
              <a:buNone/>
            </a:pPr>
            <a:endParaRPr lang="en-US" dirty="0" smtClean="0"/>
          </a:p>
          <a:p>
            <a:pPr marL="0" indent="0">
              <a:buNone/>
            </a:pPr>
            <a:r>
              <a:rPr lang="en-US" dirty="0" smtClean="0"/>
              <a:t>	// service method</a:t>
            </a:r>
          </a:p>
          <a:p>
            <a:pPr marL="0" indent="0">
              <a:buNone/>
            </a:pPr>
            <a:r>
              <a:rPr lang="en-US" dirty="0" smtClean="0"/>
              <a:t>	public void service(</a:t>
            </a:r>
            <a:r>
              <a:rPr lang="en-US" dirty="0" err="1" smtClean="0"/>
              <a:t>ServletRequest</a:t>
            </a:r>
            <a:r>
              <a:rPr lang="en-US" dirty="0" smtClean="0"/>
              <a:t> </a:t>
            </a:r>
            <a:r>
              <a:rPr lang="en-US" dirty="0" err="1" smtClean="0"/>
              <a:t>req</a:t>
            </a:r>
            <a:r>
              <a:rPr lang="en-US" dirty="0" smtClean="0"/>
              <a:t>, </a:t>
            </a:r>
            <a:r>
              <a:rPr lang="en-US" dirty="0" err="1" smtClean="0"/>
              <a:t>ServletResponse</a:t>
            </a:r>
            <a:r>
              <a:rPr lang="en-US" dirty="0" smtClean="0"/>
              <a:t> res)</a:t>
            </a:r>
          </a:p>
          <a:p>
            <a:pPr marL="0" indent="0">
              <a:buNone/>
            </a:pPr>
            <a:r>
              <a:rPr lang="en-US" dirty="0" smtClean="0"/>
              <a:t>		throws </a:t>
            </a:r>
            <a:r>
              <a:rPr lang="en-US" dirty="0" err="1" smtClean="0"/>
              <a:t>ServletException</a:t>
            </a:r>
            <a:r>
              <a:rPr lang="en-US" dirty="0" smtClean="0"/>
              <a:t>, </a:t>
            </a:r>
            <a:r>
              <a:rPr lang="en-US" dirty="0" err="1" smtClean="0"/>
              <a:t>IOException</a:t>
            </a:r>
            <a:endParaRPr lang="en-US" dirty="0" smtClean="0"/>
          </a:p>
          <a:p>
            <a:pPr marL="0" indent="0">
              <a:buNone/>
            </a:pPr>
            <a:r>
              <a:rPr lang="en-US" dirty="0" smtClean="0"/>
              <a:t>	{</a:t>
            </a:r>
          </a:p>
          <a:p>
            <a:pPr marL="0" indent="0">
              <a:buNone/>
            </a:pPr>
            <a:r>
              <a:rPr lang="en-US" dirty="0" smtClean="0"/>
              <a:t>		</a:t>
            </a:r>
            <a:r>
              <a:rPr lang="en-US" dirty="0" err="1" smtClean="0"/>
              <a:t>res.setContenttype</a:t>
            </a:r>
            <a:r>
              <a:rPr lang="en-US" dirty="0" smtClean="0"/>
              <a:t>("text/html");</a:t>
            </a:r>
          </a:p>
          <a:p>
            <a:pPr marL="0" indent="0">
              <a:buNone/>
            </a:pPr>
            <a:r>
              <a:rPr lang="en-US" dirty="0" smtClean="0"/>
              <a:t>		</a:t>
            </a:r>
            <a:r>
              <a:rPr lang="en-US" dirty="0" err="1" smtClean="0"/>
              <a:t>PrintWriter</a:t>
            </a:r>
            <a:r>
              <a:rPr lang="en-US" dirty="0" smtClean="0"/>
              <a:t> pw = </a:t>
            </a:r>
            <a:r>
              <a:rPr lang="en-US" dirty="0" err="1" smtClean="0"/>
              <a:t>res.getWriter</a:t>
            </a:r>
            <a:r>
              <a:rPr lang="en-US" dirty="0" smtClean="0"/>
              <a:t>();</a:t>
            </a:r>
          </a:p>
          <a:p>
            <a:pPr marL="0" indent="0">
              <a:buNone/>
            </a:pPr>
            <a:r>
              <a:rPr lang="en-US" dirty="0" smtClean="0"/>
              <a:t>		</a:t>
            </a:r>
            <a:r>
              <a:rPr lang="en-US" dirty="0" err="1" smtClean="0"/>
              <a:t>pw.println</a:t>
            </a:r>
            <a:r>
              <a:rPr lang="en-US" dirty="0" smtClean="0"/>
              <a:t>("&lt;h2&gt;hello from life cycle servlet&lt;/h2&gt;");</a:t>
            </a:r>
          </a:p>
          <a:p>
            <a:pPr marL="0" indent="0">
              <a:buNone/>
            </a:pPr>
            <a:r>
              <a:rPr lang="en-US" dirty="0" smtClean="0"/>
              <a:t>		</a:t>
            </a:r>
            <a:r>
              <a:rPr lang="en-US" dirty="0" err="1" smtClean="0"/>
              <a:t>System.out.println</a:t>
            </a:r>
            <a:r>
              <a:rPr lang="en-US" dirty="0" smtClean="0"/>
              <a:t>("in service");</a:t>
            </a:r>
          </a:p>
          <a:p>
            <a:pPr marL="0" indent="0">
              <a:buNone/>
            </a:pPr>
            <a:r>
              <a:rPr lang="en-US" dirty="0" smtClean="0"/>
              <a:t>	}</a:t>
            </a:r>
          </a:p>
          <a:p>
            <a:pPr marL="0" indent="0">
              <a:buNone/>
            </a:pP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2950456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5897563"/>
          </a:xfrm>
        </p:spPr>
        <p:txBody>
          <a:bodyPr>
            <a:normAutofit fontScale="85000" lnSpcReduction="20000"/>
          </a:bodyPr>
          <a:lstStyle/>
          <a:p>
            <a:pPr marL="0" indent="0">
              <a:buNone/>
            </a:pPr>
            <a:r>
              <a:rPr lang="en-US" dirty="0" smtClean="0"/>
              <a:t>// destroy method</a:t>
            </a:r>
          </a:p>
          <a:p>
            <a:pPr marL="0" indent="0">
              <a:buNone/>
            </a:pPr>
            <a:r>
              <a:rPr lang="en-US" dirty="0" smtClean="0"/>
              <a:t>	public void destroy()</a:t>
            </a:r>
          </a:p>
          <a:p>
            <a:pPr marL="0" indent="0">
              <a:buNone/>
            </a:pPr>
            <a:r>
              <a:rPr lang="en-US" dirty="0" smtClean="0"/>
              <a:t>	{</a:t>
            </a:r>
          </a:p>
          <a:p>
            <a:pPr marL="0" indent="0">
              <a:buNone/>
            </a:pPr>
            <a:r>
              <a:rPr lang="en-US" dirty="0" smtClean="0"/>
              <a:t>		</a:t>
            </a:r>
            <a:r>
              <a:rPr lang="en-US" dirty="0" err="1" smtClean="0"/>
              <a:t>System.out.println</a:t>
            </a:r>
            <a:r>
              <a:rPr lang="en-US" dirty="0" smtClean="0"/>
              <a:t>("in destroy");</a:t>
            </a:r>
          </a:p>
          <a:p>
            <a:pPr marL="0" indent="0">
              <a:buNone/>
            </a:pPr>
            <a:r>
              <a:rPr lang="en-US" dirty="0" smtClean="0"/>
              <a:t>	}</a:t>
            </a:r>
          </a:p>
          <a:p>
            <a:pPr marL="0" indent="0">
              <a:buNone/>
            </a:pPr>
            <a:r>
              <a:rPr lang="en-US" dirty="0" smtClean="0"/>
              <a:t>	public String </a:t>
            </a:r>
            <a:r>
              <a:rPr lang="en-US" dirty="0" err="1" smtClean="0"/>
              <a:t>getServletInfo</a:t>
            </a:r>
            <a:r>
              <a:rPr lang="en-US" dirty="0" smtClean="0"/>
              <a:t>()</a:t>
            </a:r>
          </a:p>
          <a:p>
            <a:pPr marL="0" indent="0">
              <a:buNone/>
            </a:pPr>
            <a:r>
              <a:rPr lang="en-US" dirty="0" smtClean="0"/>
              <a:t>	{</a:t>
            </a:r>
          </a:p>
          <a:p>
            <a:pPr marL="0" indent="0">
              <a:buNone/>
            </a:pPr>
            <a:r>
              <a:rPr lang="en-US" dirty="0" smtClean="0"/>
              <a:t>		return "</a:t>
            </a:r>
            <a:r>
              <a:rPr lang="en-US" dirty="0" err="1" smtClean="0"/>
              <a:t>LifeCycleServlet</a:t>
            </a:r>
            <a:r>
              <a:rPr lang="en-US" dirty="0" smtClean="0"/>
              <a:t>";</a:t>
            </a:r>
          </a:p>
          <a:p>
            <a:pPr marL="0" indent="0">
              <a:buNone/>
            </a:pPr>
            <a:r>
              <a:rPr lang="en-US" dirty="0" smtClean="0"/>
              <a:t>	}</a:t>
            </a:r>
          </a:p>
          <a:p>
            <a:pPr marL="0" indent="0">
              <a:buNone/>
            </a:pPr>
            <a:r>
              <a:rPr lang="en-US" dirty="0" smtClean="0"/>
              <a:t>	public </a:t>
            </a:r>
            <a:r>
              <a:rPr lang="en-US" dirty="0" err="1" smtClean="0"/>
              <a:t>ServletConfig</a:t>
            </a:r>
            <a:r>
              <a:rPr lang="en-US" dirty="0" smtClean="0"/>
              <a:t> </a:t>
            </a:r>
            <a:r>
              <a:rPr lang="en-US" dirty="0" err="1" smtClean="0"/>
              <a:t>getServletConfig</a:t>
            </a:r>
            <a:r>
              <a:rPr lang="en-US" dirty="0" smtClean="0"/>
              <a:t>()</a:t>
            </a:r>
          </a:p>
          <a:p>
            <a:pPr marL="0" indent="0">
              <a:buNone/>
            </a:pPr>
            <a:r>
              <a:rPr lang="en-US" dirty="0" smtClean="0"/>
              <a:t>	{</a:t>
            </a:r>
          </a:p>
          <a:p>
            <a:pPr marL="0" indent="0">
              <a:buNone/>
            </a:pPr>
            <a:r>
              <a:rPr lang="en-US" dirty="0" smtClean="0"/>
              <a:t>		return </a:t>
            </a:r>
            <a:r>
              <a:rPr lang="en-US" dirty="0" err="1" smtClean="0"/>
              <a:t>config</a:t>
            </a:r>
            <a:r>
              <a:rPr lang="en-US" dirty="0" smtClean="0"/>
              <a:t>; // </a:t>
            </a:r>
            <a:r>
              <a:rPr lang="en-US" dirty="0" err="1" smtClean="0"/>
              <a:t>getServletConfig</a:t>
            </a:r>
            <a:endParaRPr lang="en-US" dirty="0" smtClean="0"/>
          </a:p>
          <a:p>
            <a:pPr marL="0" indent="0">
              <a:buNone/>
            </a:pPr>
            <a:r>
              <a:rPr lang="en-US" dirty="0" smtClean="0"/>
              <a:t>	}</a:t>
            </a:r>
          </a:p>
          <a:p>
            <a:pPr marL="0" indent="0">
              <a:buNone/>
            </a:pPr>
            <a:r>
              <a:rPr lang="en-US" dirty="0" smtClean="0"/>
              <a:t>}</a:t>
            </a:r>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233341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05800" cy="5821363"/>
          </a:xfrm>
        </p:spPr>
        <p:txBody>
          <a:bodyPr>
            <a:normAutofit fontScale="62500" lnSpcReduction="20000"/>
          </a:bodyPr>
          <a:lstStyle/>
          <a:p>
            <a:pPr fontAlgn="base"/>
            <a:r>
              <a:rPr lang="en-US" b="1" dirty="0"/>
              <a:t>Creating deployment descriptor(web.xml)</a:t>
            </a:r>
          </a:p>
          <a:p>
            <a:pPr fontAlgn="base"/>
            <a:r>
              <a:rPr lang="en-US" dirty="0"/>
              <a:t>As discussed in other posts about </a:t>
            </a:r>
            <a:r>
              <a:rPr lang="en-US" b="1" dirty="0"/>
              <a:t>web.xml</a:t>
            </a:r>
            <a:r>
              <a:rPr lang="en-US" dirty="0"/>
              <a:t> file we will just proceed to the creation of it in this article. </a:t>
            </a:r>
          </a:p>
          <a:p>
            <a:pPr marL="0" indent="0">
              <a:buNone/>
            </a:pPr>
            <a:r>
              <a:rPr lang="en-US" dirty="0" smtClean="0"/>
              <a:t>&lt;?xml version="1.0" encoding="UTF=8"?&gt;</a:t>
            </a:r>
          </a:p>
          <a:p>
            <a:pPr marL="0" indent="0">
              <a:buNone/>
            </a:pPr>
            <a:r>
              <a:rPr lang="en-US" dirty="0" smtClean="0"/>
              <a:t>&lt;web-app&gt;</a:t>
            </a:r>
          </a:p>
          <a:p>
            <a:pPr marL="0" indent="0">
              <a:buNone/>
            </a:pPr>
            <a:r>
              <a:rPr lang="en-US" dirty="0" smtClean="0"/>
              <a:t>	&lt;servlet&gt;</a:t>
            </a:r>
          </a:p>
          <a:p>
            <a:pPr marL="0" indent="0">
              <a:buNone/>
            </a:pPr>
            <a:r>
              <a:rPr lang="en-US" dirty="0" smtClean="0"/>
              <a:t>		&lt;servlet-name&gt;</a:t>
            </a:r>
            <a:r>
              <a:rPr lang="en-US" dirty="0" err="1" smtClean="0"/>
              <a:t>LifeCycleServlet</a:t>
            </a:r>
            <a:r>
              <a:rPr lang="en-US" dirty="0" smtClean="0"/>
              <a:t>&lt;/servlet-name&gt;</a:t>
            </a:r>
          </a:p>
          <a:p>
            <a:pPr marL="0" indent="0">
              <a:buNone/>
            </a:pPr>
            <a:r>
              <a:rPr lang="en-US" dirty="0" smtClean="0"/>
              <a:t>		&lt;servlet-class&gt;</a:t>
            </a:r>
            <a:r>
              <a:rPr lang="en-US" dirty="0" err="1" smtClean="0"/>
              <a:t>LifeCycleServlet</a:t>
            </a:r>
            <a:r>
              <a:rPr lang="en-US" dirty="0" smtClean="0"/>
              <a:t>&lt;/servlet-class&gt;</a:t>
            </a:r>
          </a:p>
          <a:p>
            <a:pPr marL="0" indent="0">
              <a:buNone/>
            </a:pPr>
            <a:r>
              <a:rPr lang="en-US" dirty="0" smtClean="0"/>
              <a:t>	&lt;/servlet&gt;</a:t>
            </a:r>
          </a:p>
          <a:p>
            <a:pPr marL="0" indent="0">
              <a:buNone/>
            </a:pPr>
            <a:r>
              <a:rPr lang="en-US" dirty="0" smtClean="0"/>
              <a:t>	&lt;servlet-mapping&gt;</a:t>
            </a:r>
          </a:p>
          <a:p>
            <a:pPr marL="0" indent="0">
              <a:buNone/>
            </a:pPr>
            <a:r>
              <a:rPr lang="en-US" dirty="0" smtClean="0"/>
              <a:t>		&lt;servlet-name&gt;</a:t>
            </a:r>
            <a:r>
              <a:rPr lang="en-US" dirty="0" err="1" smtClean="0"/>
              <a:t>LifeCycleServlet</a:t>
            </a:r>
            <a:r>
              <a:rPr lang="en-US" dirty="0" smtClean="0"/>
              <a:t>&lt;/servlet-name&gt;</a:t>
            </a:r>
          </a:p>
          <a:p>
            <a:pPr marL="0" indent="0">
              <a:buNone/>
            </a:pPr>
            <a:r>
              <a:rPr lang="en-US" dirty="0" smtClean="0"/>
              <a:t>		&lt;</a:t>
            </a:r>
            <a:r>
              <a:rPr lang="en-US" dirty="0" err="1" smtClean="0"/>
              <a:t>url</a:t>
            </a:r>
            <a:r>
              <a:rPr lang="en-US" dirty="0" smtClean="0"/>
              <a:t>-pattern&gt;/</a:t>
            </a:r>
            <a:r>
              <a:rPr lang="en-US" dirty="0" err="1" smtClean="0"/>
              <a:t>LifeCycleServlet</a:t>
            </a:r>
            <a:r>
              <a:rPr lang="en-US" dirty="0" smtClean="0"/>
              <a:t>&lt;/</a:t>
            </a:r>
            <a:r>
              <a:rPr lang="en-US" dirty="0" err="1" smtClean="0"/>
              <a:t>url</a:t>
            </a:r>
            <a:r>
              <a:rPr lang="en-US" dirty="0" smtClean="0"/>
              <a:t>-pattern&gt;</a:t>
            </a:r>
          </a:p>
          <a:p>
            <a:pPr marL="0" indent="0">
              <a:buNone/>
            </a:pPr>
            <a:r>
              <a:rPr lang="en-US" dirty="0" smtClean="0"/>
              <a:t>	&lt;/servlet-mapping&gt;</a:t>
            </a:r>
          </a:p>
          <a:p>
            <a:pPr marL="0" indent="0">
              <a:buNone/>
            </a:pPr>
            <a:r>
              <a:rPr lang="en-US" dirty="0" smtClean="0"/>
              <a:t>	&lt;session-</a:t>
            </a:r>
            <a:r>
              <a:rPr lang="en-US" dirty="0" err="1" smtClean="0"/>
              <a:t>config</a:t>
            </a:r>
            <a:r>
              <a:rPr lang="en-US" dirty="0" smtClean="0"/>
              <a:t>&gt;</a:t>
            </a:r>
          </a:p>
          <a:p>
            <a:pPr marL="0" indent="0">
              <a:buNone/>
            </a:pPr>
            <a:r>
              <a:rPr lang="en-US" dirty="0" smtClean="0"/>
              <a:t>		&lt;session-timeout&gt;</a:t>
            </a:r>
          </a:p>
          <a:p>
            <a:pPr marL="0" indent="0">
              <a:buNone/>
            </a:pPr>
            <a:r>
              <a:rPr lang="en-US" dirty="0" smtClean="0"/>
              <a:t>			30</a:t>
            </a:r>
          </a:p>
          <a:p>
            <a:pPr marL="0" indent="0">
              <a:buNone/>
            </a:pPr>
            <a:r>
              <a:rPr lang="en-US" dirty="0" smtClean="0"/>
              <a:t>		&lt;/session-</a:t>
            </a:r>
            <a:r>
              <a:rPr lang="en-US" dirty="0" err="1" smtClean="0"/>
              <a:t>config</a:t>
            </a:r>
            <a:r>
              <a:rPr lang="en-US" dirty="0" smtClean="0"/>
              <a:t>&gt;</a:t>
            </a:r>
          </a:p>
          <a:p>
            <a:pPr marL="0" indent="0">
              <a:buNone/>
            </a:pPr>
            <a:r>
              <a:rPr lang="en-US" dirty="0" smtClean="0"/>
              <a:t>&lt;/web-app&gt;</a:t>
            </a:r>
          </a:p>
          <a:p>
            <a:pPr marL="0" indent="0">
              <a:buNone/>
            </a:pPr>
            <a:endParaRPr lang="en-US" dirty="0"/>
          </a:p>
        </p:txBody>
      </p:sp>
    </p:spTree>
    <p:extLst>
      <p:ext uri="{BB962C8B-B14F-4D97-AF65-F5344CB8AC3E}">
        <p14:creationId xmlns:p14="http://schemas.microsoft.com/office/powerpoint/2010/main" val="4102363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normAutofit/>
          </a:bodyPr>
          <a:lstStyle/>
          <a:p>
            <a:pPr fontAlgn="base"/>
            <a:r>
              <a:rPr lang="en-US" b="1" dirty="0"/>
              <a:t>How to run the above program ?</a:t>
            </a:r>
          </a:p>
          <a:p>
            <a:pPr fontAlgn="base"/>
            <a:r>
              <a:rPr lang="en-US" sz="2400" dirty="0"/>
              <a:t>It is important to make sure that you have some server like </a:t>
            </a:r>
            <a:r>
              <a:rPr lang="en-US" sz="2400" b="1" dirty="0"/>
              <a:t>Apache Tomcat </a:t>
            </a:r>
            <a:r>
              <a:rPr lang="en-US" sz="2400" dirty="0"/>
              <a:t>installed and configured with the IDE of your choice like </a:t>
            </a:r>
            <a:r>
              <a:rPr lang="en-US" sz="2400" dirty="0" err="1"/>
              <a:t>Netbeans</a:t>
            </a:r>
            <a:r>
              <a:rPr lang="en-US" sz="2400" dirty="0"/>
              <a:t>.</a:t>
            </a:r>
            <a:br>
              <a:rPr lang="en-US" sz="2400" dirty="0"/>
            </a:br>
            <a:r>
              <a:rPr lang="en-US" sz="2400" dirty="0"/>
              <a:t>Now, if the above condition is fulfilled then you can simply create the above three files under </a:t>
            </a:r>
            <a:r>
              <a:rPr lang="en-US" sz="2400" b="1" dirty="0"/>
              <a:t>Web application</a:t>
            </a:r>
            <a:r>
              <a:rPr lang="en-US" sz="2400" dirty="0"/>
              <a:t> project and then simply run the above application.</a:t>
            </a:r>
            <a:br>
              <a:rPr lang="en-US" sz="2400" dirty="0"/>
            </a:br>
            <a:r>
              <a:rPr lang="en-US" sz="2400" dirty="0"/>
              <a:t>First of all the </a:t>
            </a:r>
            <a:r>
              <a:rPr lang="en-US" sz="2400" b="1" dirty="0"/>
              <a:t>index.html</a:t>
            </a:r>
            <a:r>
              <a:rPr lang="en-US" sz="2400" dirty="0"/>
              <a:t> file gets executed and then when the button is clicked the request goes to the Servlet, in this case </a:t>
            </a:r>
            <a:r>
              <a:rPr lang="en-US" sz="2400" dirty="0" err="1"/>
              <a:t>LifeCycleServlet</a:t>
            </a:r>
            <a:r>
              <a:rPr lang="en-US" sz="2400" dirty="0"/>
              <a:t> and the service() method handles the request. </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648200"/>
            <a:ext cx="4953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020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153400" cy="5364163"/>
          </a:xfrm>
        </p:spPr>
        <p:txBody>
          <a:bodyPr/>
          <a:lstStyle/>
          <a:p>
            <a:r>
              <a:rPr lang="en-US" dirty="0"/>
              <a:t>When the above </a:t>
            </a:r>
            <a:r>
              <a:rPr lang="en-US" b="1" dirty="0"/>
              <a:t>invoke life cycle servlet</a:t>
            </a:r>
            <a:r>
              <a:rPr lang="en-US" dirty="0"/>
              <a:t> button is clicked the code under service() method of </a:t>
            </a:r>
            <a:r>
              <a:rPr lang="en-US" dirty="0" err="1"/>
              <a:t>LifeCycleServlet</a:t>
            </a:r>
            <a:r>
              <a:rPr lang="en-US" dirty="0"/>
              <a:t> is executed and the below output is obtained :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852862"/>
            <a:ext cx="373380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8344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smtClean="0"/>
              <a:t>Servlet Life cycle</a:t>
            </a:r>
            <a:endParaRPr lang="en-US" b="1" dirty="0"/>
          </a:p>
        </p:txBody>
      </p:sp>
      <p:sp>
        <p:nvSpPr>
          <p:cNvPr id="3" name="Content Placeholder 2"/>
          <p:cNvSpPr>
            <a:spLocks noGrp="1"/>
          </p:cNvSpPr>
          <p:nvPr>
            <p:ph idx="1"/>
          </p:nvPr>
        </p:nvSpPr>
        <p:spPr>
          <a:xfrm>
            <a:off x="381000" y="914400"/>
            <a:ext cx="8305800" cy="5715000"/>
          </a:xfrm>
        </p:spPr>
        <p:txBody>
          <a:bodyPr>
            <a:normAutofit fontScale="92500" lnSpcReduction="20000"/>
          </a:bodyPr>
          <a:lstStyle/>
          <a:p>
            <a:r>
              <a:rPr lang="en-US" dirty="0" smtClean="0"/>
              <a:t>The </a:t>
            </a:r>
            <a:r>
              <a:rPr lang="en-US" b="1" dirty="0" smtClean="0"/>
              <a:t>Servlet Life Cycle</a:t>
            </a:r>
            <a:r>
              <a:rPr lang="en-US" dirty="0" smtClean="0"/>
              <a:t> defines the process from the creation of a servlet instance to its destruction by the servlet container (like Apache Tomcat). It is defined by the </a:t>
            </a:r>
            <a:r>
              <a:rPr lang="en-US" b="1" dirty="0" err="1" smtClean="0"/>
              <a:t>javax.servlet.Servlet</a:t>
            </a:r>
            <a:r>
              <a:rPr lang="en-US" dirty="0" smtClean="0"/>
              <a:t> interface and managed by the servlet container.</a:t>
            </a:r>
          </a:p>
          <a:p>
            <a:pPr marL="0" indent="0">
              <a:buNone/>
            </a:pPr>
            <a:endParaRPr lang="en-US" dirty="0"/>
          </a:p>
          <a:p>
            <a:r>
              <a:rPr lang="en-US" b="1" dirty="0" smtClean="0"/>
              <a:t>Stages of Servlet Life Cycle</a:t>
            </a:r>
          </a:p>
          <a:p>
            <a:r>
              <a:rPr lang="en-US" dirty="0" smtClean="0"/>
              <a:t>The servlet life cycle consists of </a:t>
            </a:r>
            <a:r>
              <a:rPr lang="en-US" b="1" dirty="0" smtClean="0"/>
              <a:t>5 key stages</a:t>
            </a:r>
            <a:r>
              <a:rPr lang="en-US" dirty="0" smtClean="0"/>
              <a:t>:</a:t>
            </a:r>
          </a:p>
          <a:p>
            <a:r>
              <a:rPr lang="en-US" b="1" dirty="0" smtClean="0"/>
              <a:t>Loading and Instantiation</a:t>
            </a:r>
            <a:endParaRPr lang="en-US" dirty="0" smtClean="0"/>
          </a:p>
          <a:p>
            <a:r>
              <a:rPr lang="en-US" b="1" dirty="0" smtClean="0"/>
              <a:t>Initialization (</a:t>
            </a:r>
            <a:r>
              <a:rPr lang="en-US" b="1" dirty="0" err="1" smtClean="0"/>
              <a:t>init</a:t>
            </a:r>
            <a:r>
              <a:rPr lang="en-US" b="1" dirty="0" smtClean="0"/>
              <a:t>() method)</a:t>
            </a:r>
            <a:endParaRPr lang="en-US" dirty="0" smtClean="0"/>
          </a:p>
          <a:p>
            <a:r>
              <a:rPr lang="en-US" b="1" dirty="0" smtClean="0"/>
              <a:t>Request Handling (service() method)</a:t>
            </a:r>
            <a:endParaRPr lang="en-US" dirty="0" smtClean="0"/>
          </a:p>
          <a:p>
            <a:r>
              <a:rPr lang="en-US" b="1" dirty="0" smtClean="0"/>
              <a:t>Destruction (destroy() method)</a:t>
            </a:r>
            <a:endParaRPr lang="en-US" dirty="0" smtClean="0"/>
          </a:p>
          <a:p>
            <a:r>
              <a:rPr lang="en-US" b="1" dirty="0" smtClean="0"/>
              <a:t>Garbage Collection</a:t>
            </a:r>
            <a:endParaRPr lang="en-US" dirty="0" smtClean="0"/>
          </a:p>
          <a:p>
            <a:endParaRPr lang="en-US" dirty="0"/>
          </a:p>
        </p:txBody>
      </p:sp>
    </p:spTree>
    <p:extLst>
      <p:ext uri="{BB962C8B-B14F-4D97-AF65-F5344CB8AC3E}">
        <p14:creationId xmlns:p14="http://schemas.microsoft.com/office/powerpoint/2010/main" val="142236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6400800"/>
          </a:xfrm>
        </p:spPr>
        <p:txBody>
          <a:bodyPr>
            <a:normAutofit fontScale="92500" lnSpcReduction="20000"/>
          </a:bodyPr>
          <a:lstStyle/>
          <a:p>
            <a:r>
              <a:rPr lang="en-US" b="1" dirty="0" smtClean="0"/>
              <a:t>1. Loading and Instantiation</a:t>
            </a:r>
          </a:p>
          <a:p>
            <a:r>
              <a:rPr lang="en-US" dirty="0" smtClean="0"/>
              <a:t>The servlet container </a:t>
            </a:r>
            <a:r>
              <a:rPr lang="en-US" b="1" dirty="0" smtClean="0"/>
              <a:t>loads</a:t>
            </a:r>
            <a:r>
              <a:rPr lang="en-US" dirty="0" smtClean="0"/>
              <a:t> the servlet class when:</a:t>
            </a:r>
          </a:p>
          <a:p>
            <a:pPr lvl="1"/>
            <a:r>
              <a:rPr lang="en-US" dirty="0" smtClean="0"/>
              <a:t>The servlet is requested for the first time.</a:t>
            </a:r>
          </a:p>
          <a:p>
            <a:pPr lvl="1"/>
            <a:r>
              <a:rPr lang="en-US" dirty="0" smtClean="0"/>
              <a:t>The servlet is configured to load at startup using &lt;load-on-startup&gt; in web.xml.</a:t>
            </a:r>
          </a:p>
          <a:p>
            <a:r>
              <a:rPr lang="en-US" dirty="0" smtClean="0"/>
              <a:t>The container creates an </a:t>
            </a:r>
            <a:r>
              <a:rPr lang="en-US" b="1" dirty="0" smtClean="0"/>
              <a:t>instance</a:t>
            </a:r>
            <a:r>
              <a:rPr lang="en-US" dirty="0" smtClean="0"/>
              <a:t> of the servlet using the </a:t>
            </a:r>
            <a:r>
              <a:rPr lang="en-US" b="1" dirty="0" smtClean="0"/>
              <a:t>default constructor</a:t>
            </a:r>
            <a:r>
              <a:rPr lang="en-US" dirty="0" smtClean="0"/>
              <a:t>.</a:t>
            </a:r>
          </a:p>
          <a:p>
            <a:endParaRPr lang="en-US" dirty="0" smtClean="0"/>
          </a:p>
          <a:p>
            <a:r>
              <a:rPr lang="en-US" b="1" dirty="0" smtClean="0"/>
              <a:t>Example-</a:t>
            </a:r>
            <a:endParaRPr lang="en-US" b="1" dirty="0"/>
          </a:p>
          <a:p>
            <a:pPr marL="0" indent="0">
              <a:buNone/>
            </a:pPr>
            <a:r>
              <a:rPr lang="en-US" dirty="0" smtClean="0"/>
              <a:t>public class </a:t>
            </a:r>
            <a:r>
              <a:rPr lang="en-US" dirty="0" err="1" smtClean="0"/>
              <a:t>MyServlet</a:t>
            </a:r>
            <a:r>
              <a:rPr lang="en-US" dirty="0" smtClean="0"/>
              <a:t> extends </a:t>
            </a:r>
            <a:r>
              <a:rPr lang="en-US" dirty="0" err="1" smtClean="0"/>
              <a:t>HttpServlet</a:t>
            </a:r>
            <a:r>
              <a:rPr lang="en-US" dirty="0" smtClean="0"/>
              <a:t> {</a:t>
            </a:r>
          </a:p>
          <a:p>
            <a:pPr marL="0" indent="0">
              <a:buNone/>
            </a:pPr>
            <a:r>
              <a:rPr lang="en-US" dirty="0" smtClean="0"/>
              <a:t>    public </a:t>
            </a:r>
            <a:r>
              <a:rPr lang="en-US" dirty="0" err="1" smtClean="0"/>
              <a:t>MyServlet</a:t>
            </a:r>
            <a:r>
              <a:rPr lang="en-US" dirty="0" smtClean="0"/>
              <a:t>() {</a:t>
            </a:r>
          </a:p>
          <a:p>
            <a:pPr marL="0" indent="0">
              <a:buNone/>
            </a:pPr>
            <a:r>
              <a:rPr lang="en-US" dirty="0" smtClean="0"/>
              <a:t>        </a:t>
            </a:r>
            <a:r>
              <a:rPr lang="en-US" dirty="0" err="1" smtClean="0"/>
              <a:t>System.out.println</a:t>
            </a:r>
            <a:r>
              <a:rPr lang="en-US" dirty="0" smtClean="0"/>
              <a:t>("Servlet instance created");</a:t>
            </a:r>
          </a:p>
          <a:p>
            <a:pPr marL="0" indent="0">
              <a:buNone/>
            </a:pPr>
            <a:r>
              <a:rPr lang="en-US" dirty="0" smtClean="0"/>
              <a:t>    }</a:t>
            </a:r>
          </a:p>
          <a:p>
            <a:pPr marL="0" indent="0">
              <a:buNone/>
            </a:pPr>
            <a:r>
              <a:rPr lang="en-US" dirty="0" smtClean="0"/>
              <a:t>}</a:t>
            </a:r>
          </a:p>
          <a:p>
            <a:pPr marL="0" indent="0">
              <a:buNone/>
            </a:pPr>
            <a:endParaRPr lang="en-US" dirty="0" smtClean="0"/>
          </a:p>
          <a:p>
            <a:endParaRPr lang="en-US" dirty="0"/>
          </a:p>
        </p:txBody>
      </p:sp>
    </p:spTree>
    <p:extLst>
      <p:ext uri="{BB962C8B-B14F-4D97-AF65-F5344CB8AC3E}">
        <p14:creationId xmlns:p14="http://schemas.microsoft.com/office/powerpoint/2010/main" val="47655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normAutofit fontScale="92500" lnSpcReduction="20000"/>
          </a:bodyPr>
          <a:lstStyle/>
          <a:p>
            <a:r>
              <a:rPr lang="en-US" b="1" dirty="0" smtClean="0"/>
              <a:t>2. Initialization (</a:t>
            </a:r>
            <a:r>
              <a:rPr lang="en-US" b="1" dirty="0" err="1" smtClean="0"/>
              <a:t>init</a:t>
            </a:r>
            <a:r>
              <a:rPr lang="en-US" b="1" dirty="0" smtClean="0"/>
              <a:t>() method)</a:t>
            </a:r>
          </a:p>
          <a:p>
            <a:r>
              <a:rPr lang="en-US" dirty="0" smtClean="0"/>
              <a:t>The servlet container calls the </a:t>
            </a:r>
            <a:r>
              <a:rPr lang="en-US" b="1" dirty="0" err="1" smtClean="0"/>
              <a:t>init</a:t>
            </a:r>
            <a:r>
              <a:rPr lang="en-US" b="1" dirty="0" smtClean="0"/>
              <a:t>()</a:t>
            </a:r>
            <a:r>
              <a:rPr lang="en-US" dirty="0" smtClean="0"/>
              <a:t> method </a:t>
            </a:r>
            <a:r>
              <a:rPr lang="en-US" b="1" dirty="0" smtClean="0"/>
              <a:t>once</a:t>
            </a:r>
            <a:r>
              <a:rPr lang="en-US" dirty="0" smtClean="0"/>
              <a:t> after instantiating the servlet.</a:t>
            </a:r>
          </a:p>
          <a:p>
            <a:r>
              <a:rPr lang="en-US" dirty="0" smtClean="0"/>
              <a:t>This method is used to perform </a:t>
            </a:r>
            <a:r>
              <a:rPr lang="en-US" b="1" dirty="0" smtClean="0"/>
              <a:t>initialization</a:t>
            </a:r>
            <a:r>
              <a:rPr lang="en-US" dirty="0" smtClean="0"/>
              <a:t> tasks such as: </a:t>
            </a:r>
          </a:p>
          <a:p>
            <a:pPr lvl="1"/>
            <a:r>
              <a:rPr lang="en-US" dirty="0" smtClean="0"/>
              <a:t>Establishing a database connection.</a:t>
            </a:r>
          </a:p>
          <a:p>
            <a:pPr lvl="1"/>
            <a:r>
              <a:rPr lang="en-US" dirty="0" smtClean="0"/>
              <a:t>Loading configuration settings.</a:t>
            </a:r>
          </a:p>
          <a:p>
            <a:pPr lvl="1"/>
            <a:endParaRPr lang="en-US" dirty="0"/>
          </a:p>
          <a:p>
            <a:pPr marL="457200" lvl="1" indent="0">
              <a:buNone/>
            </a:pPr>
            <a:r>
              <a:rPr lang="en-US" b="1" dirty="0" smtClean="0"/>
              <a:t>Example-</a:t>
            </a:r>
            <a:endParaRPr lang="en-US" b="1" dirty="0"/>
          </a:p>
          <a:p>
            <a:pPr marL="457200" lvl="1" indent="0">
              <a:buNone/>
            </a:pPr>
            <a:r>
              <a:rPr lang="en-US" dirty="0" smtClean="0"/>
              <a:t>@Override</a:t>
            </a:r>
          </a:p>
          <a:p>
            <a:pPr marL="457200" lvl="1" indent="0">
              <a:buNone/>
            </a:pPr>
            <a:r>
              <a:rPr lang="en-US" dirty="0" smtClean="0"/>
              <a:t>public void </a:t>
            </a:r>
            <a:r>
              <a:rPr lang="en-US" dirty="0" err="1" smtClean="0"/>
              <a:t>init</a:t>
            </a:r>
            <a:r>
              <a:rPr lang="en-US" dirty="0" smtClean="0"/>
              <a:t>() throws </a:t>
            </a:r>
            <a:r>
              <a:rPr lang="en-US" dirty="0" err="1" smtClean="0"/>
              <a:t>ServletException</a:t>
            </a:r>
            <a:r>
              <a:rPr lang="en-US" dirty="0" smtClean="0"/>
              <a:t> {</a:t>
            </a:r>
          </a:p>
          <a:p>
            <a:pPr marL="457200" lvl="1" indent="0">
              <a:buNone/>
            </a:pPr>
            <a:r>
              <a:rPr lang="en-US" dirty="0" smtClean="0"/>
              <a:t>    </a:t>
            </a:r>
            <a:r>
              <a:rPr lang="en-US" dirty="0" err="1" smtClean="0"/>
              <a:t>System.out.println</a:t>
            </a:r>
            <a:r>
              <a:rPr lang="en-US" dirty="0" smtClean="0"/>
              <a:t>("Servlet is being initialized");</a:t>
            </a:r>
          </a:p>
          <a:p>
            <a:pPr marL="457200" lvl="1" indent="0">
              <a:buNone/>
            </a:pPr>
            <a:r>
              <a:rPr lang="en-US" dirty="0" smtClean="0"/>
              <a:t>}</a:t>
            </a:r>
          </a:p>
          <a:p>
            <a:pPr marL="457200" lvl="1" indent="0">
              <a:buNone/>
            </a:pPr>
            <a:endParaRPr lang="en-US" dirty="0" smtClean="0"/>
          </a:p>
          <a:p>
            <a:pPr marL="0" indent="0">
              <a:buNone/>
            </a:pPr>
            <a:endParaRPr lang="en-US" dirty="0"/>
          </a:p>
        </p:txBody>
      </p:sp>
    </p:spTree>
    <p:extLst>
      <p:ext uri="{BB962C8B-B14F-4D97-AF65-F5344CB8AC3E}">
        <p14:creationId xmlns:p14="http://schemas.microsoft.com/office/powerpoint/2010/main" val="953429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458200" cy="6324600"/>
          </a:xfrm>
        </p:spPr>
        <p:txBody>
          <a:bodyPr>
            <a:normAutofit fontScale="70000" lnSpcReduction="20000"/>
          </a:bodyPr>
          <a:lstStyle/>
          <a:p>
            <a:r>
              <a:rPr lang="en-US" b="1" dirty="0" smtClean="0"/>
              <a:t>3. Request Handling (service() method)</a:t>
            </a:r>
          </a:p>
          <a:p>
            <a:r>
              <a:rPr lang="en-US" dirty="0" smtClean="0"/>
              <a:t>The container calls the </a:t>
            </a:r>
            <a:r>
              <a:rPr lang="en-US" b="1" dirty="0" smtClean="0"/>
              <a:t>service()</a:t>
            </a:r>
            <a:r>
              <a:rPr lang="en-US" dirty="0" smtClean="0"/>
              <a:t> method each time a request is received.</a:t>
            </a:r>
          </a:p>
          <a:p>
            <a:r>
              <a:rPr lang="en-US" dirty="0" smtClean="0"/>
              <a:t>The service() method determines the type of request (GET, POST, etc.) and calls the appropriate method: </a:t>
            </a:r>
          </a:p>
          <a:p>
            <a:pPr lvl="1"/>
            <a:r>
              <a:rPr lang="en-US" b="1" dirty="0" err="1" smtClean="0"/>
              <a:t>doGet</a:t>
            </a:r>
            <a:r>
              <a:rPr lang="en-US" b="1" dirty="0" smtClean="0"/>
              <a:t>()</a:t>
            </a:r>
            <a:r>
              <a:rPr lang="en-US" dirty="0" smtClean="0"/>
              <a:t> → Handles GET requests</a:t>
            </a:r>
          </a:p>
          <a:p>
            <a:pPr lvl="1"/>
            <a:r>
              <a:rPr lang="en-US" b="1" dirty="0" err="1" smtClean="0"/>
              <a:t>doPost</a:t>
            </a:r>
            <a:r>
              <a:rPr lang="en-US" b="1" dirty="0" smtClean="0"/>
              <a:t>()</a:t>
            </a:r>
            <a:r>
              <a:rPr lang="en-US" dirty="0" smtClean="0"/>
              <a:t> → Handles POST requests</a:t>
            </a:r>
          </a:p>
          <a:p>
            <a:pPr lvl="1"/>
            <a:r>
              <a:rPr lang="en-US" b="1" dirty="0" err="1" smtClean="0"/>
              <a:t>doPut</a:t>
            </a:r>
            <a:r>
              <a:rPr lang="en-US" b="1" dirty="0" smtClean="0"/>
              <a:t>()</a:t>
            </a:r>
            <a:r>
              <a:rPr lang="en-US" dirty="0" smtClean="0"/>
              <a:t> → Handles PUT requests</a:t>
            </a:r>
          </a:p>
          <a:p>
            <a:pPr lvl="1"/>
            <a:r>
              <a:rPr lang="en-US" b="1" dirty="0" err="1" smtClean="0"/>
              <a:t>doDelete</a:t>
            </a:r>
            <a:r>
              <a:rPr lang="en-US" b="1" dirty="0" smtClean="0"/>
              <a:t>()</a:t>
            </a:r>
            <a:r>
              <a:rPr lang="en-US" dirty="0" smtClean="0"/>
              <a:t> → Handles DELETE requests</a:t>
            </a:r>
          </a:p>
          <a:p>
            <a:pPr lvl="1"/>
            <a:endParaRPr lang="en-US" dirty="0"/>
          </a:p>
          <a:p>
            <a:pPr marL="457200" lvl="1" indent="0">
              <a:buNone/>
            </a:pPr>
            <a:r>
              <a:rPr lang="en-US" sz="3400" b="1" dirty="0" smtClean="0"/>
              <a:t>Example-</a:t>
            </a:r>
          </a:p>
          <a:p>
            <a:pPr marL="457200" lvl="1" indent="0">
              <a:buNone/>
            </a:pPr>
            <a:r>
              <a:rPr lang="en-US" dirty="0" smtClean="0"/>
              <a:t>@Override</a:t>
            </a:r>
          </a:p>
          <a:p>
            <a:pPr marL="457200" lvl="1" indent="0">
              <a:buNone/>
            </a:pPr>
            <a:r>
              <a:rPr lang="en-US" dirty="0" smtClean="0"/>
              <a:t>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457200" lvl="1"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457200" lvl="1" indent="0">
              <a:buNone/>
            </a:pPr>
            <a:r>
              <a:rPr lang="en-US" dirty="0" smtClean="0"/>
              <a:t>    </a:t>
            </a:r>
            <a:r>
              <a:rPr lang="en-US" dirty="0" err="1" smtClean="0"/>
              <a:t>response.setContentType</a:t>
            </a:r>
            <a:r>
              <a:rPr lang="en-US" dirty="0" smtClean="0"/>
              <a:t>("text/html");</a:t>
            </a:r>
          </a:p>
          <a:p>
            <a:pPr marL="457200" lvl="1"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457200" lvl="1" indent="0">
              <a:buNone/>
            </a:pPr>
            <a:r>
              <a:rPr lang="en-US" dirty="0" smtClean="0"/>
              <a:t>    </a:t>
            </a:r>
            <a:r>
              <a:rPr lang="en-US" dirty="0" err="1" smtClean="0"/>
              <a:t>out.println</a:t>
            </a:r>
            <a:r>
              <a:rPr lang="en-US" dirty="0" smtClean="0"/>
              <a:t>("&lt;h1&gt;Hello, this is a GET request!&lt;/h1&gt;");</a:t>
            </a:r>
          </a:p>
          <a:p>
            <a:pPr marL="457200" lvl="1" indent="0">
              <a:buNone/>
            </a:pPr>
            <a:r>
              <a:rPr lang="en-US" dirty="0" smtClean="0"/>
              <a:t>}</a:t>
            </a:r>
          </a:p>
          <a:p>
            <a:pPr marL="457200" lvl="1" indent="0">
              <a:buNone/>
            </a:pPr>
            <a:endParaRPr lang="en-US" dirty="0" smtClean="0"/>
          </a:p>
          <a:p>
            <a:endParaRPr lang="en-US" dirty="0"/>
          </a:p>
        </p:txBody>
      </p:sp>
    </p:spTree>
    <p:extLst>
      <p:ext uri="{BB962C8B-B14F-4D97-AF65-F5344CB8AC3E}">
        <p14:creationId xmlns:p14="http://schemas.microsoft.com/office/powerpoint/2010/main" val="3991797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6248400"/>
          </a:xfrm>
        </p:spPr>
        <p:txBody>
          <a:bodyPr>
            <a:normAutofit fontScale="92500" lnSpcReduction="10000"/>
          </a:bodyPr>
          <a:lstStyle/>
          <a:p>
            <a:r>
              <a:rPr lang="en-US" b="1" dirty="0" smtClean="0"/>
              <a:t>4. Destruction (destroy() method)</a:t>
            </a:r>
          </a:p>
          <a:p>
            <a:r>
              <a:rPr lang="en-US" dirty="0" smtClean="0"/>
              <a:t>The container calls the </a:t>
            </a:r>
            <a:r>
              <a:rPr lang="en-US" b="1" dirty="0" smtClean="0"/>
              <a:t>destroy()</a:t>
            </a:r>
            <a:r>
              <a:rPr lang="en-US" dirty="0" smtClean="0"/>
              <a:t> method </a:t>
            </a:r>
            <a:r>
              <a:rPr lang="en-US" b="1" dirty="0" smtClean="0"/>
              <a:t>only once</a:t>
            </a:r>
            <a:r>
              <a:rPr lang="en-US" dirty="0" smtClean="0"/>
              <a:t> before removing the servlet instance.</a:t>
            </a:r>
          </a:p>
          <a:p>
            <a:r>
              <a:rPr lang="en-US" dirty="0" smtClean="0"/>
              <a:t>Used for </a:t>
            </a:r>
            <a:r>
              <a:rPr lang="en-US" b="1" dirty="0" smtClean="0"/>
              <a:t>cleanup</a:t>
            </a:r>
            <a:r>
              <a:rPr lang="en-US" dirty="0" smtClean="0"/>
              <a:t> tasks such as: </a:t>
            </a:r>
          </a:p>
          <a:p>
            <a:pPr lvl="1"/>
            <a:r>
              <a:rPr lang="en-US" dirty="0" smtClean="0"/>
              <a:t>Closing database connections.</a:t>
            </a:r>
          </a:p>
          <a:p>
            <a:pPr lvl="1"/>
            <a:r>
              <a:rPr lang="en-US" dirty="0" smtClean="0"/>
              <a:t>Releasing memory resources.</a:t>
            </a:r>
          </a:p>
          <a:p>
            <a:endParaRPr lang="en-US" dirty="0" smtClean="0"/>
          </a:p>
          <a:p>
            <a:r>
              <a:rPr lang="en-US" dirty="0" smtClean="0"/>
              <a:t>Example-</a:t>
            </a:r>
          </a:p>
          <a:p>
            <a:pPr marL="0" indent="0">
              <a:buNone/>
            </a:pPr>
            <a:r>
              <a:rPr lang="en-US" dirty="0" smtClean="0"/>
              <a:t>@Override</a:t>
            </a:r>
          </a:p>
          <a:p>
            <a:pPr marL="0" indent="0">
              <a:buNone/>
            </a:pPr>
            <a:r>
              <a:rPr lang="en-US" dirty="0" smtClean="0"/>
              <a:t>public void destroy() {</a:t>
            </a:r>
          </a:p>
          <a:p>
            <a:pPr marL="0" indent="0">
              <a:buNone/>
            </a:pPr>
            <a:r>
              <a:rPr lang="en-US" dirty="0" smtClean="0"/>
              <a:t>    </a:t>
            </a:r>
            <a:r>
              <a:rPr lang="en-US" dirty="0" err="1" smtClean="0"/>
              <a:t>System.out.println</a:t>
            </a:r>
            <a:r>
              <a:rPr lang="en-US" dirty="0" smtClean="0"/>
              <a:t>("Servlet is being destroyed");</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3125480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lstStyle/>
          <a:p>
            <a:r>
              <a:rPr lang="en-US" b="1" dirty="0" smtClean="0"/>
              <a:t>5. Garbage Collection</a:t>
            </a:r>
          </a:p>
          <a:p>
            <a:r>
              <a:rPr lang="en-US" dirty="0" smtClean="0"/>
              <a:t>After the destroy() method is called, the servlet object is eligible for </a:t>
            </a:r>
            <a:r>
              <a:rPr lang="en-US" b="1" dirty="0" smtClean="0"/>
              <a:t>garbage collection</a:t>
            </a:r>
            <a:r>
              <a:rPr lang="en-US" dirty="0" smtClean="0"/>
              <a:t> by the JVM.</a:t>
            </a:r>
          </a:p>
          <a:p>
            <a:r>
              <a:rPr lang="en-US" dirty="0" smtClean="0"/>
              <a:t>The servlet container reclaims memory used by the servlet instance.</a:t>
            </a:r>
          </a:p>
          <a:p>
            <a:endParaRPr lang="en-US" dirty="0"/>
          </a:p>
        </p:txBody>
      </p:sp>
    </p:spTree>
    <p:extLst>
      <p:ext uri="{BB962C8B-B14F-4D97-AF65-F5344CB8AC3E}">
        <p14:creationId xmlns:p14="http://schemas.microsoft.com/office/powerpoint/2010/main" val="1711951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715962"/>
          </a:xfrm>
        </p:spPr>
        <p:txBody>
          <a:bodyPr>
            <a:normAutofit fontScale="90000"/>
          </a:bodyPr>
          <a:lstStyle/>
          <a:p>
            <a:pPr algn="l"/>
            <a:r>
              <a:rPr lang="en-US" b="1" dirty="0" smtClean="0"/>
              <a:t>Complete Example-</a:t>
            </a:r>
            <a:r>
              <a:rPr lang="en-US" dirty="0" smtClean="0"/>
              <a:t/>
            </a:r>
            <a:br>
              <a:rPr lang="en-US" dirty="0" smtClean="0"/>
            </a:br>
            <a:endParaRPr lang="en-US" dirty="0"/>
          </a:p>
        </p:txBody>
      </p:sp>
      <p:sp>
        <p:nvSpPr>
          <p:cNvPr id="3" name="Content Placeholder 2"/>
          <p:cNvSpPr>
            <a:spLocks noGrp="1"/>
          </p:cNvSpPr>
          <p:nvPr>
            <p:ph idx="1"/>
          </p:nvPr>
        </p:nvSpPr>
        <p:spPr>
          <a:xfrm>
            <a:off x="457200" y="838200"/>
            <a:ext cx="8229600" cy="5715000"/>
          </a:xfrm>
        </p:spPr>
        <p:txBody>
          <a:bodyPr>
            <a:normAutofit fontScale="70000" lnSpcReduction="20000"/>
          </a:bodyPr>
          <a:lstStyle/>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MyServlet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 Constructor (Step 1: Instantiation)</a:t>
            </a:r>
          </a:p>
          <a:p>
            <a:pPr marL="0" indent="0">
              <a:buNone/>
            </a:pPr>
            <a:r>
              <a:rPr lang="en-US" dirty="0" smtClean="0"/>
              <a:t>    public </a:t>
            </a:r>
            <a:r>
              <a:rPr lang="en-US" dirty="0" err="1" smtClean="0"/>
              <a:t>MyServlet</a:t>
            </a:r>
            <a:r>
              <a:rPr lang="en-US" dirty="0" smtClean="0"/>
              <a:t>() {</a:t>
            </a:r>
          </a:p>
          <a:p>
            <a:pPr marL="0" indent="0">
              <a:buNone/>
            </a:pPr>
            <a:r>
              <a:rPr lang="en-US" dirty="0" smtClean="0"/>
              <a:t>        </a:t>
            </a:r>
            <a:r>
              <a:rPr lang="en-US" dirty="0" err="1" smtClean="0"/>
              <a:t>System.out.println</a:t>
            </a:r>
            <a:r>
              <a:rPr lang="en-US" dirty="0" smtClean="0"/>
              <a:t>("Servlet instance created");</a:t>
            </a:r>
          </a:p>
          <a:p>
            <a:pPr marL="0" indent="0">
              <a:buNone/>
            </a:pPr>
            <a:r>
              <a:rPr lang="en-US" dirty="0" smtClean="0"/>
              <a:t>    }</a:t>
            </a:r>
          </a:p>
          <a:p>
            <a:pPr marL="0" indent="0">
              <a:buNone/>
            </a:pPr>
            <a:endParaRPr lang="en-US" dirty="0" smtClean="0"/>
          </a:p>
          <a:p>
            <a:pPr marL="0" indent="0">
              <a:buNone/>
            </a:pPr>
            <a:r>
              <a:rPr lang="en-US" dirty="0" smtClean="0"/>
              <a:t>    // Step 2: Initialization</a:t>
            </a:r>
          </a:p>
          <a:p>
            <a:pPr marL="0" indent="0">
              <a:buNone/>
            </a:pPr>
            <a:r>
              <a:rPr lang="en-US" dirty="0" smtClean="0"/>
              <a:t>    @Override</a:t>
            </a:r>
          </a:p>
          <a:p>
            <a:pPr marL="0" indent="0">
              <a:buNone/>
            </a:pPr>
            <a:r>
              <a:rPr lang="en-US" dirty="0" smtClean="0"/>
              <a:t>    public void </a:t>
            </a:r>
            <a:r>
              <a:rPr lang="en-US" dirty="0" err="1" smtClean="0"/>
              <a:t>init</a:t>
            </a:r>
            <a:r>
              <a:rPr lang="en-US" dirty="0" smtClean="0"/>
              <a:t>() throws </a:t>
            </a:r>
            <a:r>
              <a:rPr lang="en-US" dirty="0" err="1" smtClean="0"/>
              <a:t>ServletException</a:t>
            </a:r>
            <a:r>
              <a:rPr lang="en-US" dirty="0" smtClean="0"/>
              <a:t> {</a:t>
            </a:r>
          </a:p>
          <a:p>
            <a:pPr marL="0" indent="0">
              <a:buNone/>
            </a:pPr>
            <a:r>
              <a:rPr lang="en-US" dirty="0" smtClean="0"/>
              <a:t>        </a:t>
            </a:r>
            <a:r>
              <a:rPr lang="en-US" dirty="0" err="1" smtClean="0"/>
              <a:t>System.out.println</a:t>
            </a:r>
            <a:r>
              <a:rPr lang="en-US" dirty="0" smtClean="0"/>
              <a:t>("Servlet is being initialized");</a:t>
            </a:r>
          </a:p>
          <a:p>
            <a:pPr marL="0" indent="0">
              <a:buNone/>
            </a:pPr>
            <a:r>
              <a:rPr lang="en-US" dirty="0" smtClean="0"/>
              <a:t>    }</a:t>
            </a:r>
          </a:p>
          <a:p>
            <a:pPr marL="0" indent="0">
              <a:buNone/>
            </a:pPr>
            <a:endParaRPr lang="en-US" dirty="0" smtClean="0"/>
          </a:p>
        </p:txBody>
      </p:sp>
    </p:spTree>
    <p:extLst>
      <p:ext uri="{BB962C8B-B14F-4D97-AF65-F5344CB8AC3E}">
        <p14:creationId xmlns:p14="http://schemas.microsoft.com/office/powerpoint/2010/main" val="3743875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5897563"/>
          </a:xfrm>
        </p:spPr>
        <p:txBody>
          <a:bodyPr>
            <a:normAutofit fontScale="70000" lnSpcReduction="20000"/>
          </a:bodyPr>
          <a:lstStyle/>
          <a:p>
            <a:pPr marL="0" indent="0">
              <a:buNone/>
            </a:pPr>
            <a:r>
              <a:rPr lang="en-US" dirty="0" smtClean="0"/>
              <a:t> // Step 3: Service (Handling GET request)</a:t>
            </a:r>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("&lt;h1&gt;Hello, World!&lt;/h1&gt;");</a:t>
            </a:r>
          </a:p>
          <a:p>
            <a:pPr marL="0" indent="0">
              <a:buNone/>
            </a:pPr>
            <a:r>
              <a:rPr lang="en-US" dirty="0" smtClean="0"/>
              <a:t>        </a:t>
            </a:r>
            <a:r>
              <a:rPr lang="en-US" dirty="0" err="1" smtClean="0"/>
              <a:t>System.out.println</a:t>
            </a:r>
            <a:r>
              <a:rPr lang="en-US" dirty="0" smtClean="0"/>
              <a:t>("Handling GET request");</a:t>
            </a:r>
          </a:p>
          <a:p>
            <a:pPr marL="0" indent="0">
              <a:buNone/>
            </a:pPr>
            <a:r>
              <a:rPr lang="en-US" dirty="0" smtClean="0"/>
              <a:t>    }</a:t>
            </a:r>
          </a:p>
          <a:p>
            <a:pPr marL="0" indent="0">
              <a:buNone/>
            </a:pPr>
            <a:endParaRPr lang="en-US" dirty="0" smtClean="0"/>
          </a:p>
          <a:p>
            <a:pPr marL="0" indent="0">
              <a:buNone/>
            </a:pPr>
            <a:r>
              <a:rPr lang="en-US" dirty="0" smtClean="0"/>
              <a:t>    // Step 4: Destruction</a:t>
            </a:r>
          </a:p>
          <a:p>
            <a:pPr marL="0" indent="0">
              <a:buNone/>
            </a:pPr>
            <a:r>
              <a:rPr lang="en-US" dirty="0" smtClean="0"/>
              <a:t>    @Override</a:t>
            </a:r>
          </a:p>
          <a:p>
            <a:pPr marL="0" indent="0">
              <a:buNone/>
            </a:pPr>
            <a:r>
              <a:rPr lang="en-US" dirty="0" smtClean="0"/>
              <a:t>    public void destroy() {</a:t>
            </a:r>
          </a:p>
          <a:p>
            <a:pPr marL="0" indent="0">
              <a:buNone/>
            </a:pPr>
            <a:r>
              <a:rPr lang="en-US" dirty="0" smtClean="0"/>
              <a:t>        </a:t>
            </a:r>
            <a:r>
              <a:rPr lang="en-US" dirty="0" err="1" smtClean="0"/>
              <a:t>System.out.println</a:t>
            </a:r>
            <a:r>
              <a:rPr lang="en-US" dirty="0" smtClean="0"/>
              <a:t>("Servlet is being destroyed");</a:t>
            </a:r>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2635427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pPr algn="l"/>
            <a:r>
              <a:rPr lang="en-US" sz="3600" b="1" dirty="0" smtClean="0"/>
              <a:t>web.xml</a:t>
            </a:r>
            <a:r>
              <a:rPr lang="en-US" sz="3600" dirty="0" smtClean="0"/>
              <a:t> (Servlet Configuration)</a:t>
            </a:r>
            <a:endParaRPr lang="en-US" sz="3600" dirty="0"/>
          </a:p>
        </p:txBody>
      </p:sp>
      <p:sp>
        <p:nvSpPr>
          <p:cNvPr id="3" name="Content Placeholder 2"/>
          <p:cNvSpPr>
            <a:spLocks noGrp="1"/>
          </p:cNvSpPr>
          <p:nvPr>
            <p:ph idx="1"/>
          </p:nvPr>
        </p:nvSpPr>
        <p:spPr>
          <a:xfrm>
            <a:off x="457200" y="838200"/>
            <a:ext cx="8229600" cy="5287963"/>
          </a:xfrm>
        </p:spPr>
        <p:txBody>
          <a:bodyPr>
            <a:normAutofit fontScale="85000" lnSpcReduction="20000"/>
          </a:bodyPr>
          <a:lstStyle/>
          <a:p>
            <a:pPr marL="0" indent="0">
              <a:buNone/>
            </a:pPr>
            <a:r>
              <a:rPr lang="en-US" dirty="0" smtClean="0"/>
              <a:t>&lt;web-app&gt;</a:t>
            </a:r>
          </a:p>
          <a:p>
            <a:pPr marL="0" indent="0">
              <a:buNone/>
            </a:pPr>
            <a:r>
              <a:rPr lang="en-US" dirty="0" smtClean="0"/>
              <a:t>    &lt;servlet&gt;</a:t>
            </a:r>
          </a:p>
          <a:p>
            <a:pPr marL="0" indent="0">
              <a:buNone/>
            </a:pPr>
            <a:r>
              <a:rPr lang="en-US" dirty="0" smtClean="0"/>
              <a:t>        &lt;servlet-name&gt;</a:t>
            </a:r>
            <a:r>
              <a:rPr lang="en-US" dirty="0" err="1" smtClean="0"/>
              <a:t>MyServlet</a:t>
            </a:r>
            <a:r>
              <a:rPr lang="en-US" dirty="0" smtClean="0"/>
              <a:t>&lt;/servlet-name&gt;</a:t>
            </a:r>
          </a:p>
          <a:p>
            <a:pPr marL="0" indent="0">
              <a:buNone/>
            </a:pPr>
            <a:r>
              <a:rPr lang="en-US" dirty="0" smtClean="0"/>
              <a:t>        &lt;servlet-class&gt;</a:t>
            </a:r>
            <a:r>
              <a:rPr lang="en-US" dirty="0" err="1" smtClean="0"/>
              <a:t>MyServlet</a:t>
            </a:r>
            <a:r>
              <a:rPr lang="en-US" dirty="0" smtClean="0"/>
              <a:t>&lt;/servlet-class&gt;</a:t>
            </a:r>
          </a:p>
          <a:p>
            <a:pPr marL="0" indent="0">
              <a:buNone/>
            </a:pPr>
            <a:r>
              <a:rPr lang="en-US" dirty="0" smtClean="0"/>
              <a:t>        &lt;load-on-startup&gt;1&lt;/load-on-startup&gt;</a:t>
            </a:r>
          </a:p>
          <a:p>
            <a:pPr marL="0" indent="0">
              <a:buNone/>
            </a:pPr>
            <a:r>
              <a:rPr lang="en-US" dirty="0" smtClean="0"/>
              <a:t>    &lt;/servlet&gt;</a:t>
            </a:r>
          </a:p>
          <a:p>
            <a:pPr marL="0" indent="0">
              <a:buNone/>
            </a:pPr>
            <a:endParaRPr lang="en-US" dirty="0" smtClean="0"/>
          </a:p>
          <a:p>
            <a:pPr marL="0" indent="0">
              <a:buNone/>
            </a:pPr>
            <a:r>
              <a:rPr lang="en-US" dirty="0" smtClean="0"/>
              <a:t>    &lt;servlet-mapping&gt;</a:t>
            </a:r>
          </a:p>
          <a:p>
            <a:pPr marL="0" indent="0">
              <a:buNone/>
            </a:pPr>
            <a:r>
              <a:rPr lang="en-US" dirty="0" smtClean="0"/>
              <a:t>        &lt;servlet-name&gt;</a:t>
            </a:r>
            <a:r>
              <a:rPr lang="en-US" dirty="0" err="1" smtClean="0"/>
              <a:t>MyServlet</a:t>
            </a:r>
            <a:r>
              <a:rPr lang="en-US" dirty="0" smtClean="0"/>
              <a:t>&lt;/servlet-name&gt;</a:t>
            </a:r>
          </a:p>
          <a:p>
            <a:pPr marL="0" indent="0">
              <a:buNone/>
            </a:pPr>
            <a:r>
              <a:rPr lang="en-US" dirty="0" smtClean="0"/>
              <a:t>        &lt;</a:t>
            </a:r>
            <a:r>
              <a:rPr lang="en-US" dirty="0" err="1" smtClean="0"/>
              <a:t>url</a:t>
            </a:r>
            <a:r>
              <a:rPr lang="en-US" dirty="0" smtClean="0"/>
              <a:t>-pattern&gt;/hello&lt;/</a:t>
            </a:r>
            <a:r>
              <a:rPr lang="en-US" dirty="0" err="1" smtClean="0"/>
              <a:t>url</a:t>
            </a:r>
            <a:r>
              <a:rPr lang="en-US" dirty="0" smtClean="0"/>
              <a:t>-pattern&gt;</a:t>
            </a:r>
          </a:p>
          <a:p>
            <a:pPr marL="0" indent="0">
              <a:buNone/>
            </a:pPr>
            <a:r>
              <a:rPr lang="en-US" dirty="0" smtClean="0"/>
              <a:t>    &lt;/servlet-mapping&gt;</a:t>
            </a:r>
          </a:p>
          <a:p>
            <a:pPr marL="0" indent="0">
              <a:buNone/>
            </a:pPr>
            <a:r>
              <a:rPr lang="en-US" dirty="0" smtClean="0"/>
              <a:t>&lt;/web-app&gt;</a:t>
            </a:r>
          </a:p>
          <a:p>
            <a:pPr marL="0" indent="0">
              <a:buNone/>
            </a:pPr>
            <a:endParaRPr lang="en-US" dirty="0"/>
          </a:p>
        </p:txBody>
      </p:sp>
    </p:spTree>
    <p:extLst>
      <p:ext uri="{BB962C8B-B14F-4D97-AF65-F5344CB8AC3E}">
        <p14:creationId xmlns:p14="http://schemas.microsoft.com/office/powerpoint/2010/main" val="1057436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05800" cy="6400800"/>
          </a:xfrm>
        </p:spPr>
        <p:txBody>
          <a:bodyPr>
            <a:normAutofit fontScale="77500" lnSpcReduction="20000"/>
          </a:bodyPr>
          <a:lstStyle/>
          <a:p>
            <a:r>
              <a:rPr lang="en-US" b="1" u="sng" dirty="0" smtClean="0"/>
              <a:t>Console Output-</a:t>
            </a:r>
          </a:p>
          <a:p>
            <a:pPr marL="0" indent="0">
              <a:buNone/>
            </a:pPr>
            <a:r>
              <a:rPr lang="en-US" dirty="0" smtClean="0"/>
              <a:t>   Servlet instance created</a:t>
            </a:r>
          </a:p>
          <a:p>
            <a:pPr marL="0" indent="0">
              <a:buNone/>
            </a:pPr>
            <a:r>
              <a:rPr lang="en-US" dirty="0"/>
              <a:t> </a:t>
            </a:r>
            <a:r>
              <a:rPr lang="en-US" dirty="0" smtClean="0"/>
              <a:t>  Servlet is being initialized</a:t>
            </a:r>
          </a:p>
          <a:p>
            <a:pPr marL="0" indent="0">
              <a:buNone/>
            </a:pPr>
            <a:r>
              <a:rPr lang="en-US" dirty="0" smtClean="0"/>
              <a:t>   Handling GET request</a:t>
            </a:r>
          </a:p>
          <a:p>
            <a:r>
              <a:rPr lang="en-US" b="1" u="sng" dirty="0" smtClean="0"/>
              <a:t>Browser Output-</a:t>
            </a:r>
          </a:p>
          <a:p>
            <a:pPr marL="0" indent="0">
              <a:buNone/>
            </a:pPr>
            <a:r>
              <a:rPr lang="en-US" dirty="0" smtClean="0"/>
              <a:t>    Hello, World!</a:t>
            </a:r>
          </a:p>
          <a:p>
            <a:pPr marL="0" indent="0">
              <a:buNone/>
            </a:pPr>
            <a:endParaRPr lang="en-US" dirty="0"/>
          </a:p>
          <a:p>
            <a:pPr marL="0" indent="0">
              <a:buNone/>
            </a:pPr>
            <a:endParaRPr lang="en-US" dirty="0" smtClean="0"/>
          </a:p>
          <a:p>
            <a:r>
              <a:rPr lang="en-US" b="1" dirty="0" smtClean="0"/>
              <a:t>How to Deploy:</a:t>
            </a:r>
          </a:p>
          <a:p>
            <a:r>
              <a:rPr lang="en-US" dirty="0" smtClean="0"/>
              <a:t>Create a project in </a:t>
            </a:r>
            <a:r>
              <a:rPr lang="en-US" b="1" dirty="0" smtClean="0"/>
              <a:t>Apache Tomcat</a:t>
            </a:r>
            <a:r>
              <a:rPr lang="en-US" dirty="0" smtClean="0"/>
              <a:t> or any other servlet container.</a:t>
            </a:r>
          </a:p>
          <a:p>
            <a:r>
              <a:rPr lang="en-US" dirty="0" smtClean="0"/>
              <a:t>Place the servlet .class file in WEB-INF/classes.</a:t>
            </a:r>
          </a:p>
          <a:p>
            <a:r>
              <a:rPr lang="en-US" dirty="0" smtClean="0"/>
              <a:t>Configure web.xml file.</a:t>
            </a:r>
          </a:p>
          <a:p>
            <a:r>
              <a:rPr lang="en-US" dirty="0" smtClean="0"/>
              <a:t>Start the server.</a:t>
            </a:r>
          </a:p>
          <a:p>
            <a:r>
              <a:rPr lang="en-US" dirty="0" smtClean="0"/>
              <a:t>Access the servlet using:</a:t>
            </a:r>
            <a:br>
              <a:rPr lang="en-US" dirty="0" smtClean="0"/>
            </a:br>
            <a:r>
              <a:rPr lang="en-US" b="1" dirty="0" smtClean="0"/>
              <a:t>http://localhost:8080/&lt;AppName&gt;/hello</a:t>
            </a:r>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579311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Servlet Life Cycle Flow Summary</a:t>
            </a:r>
            <a:endParaRPr lang="en-US" sz="36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1529082"/>
              </p:ext>
            </p:extLst>
          </p:nvPr>
        </p:nvGraphicFramePr>
        <p:xfrm>
          <a:off x="381000" y="1524000"/>
          <a:ext cx="8458200" cy="4876800"/>
        </p:xfrm>
        <a:graphic>
          <a:graphicData uri="http://schemas.openxmlformats.org/drawingml/2006/table">
            <a:tbl>
              <a:tblPr/>
              <a:tblGrid>
                <a:gridCol w="2114550"/>
                <a:gridCol w="2114550"/>
                <a:gridCol w="2114550"/>
                <a:gridCol w="2114550"/>
              </a:tblGrid>
              <a:tr h="840605">
                <a:tc>
                  <a:txBody>
                    <a:bodyPr/>
                    <a:lstStyle/>
                    <a:p>
                      <a:r>
                        <a:rPr lang="en-US" dirty="0"/>
                        <a:t>Stage</a:t>
                      </a:r>
                    </a:p>
                  </a:txBody>
                  <a:tcPr anchor="ctr">
                    <a:lnL>
                      <a:noFill/>
                    </a:lnL>
                    <a:lnR>
                      <a:noFill/>
                    </a:lnR>
                    <a:lnT>
                      <a:noFill/>
                    </a:lnT>
                    <a:lnB>
                      <a:noFill/>
                    </a:lnB>
                  </a:tcPr>
                </a:tc>
                <a:tc>
                  <a:txBody>
                    <a:bodyPr/>
                    <a:lstStyle/>
                    <a:p>
                      <a:r>
                        <a:rPr lang="en-US" dirty="0"/>
                        <a:t>Method</a:t>
                      </a:r>
                    </a:p>
                  </a:txBody>
                  <a:tcPr anchor="ctr">
                    <a:lnL>
                      <a:noFill/>
                    </a:lnL>
                    <a:lnR>
                      <a:noFill/>
                    </a:lnR>
                    <a:lnT>
                      <a:noFill/>
                    </a:lnT>
                    <a:lnB>
                      <a:noFill/>
                    </a:lnB>
                  </a:tcPr>
                </a:tc>
                <a:tc>
                  <a:txBody>
                    <a:bodyPr/>
                    <a:lstStyle/>
                    <a:p>
                      <a:r>
                        <a:rPr lang="en-US"/>
                        <a:t>Purpose</a:t>
                      </a:r>
                    </a:p>
                  </a:txBody>
                  <a:tcPr anchor="ctr">
                    <a:lnL>
                      <a:noFill/>
                    </a:lnL>
                    <a:lnR>
                      <a:noFill/>
                    </a:lnR>
                    <a:lnT>
                      <a:noFill/>
                    </a:lnT>
                    <a:lnB>
                      <a:noFill/>
                    </a:lnB>
                  </a:tcPr>
                </a:tc>
                <a:tc>
                  <a:txBody>
                    <a:bodyPr/>
                    <a:lstStyle/>
                    <a:p>
                      <a:r>
                        <a:rPr lang="en-US"/>
                        <a:t>Frequency</a:t>
                      </a:r>
                    </a:p>
                  </a:txBody>
                  <a:tcPr anchor="ctr">
                    <a:lnL>
                      <a:noFill/>
                    </a:lnL>
                    <a:lnR>
                      <a:noFill/>
                    </a:lnR>
                    <a:lnT>
                      <a:noFill/>
                    </a:lnT>
                    <a:lnB>
                      <a:noFill/>
                    </a:lnB>
                  </a:tcPr>
                </a:tc>
              </a:tr>
              <a:tr h="1086668">
                <a:tc>
                  <a:txBody>
                    <a:bodyPr/>
                    <a:lstStyle/>
                    <a:p>
                      <a:r>
                        <a:rPr lang="en-US" b="1" dirty="0"/>
                        <a:t>Loading and Instantiation</a:t>
                      </a:r>
                      <a:endParaRPr lang="en-US" dirty="0"/>
                    </a:p>
                  </a:txBody>
                  <a:tcPr anchor="ctr">
                    <a:lnL>
                      <a:noFill/>
                    </a:lnL>
                    <a:lnR>
                      <a:noFill/>
                    </a:lnR>
                    <a:lnT>
                      <a:noFill/>
                    </a:lnT>
                    <a:lnB>
                      <a:noFill/>
                    </a:lnB>
                  </a:tcPr>
                </a:tc>
                <a:tc>
                  <a:txBody>
                    <a:bodyPr/>
                    <a:lstStyle/>
                    <a:p>
                      <a:r>
                        <a:rPr lang="en-US"/>
                        <a:t>Constructor</a:t>
                      </a:r>
                    </a:p>
                  </a:txBody>
                  <a:tcPr anchor="ctr">
                    <a:lnL>
                      <a:noFill/>
                    </a:lnL>
                    <a:lnR>
                      <a:noFill/>
                    </a:lnR>
                    <a:lnT>
                      <a:noFill/>
                    </a:lnT>
                    <a:lnB>
                      <a:noFill/>
                    </a:lnB>
                  </a:tcPr>
                </a:tc>
                <a:tc>
                  <a:txBody>
                    <a:bodyPr/>
                    <a:lstStyle/>
                    <a:p>
                      <a:r>
                        <a:rPr lang="en-US"/>
                        <a:t>Create a new servlet instance</a:t>
                      </a:r>
                    </a:p>
                  </a:txBody>
                  <a:tcPr anchor="ctr">
                    <a:lnL>
                      <a:noFill/>
                    </a:lnL>
                    <a:lnR>
                      <a:noFill/>
                    </a:lnR>
                    <a:lnT>
                      <a:noFill/>
                    </a:lnT>
                    <a:lnB>
                      <a:noFill/>
                    </a:lnB>
                  </a:tcPr>
                </a:tc>
                <a:tc>
                  <a:txBody>
                    <a:bodyPr/>
                    <a:lstStyle/>
                    <a:p>
                      <a:r>
                        <a:rPr lang="en-US"/>
                        <a:t>Once</a:t>
                      </a:r>
                    </a:p>
                  </a:txBody>
                  <a:tcPr anchor="ctr">
                    <a:lnL>
                      <a:noFill/>
                    </a:lnL>
                    <a:lnR>
                      <a:noFill/>
                    </a:lnR>
                    <a:lnT>
                      <a:noFill/>
                    </a:lnT>
                    <a:lnB>
                      <a:noFill/>
                    </a:lnB>
                  </a:tcPr>
                </a:tc>
              </a:tr>
              <a:tr h="620953">
                <a:tc>
                  <a:txBody>
                    <a:bodyPr/>
                    <a:lstStyle/>
                    <a:p>
                      <a:r>
                        <a:rPr lang="en-US" b="1"/>
                        <a:t>Initialization</a:t>
                      </a:r>
                      <a:endParaRPr lang="en-US"/>
                    </a:p>
                  </a:txBody>
                  <a:tcPr anchor="ctr">
                    <a:lnL>
                      <a:noFill/>
                    </a:lnL>
                    <a:lnR>
                      <a:noFill/>
                    </a:lnR>
                    <a:lnT>
                      <a:noFill/>
                    </a:lnT>
                    <a:lnB>
                      <a:noFill/>
                    </a:lnB>
                  </a:tcPr>
                </a:tc>
                <a:tc>
                  <a:txBody>
                    <a:bodyPr/>
                    <a:lstStyle/>
                    <a:p>
                      <a:r>
                        <a:rPr lang="en-US"/>
                        <a:t>init()</a:t>
                      </a:r>
                    </a:p>
                  </a:txBody>
                  <a:tcPr anchor="ctr">
                    <a:lnL>
                      <a:noFill/>
                    </a:lnL>
                    <a:lnR>
                      <a:noFill/>
                    </a:lnR>
                    <a:lnT>
                      <a:noFill/>
                    </a:lnT>
                    <a:lnB>
                      <a:noFill/>
                    </a:lnB>
                  </a:tcPr>
                </a:tc>
                <a:tc>
                  <a:txBody>
                    <a:bodyPr/>
                    <a:lstStyle/>
                    <a:p>
                      <a:r>
                        <a:rPr lang="en-US"/>
                        <a:t>Initialize resources</a:t>
                      </a:r>
                    </a:p>
                  </a:txBody>
                  <a:tcPr anchor="ctr">
                    <a:lnL>
                      <a:noFill/>
                    </a:lnL>
                    <a:lnR>
                      <a:noFill/>
                    </a:lnR>
                    <a:lnT>
                      <a:noFill/>
                    </a:lnT>
                    <a:lnB>
                      <a:noFill/>
                    </a:lnB>
                  </a:tcPr>
                </a:tc>
                <a:tc>
                  <a:txBody>
                    <a:bodyPr/>
                    <a:lstStyle/>
                    <a:p>
                      <a:r>
                        <a:rPr lang="en-US"/>
                        <a:t>Once</a:t>
                      </a:r>
                    </a:p>
                  </a:txBody>
                  <a:tcPr anchor="ctr">
                    <a:lnL>
                      <a:noFill/>
                    </a:lnL>
                    <a:lnR>
                      <a:noFill/>
                    </a:lnR>
                    <a:lnT>
                      <a:noFill/>
                    </a:lnT>
                    <a:lnB>
                      <a:noFill/>
                    </a:lnB>
                  </a:tcPr>
                </a:tc>
              </a:tr>
              <a:tr h="1086668">
                <a:tc>
                  <a:txBody>
                    <a:bodyPr/>
                    <a:lstStyle/>
                    <a:p>
                      <a:r>
                        <a:rPr lang="en-US" b="1"/>
                        <a:t>Request Handling</a:t>
                      </a:r>
                      <a:endParaRPr lang="en-US"/>
                    </a:p>
                  </a:txBody>
                  <a:tcPr anchor="ctr">
                    <a:lnL>
                      <a:noFill/>
                    </a:lnL>
                    <a:lnR>
                      <a:noFill/>
                    </a:lnR>
                    <a:lnT>
                      <a:noFill/>
                    </a:lnT>
                    <a:lnB>
                      <a:noFill/>
                    </a:lnB>
                  </a:tcPr>
                </a:tc>
                <a:tc>
                  <a:txBody>
                    <a:bodyPr/>
                    <a:lstStyle/>
                    <a:p>
                      <a:r>
                        <a:rPr lang="en-US"/>
                        <a:t>service() → doGet() or doPost()</a:t>
                      </a:r>
                    </a:p>
                  </a:txBody>
                  <a:tcPr anchor="ctr">
                    <a:lnL>
                      <a:noFill/>
                    </a:lnL>
                    <a:lnR>
                      <a:noFill/>
                    </a:lnR>
                    <a:lnT>
                      <a:noFill/>
                    </a:lnT>
                    <a:lnB>
                      <a:noFill/>
                    </a:lnB>
                  </a:tcPr>
                </a:tc>
                <a:tc>
                  <a:txBody>
                    <a:bodyPr/>
                    <a:lstStyle/>
                    <a:p>
                      <a:r>
                        <a:rPr lang="en-US"/>
                        <a:t>Handle client requests</a:t>
                      </a:r>
                    </a:p>
                  </a:txBody>
                  <a:tcPr anchor="ctr">
                    <a:lnL>
                      <a:noFill/>
                    </a:lnL>
                    <a:lnR>
                      <a:noFill/>
                    </a:lnR>
                    <a:lnT>
                      <a:noFill/>
                    </a:lnT>
                    <a:lnB>
                      <a:noFill/>
                    </a:lnB>
                  </a:tcPr>
                </a:tc>
                <a:tc>
                  <a:txBody>
                    <a:bodyPr/>
                    <a:lstStyle/>
                    <a:p>
                      <a:r>
                        <a:rPr lang="en-US"/>
                        <a:t>Multiple</a:t>
                      </a:r>
                    </a:p>
                  </a:txBody>
                  <a:tcPr anchor="ctr">
                    <a:lnL>
                      <a:noFill/>
                    </a:lnL>
                    <a:lnR>
                      <a:noFill/>
                    </a:lnR>
                    <a:lnT>
                      <a:noFill/>
                    </a:lnT>
                    <a:lnB>
                      <a:noFill/>
                    </a:lnB>
                  </a:tcPr>
                </a:tc>
              </a:tr>
              <a:tr h="620953">
                <a:tc>
                  <a:txBody>
                    <a:bodyPr/>
                    <a:lstStyle/>
                    <a:p>
                      <a:r>
                        <a:rPr lang="en-US" b="1"/>
                        <a:t>Destruction</a:t>
                      </a:r>
                      <a:endParaRPr lang="en-US"/>
                    </a:p>
                  </a:txBody>
                  <a:tcPr anchor="ctr">
                    <a:lnL>
                      <a:noFill/>
                    </a:lnL>
                    <a:lnR>
                      <a:noFill/>
                    </a:lnR>
                    <a:lnT>
                      <a:noFill/>
                    </a:lnT>
                    <a:lnB>
                      <a:noFill/>
                    </a:lnB>
                  </a:tcPr>
                </a:tc>
                <a:tc>
                  <a:txBody>
                    <a:bodyPr/>
                    <a:lstStyle/>
                    <a:p>
                      <a:r>
                        <a:rPr lang="en-US"/>
                        <a:t>destroy()</a:t>
                      </a:r>
                    </a:p>
                  </a:txBody>
                  <a:tcPr anchor="ctr">
                    <a:lnL>
                      <a:noFill/>
                    </a:lnL>
                    <a:lnR>
                      <a:noFill/>
                    </a:lnR>
                    <a:lnT>
                      <a:noFill/>
                    </a:lnT>
                    <a:lnB>
                      <a:noFill/>
                    </a:lnB>
                  </a:tcPr>
                </a:tc>
                <a:tc>
                  <a:txBody>
                    <a:bodyPr/>
                    <a:lstStyle/>
                    <a:p>
                      <a:r>
                        <a:rPr lang="en-US"/>
                        <a:t>Clean up resources</a:t>
                      </a:r>
                    </a:p>
                  </a:txBody>
                  <a:tcPr anchor="ctr">
                    <a:lnL>
                      <a:noFill/>
                    </a:lnL>
                    <a:lnR>
                      <a:noFill/>
                    </a:lnR>
                    <a:lnT>
                      <a:noFill/>
                    </a:lnT>
                    <a:lnB>
                      <a:noFill/>
                    </a:lnB>
                  </a:tcPr>
                </a:tc>
                <a:tc>
                  <a:txBody>
                    <a:bodyPr/>
                    <a:lstStyle/>
                    <a:p>
                      <a:r>
                        <a:rPr lang="en-US"/>
                        <a:t>Once</a:t>
                      </a:r>
                    </a:p>
                  </a:txBody>
                  <a:tcPr anchor="ctr">
                    <a:lnL>
                      <a:noFill/>
                    </a:lnL>
                    <a:lnR>
                      <a:noFill/>
                    </a:lnR>
                    <a:lnT>
                      <a:noFill/>
                    </a:lnT>
                    <a:lnB>
                      <a:noFill/>
                    </a:lnB>
                  </a:tcPr>
                </a:tc>
              </a:tr>
              <a:tr h="620953">
                <a:tc>
                  <a:txBody>
                    <a:bodyPr/>
                    <a:lstStyle/>
                    <a:p>
                      <a:r>
                        <a:rPr lang="en-US" b="1"/>
                        <a:t>Garbage Collection</a:t>
                      </a:r>
                      <a:endParaRPr lang="en-US"/>
                    </a:p>
                  </a:txBody>
                  <a:tcPr anchor="ctr">
                    <a:lnL>
                      <a:noFill/>
                    </a:lnL>
                    <a:lnR>
                      <a:noFill/>
                    </a:lnR>
                    <a:lnT>
                      <a:noFill/>
                    </a:lnT>
                    <a:lnB>
                      <a:noFill/>
                    </a:lnB>
                  </a:tcPr>
                </a:tc>
                <a:tc>
                  <a:txBody>
                    <a:bodyPr/>
                    <a:lstStyle/>
                    <a:p>
                      <a:r>
                        <a:rPr lang="en-US" dirty="0"/>
                        <a:t>JVM</a:t>
                      </a:r>
                    </a:p>
                  </a:txBody>
                  <a:tcPr anchor="ctr">
                    <a:lnL>
                      <a:noFill/>
                    </a:lnL>
                    <a:lnR>
                      <a:noFill/>
                    </a:lnR>
                    <a:lnT>
                      <a:noFill/>
                    </a:lnT>
                    <a:lnB>
                      <a:noFill/>
                    </a:lnB>
                  </a:tcPr>
                </a:tc>
                <a:tc>
                  <a:txBody>
                    <a:bodyPr/>
                    <a:lstStyle/>
                    <a:p>
                      <a:r>
                        <a:rPr lang="en-US"/>
                        <a:t>Reclaim memory</a:t>
                      </a:r>
                    </a:p>
                  </a:txBody>
                  <a:tcPr anchor="ctr">
                    <a:lnL>
                      <a:noFill/>
                    </a:lnL>
                    <a:lnR>
                      <a:noFill/>
                    </a:lnR>
                    <a:lnT>
                      <a:noFill/>
                    </a:lnT>
                    <a:lnB>
                      <a:noFill/>
                    </a:lnB>
                  </a:tcPr>
                </a:tc>
                <a:tc>
                  <a:txBody>
                    <a:bodyPr/>
                    <a:lstStyle/>
                    <a:p>
                      <a:r>
                        <a:rPr lang="en-US" dirty="0"/>
                        <a:t>After destruction</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669135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fontScale="90000"/>
          </a:bodyPr>
          <a:lstStyle/>
          <a:p>
            <a:r>
              <a:rPr lang="en-US" b="1" dirty="0" smtClean="0"/>
              <a:t>Steps to Develop and Deploy a Servlet</a:t>
            </a:r>
            <a:endParaRPr lang="en-US" b="1" dirty="0"/>
          </a:p>
        </p:txBody>
      </p:sp>
      <p:sp>
        <p:nvSpPr>
          <p:cNvPr id="3" name="Content Placeholder 2"/>
          <p:cNvSpPr>
            <a:spLocks noGrp="1"/>
          </p:cNvSpPr>
          <p:nvPr>
            <p:ph idx="1"/>
          </p:nvPr>
        </p:nvSpPr>
        <p:spPr>
          <a:xfrm>
            <a:off x="381000" y="1219200"/>
            <a:ext cx="8305800" cy="5638800"/>
          </a:xfrm>
        </p:spPr>
        <p:txBody>
          <a:bodyPr>
            <a:normAutofit fontScale="70000" lnSpcReduction="20000"/>
          </a:bodyPr>
          <a:lstStyle/>
          <a:p>
            <a:r>
              <a:rPr lang="en-US" b="1" dirty="0" smtClean="0"/>
              <a:t>1. Setup Environment</a:t>
            </a:r>
          </a:p>
          <a:p>
            <a:r>
              <a:rPr lang="en-US" dirty="0" smtClean="0"/>
              <a:t>Ensure you have the following installed:</a:t>
            </a:r>
          </a:p>
          <a:p>
            <a:r>
              <a:rPr lang="en-US" b="1" dirty="0" smtClean="0"/>
              <a:t>Java Development Kit (JDK)</a:t>
            </a:r>
            <a:r>
              <a:rPr lang="en-US" dirty="0" smtClean="0"/>
              <a:t> – Install JDK 11 or higher</a:t>
            </a:r>
          </a:p>
          <a:p>
            <a:r>
              <a:rPr lang="en-US" b="1" dirty="0" smtClean="0"/>
              <a:t>Apache Tomcat</a:t>
            </a:r>
            <a:r>
              <a:rPr lang="en-US" dirty="0" smtClean="0"/>
              <a:t> – Install Tomcat server (e.g., Tomcat 9.x or 10.x)</a:t>
            </a:r>
          </a:p>
          <a:p>
            <a:r>
              <a:rPr lang="en-US" b="1" dirty="0" smtClean="0"/>
              <a:t>IDE</a:t>
            </a:r>
            <a:r>
              <a:rPr lang="en-US" dirty="0" smtClean="0"/>
              <a:t> – Use an IDE like </a:t>
            </a:r>
            <a:r>
              <a:rPr lang="en-US" b="1" dirty="0" smtClean="0"/>
              <a:t>Eclipse</a:t>
            </a:r>
            <a:r>
              <a:rPr lang="en-US" dirty="0" smtClean="0"/>
              <a:t>, </a:t>
            </a:r>
            <a:r>
              <a:rPr lang="en-US" b="1" dirty="0" err="1" smtClean="0"/>
              <a:t>IntelliJ</a:t>
            </a:r>
            <a:r>
              <a:rPr lang="en-US" dirty="0" smtClean="0"/>
              <a:t>, or </a:t>
            </a:r>
            <a:r>
              <a:rPr lang="en-US" b="1" dirty="0" err="1" smtClean="0"/>
              <a:t>NetBeans</a:t>
            </a:r>
            <a:endParaRPr lang="en-US" dirty="0" smtClean="0"/>
          </a:p>
          <a:p>
            <a:r>
              <a:rPr lang="en-US" b="1" dirty="0" smtClean="0"/>
              <a:t>2. Create a Servlet</a:t>
            </a:r>
          </a:p>
          <a:p>
            <a:r>
              <a:rPr lang="en-US" dirty="0" smtClean="0"/>
              <a:t>Create a new </a:t>
            </a:r>
            <a:r>
              <a:rPr lang="en-US" b="1" dirty="0" smtClean="0"/>
              <a:t>Java Project</a:t>
            </a:r>
            <a:r>
              <a:rPr lang="en-US" dirty="0" smtClean="0"/>
              <a:t> in your IDE.</a:t>
            </a:r>
          </a:p>
          <a:p>
            <a:r>
              <a:rPr lang="en-US" dirty="0" smtClean="0"/>
              <a:t>Add the </a:t>
            </a:r>
            <a:r>
              <a:rPr lang="en-US" b="1" dirty="0" smtClean="0"/>
              <a:t>Servlet API</a:t>
            </a:r>
            <a:r>
              <a:rPr lang="en-US" dirty="0" smtClean="0"/>
              <a:t> dependency:</a:t>
            </a:r>
          </a:p>
          <a:p>
            <a:r>
              <a:rPr lang="en-US" dirty="0" smtClean="0"/>
              <a:t>👉 If using </a:t>
            </a:r>
            <a:r>
              <a:rPr lang="en-US" b="1" dirty="0" smtClean="0"/>
              <a:t>Maven</a:t>
            </a:r>
            <a:r>
              <a:rPr lang="en-US" dirty="0" smtClean="0"/>
              <a:t> (add to pom.xml):</a:t>
            </a:r>
          </a:p>
          <a:p>
            <a:r>
              <a:rPr lang="en-US" dirty="0" smtClean="0"/>
              <a:t>&lt;dependency&gt;</a:t>
            </a:r>
          </a:p>
          <a:p>
            <a:r>
              <a:rPr lang="en-US" dirty="0" smtClean="0"/>
              <a:t>    &lt;</a:t>
            </a:r>
            <a:r>
              <a:rPr lang="en-US" dirty="0" err="1" smtClean="0"/>
              <a:t>groupId</a:t>
            </a:r>
            <a:r>
              <a:rPr lang="en-US" dirty="0" smtClean="0"/>
              <a:t>&gt;</a:t>
            </a:r>
            <a:r>
              <a:rPr lang="en-US" dirty="0" err="1" smtClean="0"/>
              <a:t>javax.servlet</a:t>
            </a:r>
            <a:r>
              <a:rPr lang="en-US" dirty="0" smtClean="0"/>
              <a:t>&lt;/</a:t>
            </a:r>
            <a:r>
              <a:rPr lang="en-US" dirty="0" err="1" smtClean="0"/>
              <a:t>groupId</a:t>
            </a:r>
            <a:r>
              <a:rPr lang="en-US" dirty="0" smtClean="0"/>
              <a:t>&gt;</a:t>
            </a:r>
          </a:p>
          <a:p>
            <a:r>
              <a:rPr lang="en-US" dirty="0" smtClean="0"/>
              <a:t>    &lt;</a:t>
            </a:r>
            <a:r>
              <a:rPr lang="en-US" dirty="0" err="1" smtClean="0"/>
              <a:t>artifactId</a:t>
            </a:r>
            <a:r>
              <a:rPr lang="en-US" dirty="0" smtClean="0"/>
              <a:t>&gt;</a:t>
            </a:r>
            <a:r>
              <a:rPr lang="en-US" dirty="0" err="1" smtClean="0"/>
              <a:t>javax.servlet-api</a:t>
            </a:r>
            <a:r>
              <a:rPr lang="en-US" dirty="0" smtClean="0"/>
              <a:t>&lt;/</a:t>
            </a:r>
            <a:r>
              <a:rPr lang="en-US" dirty="0" err="1" smtClean="0"/>
              <a:t>artifactId</a:t>
            </a:r>
            <a:r>
              <a:rPr lang="en-US" dirty="0" smtClean="0"/>
              <a:t>&gt;</a:t>
            </a:r>
          </a:p>
          <a:p>
            <a:r>
              <a:rPr lang="en-US" dirty="0" smtClean="0"/>
              <a:t>    &lt;version&gt;4.0.1&lt;/version&gt;</a:t>
            </a:r>
          </a:p>
          <a:p>
            <a:r>
              <a:rPr lang="en-US" dirty="0" smtClean="0"/>
              <a:t>    &lt;scope&gt;provided&lt;/scope&gt;</a:t>
            </a:r>
          </a:p>
          <a:p>
            <a:r>
              <a:rPr lang="en-US" dirty="0" smtClean="0"/>
              <a:t>&lt;/dependency&gt;</a:t>
            </a:r>
          </a:p>
          <a:p>
            <a:endParaRPr lang="en-US" dirty="0"/>
          </a:p>
        </p:txBody>
      </p:sp>
    </p:spTree>
    <p:extLst>
      <p:ext uri="{BB962C8B-B14F-4D97-AF65-F5344CB8AC3E}">
        <p14:creationId xmlns:p14="http://schemas.microsoft.com/office/powerpoint/2010/main" val="3595575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If using </a:t>
            </a:r>
            <a:r>
              <a:rPr lang="en-US" b="1" dirty="0" smtClean="0"/>
              <a:t>Tomcat</a:t>
            </a:r>
            <a:r>
              <a:rPr lang="en-US" dirty="0" smtClean="0"/>
              <a:t> (add to </a:t>
            </a:r>
            <a:r>
              <a:rPr lang="en-US" dirty="0" err="1" smtClean="0"/>
              <a:t>classpath</a:t>
            </a:r>
            <a:r>
              <a:rPr lang="en-US" dirty="0" smtClean="0"/>
              <a:t>):</a:t>
            </a:r>
          </a:p>
          <a:p>
            <a:r>
              <a:rPr lang="en-US" dirty="0" smtClean="0"/>
              <a:t>Go to </a:t>
            </a:r>
            <a:r>
              <a:rPr lang="en-US" b="1" dirty="0" smtClean="0"/>
              <a:t>Project Properties → Java Build Path → Add External JARs</a:t>
            </a:r>
            <a:endParaRPr lang="en-US" dirty="0" smtClean="0"/>
          </a:p>
          <a:p>
            <a:r>
              <a:rPr lang="en-US" dirty="0" smtClean="0"/>
              <a:t>Select </a:t>
            </a:r>
            <a:r>
              <a:rPr lang="en-US" b="1" dirty="0" smtClean="0"/>
              <a:t>servlet-api.jar</a:t>
            </a:r>
            <a:r>
              <a:rPr lang="en-US" dirty="0" smtClean="0"/>
              <a:t> from Tomcat/lib directory</a:t>
            </a:r>
          </a:p>
          <a:p>
            <a:r>
              <a:rPr lang="en-US" b="1" dirty="0" smtClean="0"/>
              <a:t>3. Write a Servlet</a:t>
            </a:r>
          </a:p>
          <a:p>
            <a:r>
              <a:rPr lang="en-US" dirty="0" smtClean="0"/>
              <a:t>Create a Java class extending </a:t>
            </a:r>
            <a:r>
              <a:rPr lang="en-US" b="1" dirty="0" err="1" smtClean="0"/>
              <a:t>HttpServlet</a:t>
            </a:r>
            <a:r>
              <a:rPr lang="en-US" dirty="0" smtClean="0"/>
              <a:t> and override its methods:</a:t>
            </a:r>
          </a:p>
          <a:p>
            <a:endParaRPr lang="en-US" dirty="0"/>
          </a:p>
        </p:txBody>
      </p:sp>
    </p:spTree>
    <p:extLst>
      <p:ext uri="{BB962C8B-B14F-4D97-AF65-F5344CB8AC3E}">
        <p14:creationId xmlns:p14="http://schemas.microsoft.com/office/powerpoint/2010/main" val="1365698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305800" cy="6477000"/>
          </a:xfrm>
        </p:spPr>
        <p:txBody>
          <a:bodyPr>
            <a:normAutofit fontScale="47500" lnSpcReduction="20000"/>
          </a:bodyPr>
          <a:lstStyle/>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SimpleServlet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 Initialization</a:t>
            </a:r>
          </a:p>
          <a:p>
            <a:pPr marL="0" indent="0">
              <a:buNone/>
            </a:pPr>
            <a:r>
              <a:rPr lang="en-US" dirty="0" smtClean="0"/>
              <a:t>    @Override</a:t>
            </a:r>
          </a:p>
          <a:p>
            <a:pPr marL="0" indent="0">
              <a:buNone/>
            </a:pPr>
            <a:r>
              <a:rPr lang="en-US" dirty="0" smtClean="0"/>
              <a:t>    public void </a:t>
            </a:r>
            <a:r>
              <a:rPr lang="en-US" dirty="0" err="1" smtClean="0"/>
              <a:t>init</a:t>
            </a:r>
            <a:r>
              <a:rPr lang="en-US" dirty="0" smtClean="0"/>
              <a:t>() throws </a:t>
            </a:r>
            <a:r>
              <a:rPr lang="en-US" dirty="0" err="1" smtClean="0"/>
              <a:t>ServletException</a:t>
            </a:r>
            <a:r>
              <a:rPr lang="en-US" dirty="0" smtClean="0"/>
              <a:t> {</a:t>
            </a:r>
          </a:p>
          <a:p>
            <a:pPr marL="0" indent="0">
              <a:buNone/>
            </a:pPr>
            <a:r>
              <a:rPr lang="en-US" dirty="0" smtClean="0"/>
              <a:t>        </a:t>
            </a:r>
            <a:r>
              <a:rPr lang="en-US" dirty="0" err="1" smtClean="0"/>
              <a:t>System.out.println</a:t>
            </a:r>
            <a:r>
              <a:rPr lang="en-US" dirty="0" smtClean="0"/>
              <a:t>("Servlet is being initialized");</a:t>
            </a:r>
          </a:p>
          <a:p>
            <a:pPr marL="0" indent="0">
              <a:buNone/>
            </a:pPr>
            <a:r>
              <a:rPr lang="en-US" dirty="0" smtClean="0"/>
              <a:t>    }</a:t>
            </a:r>
          </a:p>
          <a:p>
            <a:pPr marL="0" indent="0">
              <a:buNone/>
            </a:pPr>
            <a:endParaRPr lang="en-US" dirty="0" smtClean="0"/>
          </a:p>
          <a:p>
            <a:pPr marL="0" indent="0">
              <a:buNone/>
            </a:pPr>
            <a:r>
              <a:rPr lang="en-US" dirty="0" smtClean="0"/>
              <a:t>    // Handling GET Request</a:t>
            </a:r>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("&lt;h1&gt;Hello, Servlet!&lt;/h1&gt;");</a:t>
            </a:r>
          </a:p>
          <a:p>
            <a:pPr marL="0" indent="0">
              <a:buNone/>
            </a:pPr>
            <a:r>
              <a:rPr lang="en-US" dirty="0" smtClean="0"/>
              <a:t>    }</a:t>
            </a:r>
          </a:p>
          <a:p>
            <a:pPr marL="0" indent="0">
              <a:buNone/>
            </a:pPr>
            <a:endParaRPr lang="en-US" dirty="0" smtClean="0"/>
          </a:p>
          <a:p>
            <a:pPr marL="0" indent="0">
              <a:buNone/>
            </a:pPr>
            <a:r>
              <a:rPr lang="en-US" dirty="0" smtClean="0"/>
              <a:t>    // Destruction</a:t>
            </a:r>
          </a:p>
          <a:p>
            <a:pPr marL="0" indent="0">
              <a:buNone/>
            </a:pPr>
            <a:r>
              <a:rPr lang="en-US" dirty="0" smtClean="0"/>
              <a:t>    @Override</a:t>
            </a:r>
          </a:p>
          <a:p>
            <a:pPr marL="0" indent="0">
              <a:buNone/>
            </a:pPr>
            <a:r>
              <a:rPr lang="en-US" dirty="0" smtClean="0"/>
              <a:t>    public void destroy() {</a:t>
            </a:r>
          </a:p>
          <a:p>
            <a:pPr marL="0" indent="0">
              <a:buNone/>
            </a:pPr>
            <a:r>
              <a:rPr lang="en-US" dirty="0" smtClean="0"/>
              <a:t>        </a:t>
            </a:r>
            <a:r>
              <a:rPr lang="en-US" dirty="0" err="1" smtClean="0"/>
              <a:t>System.out.println</a:t>
            </a:r>
            <a:r>
              <a:rPr lang="en-US" dirty="0" smtClean="0"/>
              <a:t>("Servlet is being destroyed");</a:t>
            </a:r>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2707810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normAutofit fontScale="85000" lnSpcReduction="20000"/>
          </a:bodyPr>
          <a:lstStyle/>
          <a:p>
            <a:r>
              <a:rPr lang="en-US" b="1" dirty="0" smtClean="0"/>
              <a:t>4. Configure web.xml</a:t>
            </a:r>
          </a:p>
          <a:p>
            <a:r>
              <a:rPr lang="en-US" dirty="0" smtClean="0"/>
              <a:t>Define the servlet and URL mapping in the </a:t>
            </a:r>
            <a:r>
              <a:rPr lang="en-US" b="1" dirty="0" smtClean="0"/>
              <a:t>WEB-INF/web.xml</a:t>
            </a:r>
            <a:r>
              <a:rPr lang="en-US" dirty="0" smtClean="0"/>
              <a:t> file.</a:t>
            </a:r>
          </a:p>
          <a:p>
            <a:pPr marL="0" indent="0">
              <a:buNone/>
            </a:pPr>
            <a:r>
              <a:rPr lang="en-US" dirty="0" smtClean="0"/>
              <a:t>&lt;web-app&gt;</a:t>
            </a:r>
          </a:p>
          <a:p>
            <a:pPr marL="0" indent="0">
              <a:buNone/>
            </a:pPr>
            <a:r>
              <a:rPr lang="en-US" dirty="0" smtClean="0"/>
              <a:t>    &lt;servlet&gt;</a:t>
            </a:r>
          </a:p>
          <a:p>
            <a:pPr marL="0" indent="0">
              <a:buNone/>
            </a:pPr>
            <a:r>
              <a:rPr lang="en-US" dirty="0" smtClean="0"/>
              <a:t>        &lt;servlet-name&gt;</a:t>
            </a:r>
            <a:r>
              <a:rPr lang="en-US" dirty="0" err="1" smtClean="0"/>
              <a:t>SimpleServlet</a:t>
            </a:r>
            <a:r>
              <a:rPr lang="en-US" dirty="0" smtClean="0"/>
              <a:t>&lt;/servlet-name&gt;</a:t>
            </a:r>
          </a:p>
          <a:p>
            <a:pPr marL="0" indent="0">
              <a:buNone/>
            </a:pPr>
            <a:r>
              <a:rPr lang="en-US" dirty="0" smtClean="0"/>
              <a:t>        &lt;servlet-class&gt;</a:t>
            </a:r>
            <a:r>
              <a:rPr lang="en-US" dirty="0" err="1" smtClean="0"/>
              <a:t>SimpleServlet</a:t>
            </a:r>
            <a:r>
              <a:rPr lang="en-US" dirty="0" smtClean="0"/>
              <a:t>&lt;/servlet-class&gt;</a:t>
            </a:r>
          </a:p>
          <a:p>
            <a:pPr marL="0" indent="0">
              <a:buNone/>
            </a:pPr>
            <a:r>
              <a:rPr lang="en-US" dirty="0" smtClean="0"/>
              <a:t>    &lt;/servlet&gt;</a:t>
            </a:r>
          </a:p>
          <a:p>
            <a:pPr marL="0" indent="0">
              <a:buNone/>
            </a:pPr>
            <a:endParaRPr lang="en-US" dirty="0" smtClean="0"/>
          </a:p>
          <a:p>
            <a:pPr marL="0" indent="0">
              <a:buNone/>
            </a:pPr>
            <a:r>
              <a:rPr lang="en-US" dirty="0" smtClean="0"/>
              <a:t>    &lt;servlet-mapping&gt;</a:t>
            </a:r>
          </a:p>
          <a:p>
            <a:pPr marL="0" indent="0">
              <a:buNone/>
            </a:pPr>
            <a:r>
              <a:rPr lang="en-US" dirty="0" smtClean="0"/>
              <a:t>        &lt;servlet-name&gt;</a:t>
            </a:r>
            <a:r>
              <a:rPr lang="en-US" dirty="0" err="1" smtClean="0"/>
              <a:t>SimpleServlet</a:t>
            </a:r>
            <a:r>
              <a:rPr lang="en-US" dirty="0" smtClean="0"/>
              <a:t>&lt;/servlet-name&gt;</a:t>
            </a:r>
          </a:p>
          <a:p>
            <a:pPr marL="0" indent="0">
              <a:buNone/>
            </a:pPr>
            <a:r>
              <a:rPr lang="en-US" dirty="0" smtClean="0"/>
              <a:t>        &lt;</a:t>
            </a:r>
            <a:r>
              <a:rPr lang="en-US" dirty="0" err="1" smtClean="0"/>
              <a:t>url</a:t>
            </a:r>
            <a:r>
              <a:rPr lang="en-US" dirty="0" smtClean="0"/>
              <a:t>-pattern&gt;/hello&lt;/</a:t>
            </a:r>
            <a:r>
              <a:rPr lang="en-US" dirty="0" err="1" smtClean="0"/>
              <a:t>url</a:t>
            </a:r>
            <a:r>
              <a:rPr lang="en-US" dirty="0" smtClean="0"/>
              <a:t>-pattern&gt;</a:t>
            </a:r>
          </a:p>
          <a:p>
            <a:pPr marL="0" indent="0">
              <a:buNone/>
            </a:pPr>
            <a:r>
              <a:rPr lang="en-US" dirty="0" smtClean="0"/>
              <a:t>    &lt;/servlet-mapping&gt;</a:t>
            </a:r>
          </a:p>
          <a:p>
            <a:pPr marL="0" indent="0">
              <a:buNone/>
            </a:pPr>
            <a:r>
              <a:rPr lang="en-US" dirty="0" smtClean="0"/>
              <a:t>&lt;/web-app&gt;</a:t>
            </a:r>
          </a:p>
          <a:p>
            <a:pPr marL="0" indent="0">
              <a:buNone/>
            </a:pPr>
            <a:endParaRPr lang="en-US" dirty="0"/>
          </a:p>
        </p:txBody>
      </p:sp>
    </p:spTree>
    <p:extLst>
      <p:ext uri="{BB962C8B-B14F-4D97-AF65-F5344CB8AC3E}">
        <p14:creationId xmlns:p14="http://schemas.microsoft.com/office/powerpoint/2010/main" val="3361406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477000"/>
          </a:xfrm>
        </p:spPr>
        <p:txBody>
          <a:bodyPr>
            <a:normAutofit fontScale="70000" lnSpcReduction="20000"/>
          </a:bodyPr>
          <a:lstStyle/>
          <a:p>
            <a:r>
              <a:rPr lang="en-US" b="1" dirty="0" smtClean="0"/>
              <a:t>5. Create Project Structure</a:t>
            </a:r>
          </a:p>
          <a:p>
            <a:pPr marL="0" indent="0">
              <a:buNone/>
            </a:pPr>
            <a:endParaRPr lang="en-US" dirty="0" smtClean="0"/>
          </a:p>
          <a:p>
            <a:pPr marL="0" indent="0">
              <a:buNone/>
            </a:pPr>
            <a:r>
              <a:rPr lang="en-US" dirty="0" err="1" smtClean="0"/>
              <a:t>MyServletProject</a:t>
            </a:r>
            <a:r>
              <a:rPr lang="en-US" dirty="0" smtClean="0"/>
              <a:t>/</a:t>
            </a:r>
          </a:p>
          <a:p>
            <a:pPr marL="0" indent="0">
              <a:buNone/>
            </a:pPr>
            <a:r>
              <a:rPr lang="en-US" dirty="0" smtClean="0"/>
              <a:t>├── </a:t>
            </a:r>
            <a:r>
              <a:rPr lang="en-US" dirty="0" err="1" smtClean="0"/>
              <a:t>src</a:t>
            </a:r>
            <a:r>
              <a:rPr lang="en-US" dirty="0" smtClean="0"/>
              <a:t>/</a:t>
            </a:r>
          </a:p>
          <a:p>
            <a:pPr marL="0" indent="0">
              <a:buNone/>
            </a:pPr>
            <a:r>
              <a:rPr lang="en-US" dirty="0" smtClean="0"/>
              <a:t>│   └── SimpleServlet.java</a:t>
            </a:r>
          </a:p>
          <a:p>
            <a:pPr marL="0" indent="0">
              <a:buNone/>
            </a:pPr>
            <a:r>
              <a:rPr lang="en-US" dirty="0" smtClean="0"/>
              <a:t>├── WEB-INF/</a:t>
            </a:r>
          </a:p>
          <a:p>
            <a:pPr marL="0" indent="0">
              <a:buNone/>
            </a:pPr>
            <a:r>
              <a:rPr lang="en-US" dirty="0" smtClean="0"/>
              <a:t>│   ├── web.xml</a:t>
            </a:r>
          </a:p>
          <a:p>
            <a:pPr marL="0" indent="0">
              <a:buNone/>
            </a:pPr>
            <a:r>
              <a:rPr lang="en-US" dirty="0" smtClean="0"/>
              <a:t>│   └── classes/</a:t>
            </a:r>
          </a:p>
          <a:p>
            <a:pPr marL="0" indent="0">
              <a:buNone/>
            </a:pPr>
            <a:r>
              <a:rPr lang="en-US" dirty="0" smtClean="0"/>
              <a:t>│       └── </a:t>
            </a:r>
            <a:r>
              <a:rPr lang="en-US" dirty="0" err="1" smtClean="0"/>
              <a:t>SimpleServlet.class</a:t>
            </a:r>
            <a:endParaRPr lang="en-US" dirty="0" smtClean="0"/>
          </a:p>
          <a:p>
            <a:pPr marL="0" indent="0">
              <a:buNone/>
            </a:pPr>
            <a:r>
              <a:rPr lang="en-US" dirty="0" smtClean="0"/>
              <a:t>├── lib/</a:t>
            </a:r>
          </a:p>
          <a:p>
            <a:pPr marL="0" indent="0">
              <a:buNone/>
            </a:pPr>
            <a:r>
              <a:rPr lang="en-US" dirty="0" smtClean="0"/>
              <a:t>├── index.html</a:t>
            </a:r>
          </a:p>
          <a:p>
            <a:pPr marL="0" indent="0">
              <a:buNone/>
            </a:pPr>
            <a:endParaRPr lang="en-US" dirty="0" smtClean="0"/>
          </a:p>
          <a:p>
            <a:pPr marL="0" indent="0">
              <a:buNone/>
            </a:pPr>
            <a:endParaRPr lang="en-US" dirty="0" smtClean="0"/>
          </a:p>
          <a:p>
            <a:r>
              <a:rPr lang="en-US" b="1" dirty="0" smtClean="0"/>
              <a:t>6. Compile the Servlet</a:t>
            </a:r>
          </a:p>
          <a:p>
            <a:r>
              <a:rPr lang="en-US" dirty="0" smtClean="0"/>
              <a:t>Open terminal or command prompt.</a:t>
            </a:r>
          </a:p>
          <a:p>
            <a:r>
              <a:rPr lang="en-US" dirty="0" smtClean="0"/>
              <a:t>Navigate to the project folder.</a:t>
            </a:r>
          </a:p>
          <a:p>
            <a:r>
              <a:rPr lang="en-US" dirty="0" smtClean="0"/>
              <a:t>Compile using </a:t>
            </a:r>
            <a:r>
              <a:rPr lang="en-US" dirty="0" err="1" smtClean="0"/>
              <a:t>javac</a:t>
            </a:r>
            <a:r>
              <a:rPr lang="en-US" dirty="0" smtClean="0"/>
              <a:t>:</a:t>
            </a:r>
          </a:p>
          <a:p>
            <a:pPr marL="0" indent="0">
              <a:buNone/>
            </a:pPr>
            <a:r>
              <a:rPr lang="en-US" dirty="0" err="1" smtClean="0"/>
              <a:t>javac</a:t>
            </a:r>
            <a:r>
              <a:rPr lang="en-US" dirty="0" smtClean="0"/>
              <a:t> -d WEB-INF/classes </a:t>
            </a:r>
            <a:r>
              <a:rPr lang="en-US" dirty="0" err="1" smtClean="0"/>
              <a:t>src</a:t>
            </a:r>
            <a:r>
              <a:rPr lang="en-US" dirty="0" smtClean="0"/>
              <a:t>/SimpleServlet.java</a:t>
            </a:r>
          </a:p>
          <a:p>
            <a:pPr marL="0" indent="0">
              <a:buNone/>
            </a:pPr>
            <a:endParaRPr lang="en-US" dirty="0"/>
          </a:p>
        </p:txBody>
      </p:sp>
    </p:spTree>
    <p:extLst>
      <p:ext uri="{BB962C8B-B14F-4D97-AF65-F5344CB8AC3E}">
        <p14:creationId xmlns:p14="http://schemas.microsoft.com/office/powerpoint/2010/main" val="4112728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534400" cy="6400800"/>
          </a:xfrm>
        </p:spPr>
        <p:txBody>
          <a:bodyPr>
            <a:normAutofit fontScale="85000" lnSpcReduction="20000"/>
          </a:bodyPr>
          <a:lstStyle/>
          <a:p>
            <a:pPr marL="0" indent="0">
              <a:buNone/>
            </a:pPr>
            <a:r>
              <a:rPr lang="en-US" b="1" dirty="0" smtClean="0"/>
              <a:t>7. Deploy the Servlet</a:t>
            </a:r>
          </a:p>
          <a:p>
            <a:pPr marL="514350" indent="-514350">
              <a:buFont typeface="+mj-lt"/>
              <a:buAutoNum type="arabicPeriod"/>
            </a:pPr>
            <a:r>
              <a:rPr lang="en-US" dirty="0" smtClean="0"/>
              <a:t>Create a </a:t>
            </a:r>
            <a:r>
              <a:rPr lang="en-US" b="1" dirty="0" smtClean="0"/>
              <a:t>WAR (Web Archive)</a:t>
            </a:r>
            <a:r>
              <a:rPr lang="en-US" dirty="0" smtClean="0"/>
              <a:t> file:</a:t>
            </a:r>
          </a:p>
          <a:p>
            <a:pPr marL="0" indent="0">
              <a:buNone/>
            </a:pPr>
            <a:r>
              <a:rPr lang="en-US" dirty="0" smtClean="0"/>
              <a:t>jar -</a:t>
            </a:r>
            <a:r>
              <a:rPr lang="en-US" dirty="0" err="1" smtClean="0"/>
              <a:t>cvf</a:t>
            </a:r>
            <a:r>
              <a:rPr lang="en-US" dirty="0" smtClean="0"/>
              <a:t> </a:t>
            </a:r>
            <a:r>
              <a:rPr lang="en-US" dirty="0" err="1" smtClean="0"/>
              <a:t>MyServletProject.war</a:t>
            </a:r>
            <a:r>
              <a:rPr lang="en-US" dirty="0" smtClean="0"/>
              <a:t> *</a:t>
            </a:r>
          </a:p>
          <a:p>
            <a:pPr marL="0" indent="0">
              <a:buNone/>
            </a:pPr>
            <a:r>
              <a:rPr lang="en-US" dirty="0" smtClean="0"/>
              <a:t>2. Copy the WAR file to the </a:t>
            </a:r>
            <a:r>
              <a:rPr lang="en-US" b="1" dirty="0" smtClean="0"/>
              <a:t>Tomcat </a:t>
            </a:r>
            <a:r>
              <a:rPr lang="en-US" b="1" dirty="0" err="1" smtClean="0"/>
              <a:t>webapps</a:t>
            </a:r>
            <a:r>
              <a:rPr lang="en-US" dirty="0" smtClean="0"/>
              <a:t> folder:</a:t>
            </a:r>
          </a:p>
          <a:p>
            <a:r>
              <a:rPr lang="en-US" dirty="0" smtClean="0"/>
              <a:t>bash</a:t>
            </a:r>
          </a:p>
          <a:p>
            <a:r>
              <a:rPr lang="en-US" dirty="0" err="1" smtClean="0"/>
              <a:t>CopyEdit</a:t>
            </a:r>
            <a:endParaRPr lang="en-US" dirty="0" smtClean="0"/>
          </a:p>
          <a:p>
            <a:pPr marL="0" indent="0">
              <a:buNone/>
            </a:pPr>
            <a:r>
              <a:rPr lang="en-US" dirty="0" err="1" smtClean="0"/>
              <a:t>cp</a:t>
            </a:r>
            <a:r>
              <a:rPr lang="en-US" dirty="0" smtClean="0"/>
              <a:t> </a:t>
            </a:r>
            <a:r>
              <a:rPr lang="en-US" dirty="0" err="1" smtClean="0"/>
              <a:t>MyServletProject.war</a:t>
            </a:r>
            <a:r>
              <a:rPr lang="en-US" dirty="0" smtClean="0"/>
              <a:t> &lt;TOMCAT_HOME&gt;/</a:t>
            </a:r>
            <a:r>
              <a:rPr lang="en-US" dirty="0" err="1" smtClean="0"/>
              <a:t>webapps</a:t>
            </a:r>
            <a:r>
              <a:rPr lang="en-US" dirty="0" smtClean="0"/>
              <a:t>/</a:t>
            </a:r>
          </a:p>
          <a:p>
            <a:pPr marL="0" indent="0">
              <a:buNone/>
            </a:pPr>
            <a:r>
              <a:rPr lang="en-US" dirty="0" smtClean="0"/>
              <a:t>3. Start Tomcat:</a:t>
            </a:r>
          </a:p>
          <a:p>
            <a:pPr marL="0" indent="0">
              <a:buNone/>
            </a:pPr>
            <a:r>
              <a:rPr lang="en-US" dirty="0" smtClean="0"/>
              <a:t>cd &lt;TOMCAT_HOME&gt;/bin</a:t>
            </a:r>
          </a:p>
          <a:p>
            <a:pPr marL="0" indent="0">
              <a:buNone/>
            </a:pPr>
            <a:r>
              <a:rPr lang="en-US" dirty="0" smtClean="0"/>
              <a:t>./startup.sh   # For Linux/Mac</a:t>
            </a:r>
          </a:p>
          <a:p>
            <a:pPr marL="0" indent="0">
              <a:buNone/>
            </a:pPr>
            <a:r>
              <a:rPr lang="en-US" dirty="0" smtClean="0"/>
              <a:t>startup.bat    # For Windows</a:t>
            </a:r>
          </a:p>
          <a:p>
            <a:pPr marL="0" indent="0">
              <a:buNone/>
            </a:pPr>
            <a:endParaRPr lang="en-US" dirty="0" smtClean="0"/>
          </a:p>
          <a:p>
            <a:pPr marL="0" indent="0">
              <a:buNone/>
            </a:pPr>
            <a:r>
              <a:rPr lang="en-US" b="1" dirty="0" smtClean="0"/>
              <a:t>8. Access the Servlet</a:t>
            </a:r>
          </a:p>
          <a:p>
            <a:pPr marL="0" indent="0">
              <a:buNone/>
            </a:pPr>
            <a:r>
              <a:rPr lang="en-US" dirty="0" smtClean="0"/>
              <a:t>Open a browser and access the servlet:</a:t>
            </a:r>
          </a:p>
          <a:p>
            <a:pPr marL="0" indent="0">
              <a:buNone/>
            </a:pPr>
            <a:r>
              <a:rPr lang="en-US" dirty="0" smtClean="0"/>
              <a:t>http://localhost:8080/MyServletProject/hello</a:t>
            </a:r>
          </a:p>
          <a:p>
            <a:pPr marL="0" indent="0">
              <a:buNone/>
            </a:pPr>
            <a:endParaRPr lang="en-US" dirty="0"/>
          </a:p>
        </p:txBody>
      </p:sp>
    </p:spTree>
    <p:extLst>
      <p:ext uri="{BB962C8B-B14F-4D97-AF65-F5344CB8AC3E}">
        <p14:creationId xmlns:p14="http://schemas.microsoft.com/office/powerpoint/2010/main" val="2450756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Working with Cookies in Java Servlets</a:t>
            </a:r>
            <a:endParaRPr lang="en-US" b="1"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dirty="0" smtClean="0"/>
              <a:t>Cookies are small pieces of data stored on the </a:t>
            </a:r>
            <a:r>
              <a:rPr lang="en-US" b="1" dirty="0" smtClean="0"/>
              <a:t>client-side</a:t>
            </a:r>
            <a:r>
              <a:rPr lang="en-US" dirty="0" smtClean="0"/>
              <a:t> (browser) that a servlet can create and use to track user sessions, preferences, or data across multiple requests.</a:t>
            </a:r>
          </a:p>
          <a:p>
            <a:endParaRPr lang="en-US" dirty="0"/>
          </a:p>
          <a:p>
            <a:r>
              <a:rPr lang="en-US" b="1" dirty="0" smtClean="0"/>
              <a:t>What is a Cookie?</a:t>
            </a:r>
          </a:p>
          <a:p>
            <a:r>
              <a:rPr lang="en-US" dirty="0" smtClean="0"/>
              <a:t>A cookie is a </a:t>
            </a:r>
            <a:r>
              <a:rPr lang="en-US" b="1" dirty="0" smtClean="0"/>
              <a:t>key-value pair</a:t>
            </a:r>
            <a:r>
              <a:rPr lang="en-US" dirty="0" smtClean="0"/>
              <a:t> that is stored in the user's browser.</a:t>
            </a:r>
          </a:p>
          <a:p>
            <a:r>
              <a:rPr lang="en-US" dirty="0" smtClean="0"/>
              <a:t>Cookies are sent from the server to the client using the </a:t>
            </a:r>
            <a:r>
              <a:rPr lang="en-US" b="1" dirty="0" smtClean="0"/>
              <a:t>HTTP response</a:t>
            </a:r>
            <a:r>
              <a:rPr lang="en-US" dirty="0" smtClean="0"/>
              <a:t>.</a:t>
            </a:r>
          </a:p>
          <a:p>
            <a:r>
              <a:rPr lang="en-US" dirty="0" smtClean="0"/>
              <a:t>On subsequent requests, the browser automatically sends the cookie back to the server.</a:t>
            </a:r>
          </a:p>
          <a:p>
            <a:r>
              <a:rPr lang="en-US" dirty="0" smtClean="0"/>
              <a:t>A servlet can create, read, modify, and delete cookies.</a:t>
            </a:r>
          </a:p>
          <a:p>
            <a:endParaRPr lang="en-US" dirty="0"/>
          </a:p>
        </p:txBody>
      </p:sp>
    </p:spTree>
    <p:extLst>
      <p:ext uri="{BB962C8B-B14F-4D97-AF65-F5344CB8AC3E}">
        <p14:creationId xmlns:p14="http://schemas.microsoft.com/office/powerpoint/2010/main" val="242826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a:normAutofit/>
          </a:bodyPr>
          <a:lstStyle/>
          <a:p>
            <a:r>
              <a:rPr lang="en-US" b="1" dirty="0" smtClean="0"/>
              <a:t>Types of Cookies</a:t>
            </a:r>
          </a:p>
          <a:p>
            <a:r>
              <a:rPr lang="en-US" b="1" dirty="0" smtClean="0"/>
              <a:t>Session Cookies</a:t>
            </a:r>
            <a:r>
              <a:rPr lang="en-US" dirty="0" smtClean="0"/>
              <a:t> – Stored temporarily and deleted when the browser closes.</a:t>
            </a:r>
          </a:p>
          <a:p>
            <a:r>
              <a:rPr lang="en-US" b="1" dirty="0" smtClean="0"/>
              <a:t>Persistent Cookies</a:t>
            </a:r>
            <a:r>
              <a:rPr lang="en-US" dirty="0" smtClean="0"/>
              <a:t> – Stored on the client’s machine for a specified duration (using </a:t>
            </a:r>
            <a:r>
              <a:rPr lang="en-US" dirty="0" err="1" smtClean="0"/>
              <a:t>setMaxAge</a:t>
            </a:r>
            <a:r>
              <a:rPr lang="en-US" dirty="0" smtClean="0"/>
              <a:t>).</a:t>
            </a:r>
          </a:p>
          <a:p>
            <a:r>
              <a:rPr lang="en-US" b="1" dirty="0" smtClean="0"/>
              <a:t>Secure Cookies</a:t>
            </a:r>
            <a:r>
              <a:rPr lang="en-US" dirty="0" smtClean="0"/>
              <a:t> – Sent only over HTTPS.</a:t>
            </a:r>
          </a:p>
          <a:p>
            <a:r>
              <a:rPr lang="en-US" b="1" dirty="0" err="1" smtClean="0"/>
              <a:t>HttpOnly</a:t>
            </a:r>
            <a:r>
              <a:rPr lang="en-US" b="1" dirty="0" smtClean="0"/>
              <a:t> Cookies</a:t>
            </a:r>
            <a:r>
              <a:rPr lang="en-US" dirty="0" smtClean="0"/>
              <a:t> – Inaccessible to JavaScript for security reasons.</a:t>
            </a:r>
          </a:p>
          <a:p>
            <a:endParaRPr lang="en-US" dirty="0"/>
          </a:p>
        </p:txBody>
      </p:sp>
    </p:spTree>
    <p:extLst>
      <p:ext uri="{BB962C8B-B14F-4D97-AF65-F5344CB8AC3E}">
        <p14:creationId xmlns:p14="http://schemas.microsoft.com/office/powerpoint/2010/main" val="2421886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382000" cy="5668963"/>
          </a:xfrm>
        </p:spPr>
        <p:txBody>
          <a:bodyPr>
            <a:normAutofit lnSpcReduction="10000"/>
          </a:bodyPr>
          <a:lstStyle/>
          <a:p>
            <a:r>
              <a:rPr lang="en-US" b="1" dirty="0" smtClean="0"/>
              <a:t>Lifecycle of a Cookie</a:t>
            </a:r>
          </a:p>
          <a:p>
            <a:r>
              <a:rPr lang="en-US" b="1" dirty="0" smtClean="0"/>
              <a:t>Creating</a:t>
            </a:r>
            <a:r>
              <a:rPr lang="en-US" dirty="0" smtClean="0"/>
              <a:t> – Create a new cookie using new Cookie(name, value).</a:t>
            </a:r>
          </a:p>
          <a:p>
            <a:r>
              <a:rPr lang="en-US" b="1" dirty="0" smtClean="0"/>
              <a:t>Sending to Client</a:t>
            </a:r>
            <a:r>
              <a:rPr lang="en-US" dirty="0" smtClean="0"/>
              <a:t> – Add the cookie to the HTTP response using </a:t>
            </a:r>
            <a:r>
              <a:rPr lang="en-US" dirty="0" err="1" smtClean="0"/>
              <a:t>response.addCookie</a:t>
            </a:r>
            <a:r>
              <a:rPr lang="en-US" dirty="0" smtClean="0"/>
              <a:t>(cookie).</a:t>
            </a:r>
          </a:p>
          <a:p>
            <a:r>
              <a:rPr lang="en-US" b="1" dirty="0" smtClean="0"/>
              <a:t>Reading</a:t>
            </a:r>
            <a:r>
              <a:rPr lang="en-US" dirty="0" smtClean="0"/>
              <a:t> – Read cookies from the HTTP request using </a:t>
            </a:r>
            <a:r>
              <a:rPr lang="en-US" dirty="0" err="1" smtClean="0"/>
              <a:t>request.getCookies</a:t>
            </a:r>
            <a:r>
              <a:rPr lang="en-US" dirty="0" smtClean="0"/>
              <a:t>().</a:t>
            </a:r>
          </a:p>
          <a:p>
            <a:r>
              <a:rPr lang="en-US" b="1" dirty="0" smtClean="0"/>
              <a:t>Modifying</a:t>
            </a:r>
            <a:r>
              <a:rPr lang="en-US" dirty="0" smtClean="0"/>
              <a:t> – Update cookie attributes or create a new cookie.</a:t>
            </a:r>
          </a:p>
          <a:p>
            <a:r>
              <a:rPr lang="en-US" b="1" dirty="0" smtClean="0"/>
              <a:t>Deleting</a:t>
            </a:r>
            <a:r>
              <a:rPr lang="en-US" dirty="0" smtClean="0"/>
              <a:t> – Set </a:t>
            </a:r>
            <a:r>
              <a:rPr lang="en-US" dirty="0" err="1" smtClean="0"/>
              <a:t>setMaxAge</a:t>
            </a:r>
            <a:r>
              <a:rPr lang="en-US" dirty="0" smtClean="0"/>
              <a:t>(0) to delete the cookie.</a:t>
            </a:r>
          </a:p>
          <a:p>
            <a:endParaRPr lang="en-US" dirty="0"/>
          </a:p>
        </p:txBody>
      </p:sp>
    </p:spTree>
    <p:extLst>
      <p:ext uri="{BB962C8B-B14F-4D97-AF65-F5344CB8AC3E}">
        <p14:creationId xmlns:p14="http://schemas.microsoft.com/office/powerpoint/2010/main" val="2814526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534400" cy="6705600"/>
          </a:xfrm>
        </p:spPr>
        <p:txBody>
          <a:bodyPr>
            <a:normAutofit fontScale="47500" lnSpcReduction="20000"/>
          </a:bodyPr>
          <a:lstStyle/>
          <a:p>
            <a:r>
              <a:rPr lang="en-US" b="1" dirty="0" smtClean="0"/>
              <a:t>1. Creating a Cookie</a:t>
            </a:r>
          </a:p>
          <a:p>
            <a:r>
              <a:rPr lang="en-US" dirty="0" smtClean="0"/>
              <a:t>Create a cookie using Cookie class.</a:t>
            </a:r>
          </a:p>
          <a:p>
            <a:r>
              <a:rPr lang="en-US" dirty="0" smtClean="0"/>
              <a:t>Add it to the response using </a:t>
            </a:r>
            <a:r>
              <a:rPr lang="en-US" dirty="0" err="1" smtClean="0"/>
              <a:t>response.addCookie</a:t>
            </a:r>
            <a:r>
              <a:rPr lang="en-US" dirty="0" smtClean="0"/>
              <a:t>().</a:t>
            </a:r>
          </a:p>
          <a:p>
            <a:endParaRPr lang="en-US" dirty="0"/>
          </a:p>
          <a:p>
            <a:r>
              <a:rPr lang="en-US" b="1" dirty="0" smtClean="0"/>
              <a:t>Example: CreateCookieServlet.java</a:t>
            </a:r>
          </a:p>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CreateCookieServlet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r>
              <a:rPr lang="en-US" dirty="0" smtClean="0"/>
              <a:t>        </a:t>
            </a:r>
          </a:p>
          <a:p>
            <a:pPr marL="0" indent="0">
              <a:buNone/>
            </a:pPr>
            <a:r>
              <a:rPr lang="en-US" dirty="0" smtClean="0"/>
              <a:t>        // Create a cookie</a:t>
            </a:r>
          </a:p>
          <a:p>
            <a:pPr marL="0" indent="0">
              <a:buNone/>
            </a:pPr>
            <a:r>
              <a:rPr lang="en-US" dirty="0" smtClean="0"/>
              <a:t>        Cookie </a:t>
            </a:r>
            <a:r>
              <a:rPr lang="en-US" dirty="0" err="1" smtClean="0"/>
              <a:t>cookie</a:t>
            </a:r>
            <a:r>
              <a:rPr lang="en-US" dirty="0" smtClean="0"/>
              <a:t> = new Cookie("username", "</a:t>
            </a:r>
            <a:r>
              <a:rPr lang="en-US" dirty="0" err="1" smtClean="0"/>
              <a:t>JohnDoe</a:t>
            </a:r>
            <a:r>
              <a:rPr lang="en-US" dirty="0" smtClean="0"/>
              <a:t>");</a:t>
            </a:r>
          </a:p>
          <a:p>
            <a:pPr marL="0" indent="0">
              <a:buNone/>
            </a:pPr>
            <a:r>
              <a:rPr lang="en-US" dirty="0" smtClean="0"/>
              <a:t>        </a:t>
            </a:r>
          </a:p>
          <a:p>
            <a:pPr marL="0" indent="0">
              <a:buNone/>
            </a:pPr>
            <a:r>
              <a:rPr lang="en-US" dirty="0" smtClean="0"/>
              <a:t>        // Set expiration time (in seconds) - 24 hours</a:t>
            </a:r>
          </a:p>
          <a:p>
            <a:pPr marL="0" indent="0">
              <a:buNone/>
            </a:pPr>
            <a:r>
              <a:rPr lang="en-US" dirty="0" smtClean="0"/>
              <a:t>        </a:t>
            </a:r>
            <a:r>
              <a:rPr lang="en-US" dirty="0" err="1" smtClean="0"/>
              <a:t>cookie.setMaxAge</a:t>
            </a:r>
            <a:r>
              <a:rPr lang="en-US" dirty="0" smtClean="0"/>
              <a:t>(24 * 60 * 60);</a:t>
            </a:r>
          </a:p>
          <a:p>
            <a:pPr marL="0" indent="0">
              <a:buNone/>
            </a:pPr>
            <a:r>
              <a:rPr lang="en-US" dirty="0" smtClean="0"/>
              <a:t>        </a:t>
            </a:r>
          </a:p>
          <a:p>
            <a:pPr marL="0" indent="0">
              <a:buNone/>
            </a:pPr>
            <a:r>
              <a:rPr lang="en-US" dirty="0" smtClean="0"/>
              <a:t>        // Add cookie to the response</a:t>
            </a:r>
          </a:p>
          <a:p>
            <a:pPr marL="0" indent="0">
              <a:buNone/>
            </a:pPr>
            <a:r>
              <a:rPr lang="en-US" dirty="0" smtClean="0"/>
              <a:t>        </a:t>
            </a:r>
            <a:r>
              <a:rPr lang="en-US" dirty="0" err="1" smtClean="0"/>
              <a:t>response.addCookie</a:t>
            </a:r>
            <a:r>
              <a:rPr lang="en-US" dirty="0" smtClean="0"/>
              <a:t>(cookie);</a:t>
            </a:r>
          </a:p>
          <a:p>
            <a:pPr marL="0" indent="0">
              <a:buNone/>
            </a:pPr>
            <a:endParaRPr lang="en-US" dirty="0" smtClean="0"/>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("&lt;h1&gt;Cookie Created: username = </a:t>
            </a:r>
            <a:r>
              <a:rPr lang="en-US" dirty="0" err="1" smtClean="0"/>
              <a:t>JohnDoe</a:t>
            </a:r>
            <a:r>
              <a:rPr lang="en-US" dirty="0" smtClean="0"/>
              <a:t>&lt;/h1&gt;");</a:t>
            </a:r>
          </a:p>
          <a:p>
            <a:pPr marL="0" indent="0">
              <a:buNone/>
            </a:pPr>
            <a:r>
              <a:rPr lang="en-US" dirty="0" smtClean="0"/>
              <a:t>    }</a:t>
            </a:r>
          </a:p>
          <a:p>
            <a:pPr marL="0" indent="0">
              <a:buNone/>
            </a:pPr>
            <a:r>
              <a:rPr lang="en-US" dirty="0" smtClean="0"/>
              <a:t>}</a:t>
            </a:r>
          </a:p>
          <a:p>
            <a:pPr marL="0" indent="0">
              <a:buNone/>
            </a:pPr>
            <a:endParaRPr lang="en-US" dirty="0" smtClean="0"/>
          </a:p>
          <a:p>
            <a:endParaRPr lang="en-US" dirty="0"/>
          </a:p>
        </p:txBody>
      </p:sp>
    </p:spTree>
    <p:extLst>
      <p:ext uri="{BB962C8B-B14F-4D97-AF65-F5344CB8AC3E}">
        <p14:creationId xmlns:p14="http://schemas.microsoft.com/office/powerpoint/2010/main" val="2046862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5897563"/>
          </a:xfrm>
        </p:spPr>
        <p:txBody>
          <a:bodyPr/>
          <a:lstStyle/>
          <a:p>
            <a:r>
              <a:rPr lang="en-US" b="1" dirty="0" smtClean="0"/>
              <a:t>How it Works:</a:t>
            </a:r>
          </a:p>
          <a:p>
            <a:r>
              <a:rPr lang="en-US" dirty="0" smtClean="0"/>
              <a:t>A cookie named username is created.</a:t>
            </a:r>
          </a:p>
          <a:p>
            <a:r>
              <a:rPr lang="en-US" dirty="0" err="1" smtClean="0"/>
              <a:t>setMaxAge</a:t>
            </a:r>
            <a:r>
              <a:rPr lang="en-US" dirty="0" smtClean="0"/>
              <a:t>(24 * 60 * 60) → Cookie will expire after 24 hours.</a:t>
            </a:r>
          </a:p>
          <a:p>
            <a:r>
              <a:rPr lang="en-US" dirty="0" err="1" smtClean="0"/>
              <a:t>response.addCookie</a:t>
            </a:r>
            <a:r>
              <a:rPr lang="en-US" dirty="0" smtClean="0"/>
              <a:t>() sends the cookie to the client.</a:t>
            </a:r>
          </a:p>
          <a:p>
            <a:endParaRPr lang="en-US" dirty="0"/>
          </a:p>
          <a:p>
            <a:r>
              <a:rPr lang="en-US" b="1" dirty="0" smtClean="0"/>
              <a:t>2. Reading a Cookie</a:t>
            </a:r>
          </a:p>
          <a:p>
            <a:r>
              <a:rPr lang="en-US" dirty="0" smtClean="0"/>
              <a:t>Use </a:t>
            </a:r>
            <a:r>
              <a:rPr lang="en-US" dirty="0" err="1" smtClean="0"/>
              <a:t>request.getCookies</a:t>
            </a:r>
            <a:r>
              <a:rPr lang="en-US" dirty="0" smtClean="0"/>
              <a:t>() to read cookies.</a:t>
            </a:r>
          </a:p>
          <a:p>
            <a:r>
              <a:rPr lang="en-US" dirty="0" smtClean="0"/>
              <a:t>Loop through the cookies and read the values.</a:t>
            </a:r>
          </a:p>
          <a:p>
            <a:endParaRPr lang="en-US" dirty="0" smtClean="0"/>
          </a:p>
          <a:p>
            <a:endParaRPr lang="en-US" dirty="0"/>
          </a:p>
        </p:txBody>
      </p:sp>
    </p:spTree>
    <p:extLst>
      <p:ext uri="{BB962C8B-B14F-4D97-AF65-F5344CB8AC3E}">
        <p14:creationId xmlns:p14="http://schemas.microsoft.com/office/powerpoint/2010/main" val="379954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534400" cy="6934200"/>
          </a:xfrm>
        </p:spPr>
        <p:txBody>
          <a:bodyPr>
            <a:normAutofit fontScale="55000" lnSpcReduction="20000"/>
          </a:bodyPr>
          <a:lstStyle/>
          <a:p>
            <a:r>
              <a:rPr lang="en-US" dirty="0" smtClean="0"/>
              <a:t>Example: ReadCookieServlet.java</a:t>
            </a:r>
          </a:p>
          <a:p>
            <a:r>
              <a:rPr lang="en-US" dirty="0" smtClean="0"/>
              <a:t>import java.io.*;</a:t>
            </a:r>
          </a:p>
          <a:p>
            <a:r>
              <a:rPr lang="en-US" dirty="0" smtClean="0"/>
              <a:t>import </a:t>
            </a:r>
            <a:r>
              <a:rPr lang="en-US" dirty="0" err="1" smtClean="0"/>
              <a:t>javax.servlet</a:t>
            </a:r>
            <a:r>
              <a:rPr lang="en-US" dirty="0" smtClean="0"/>
              <a:t>.*;</a:t>
            </a:r>
          </a:p>
          <a:p>
            <a:r>
              <a:rPr lang="en-US" dirty="0" smtClean="0"/>
              <a:t>import </a:t>
            </a:r>
            <a:r>
              <a:rPr lang="en-US" dirty="0" err="1" smtClean="0"/>
              <a:t>javax.servlet.http</a:t>
            </a:r>
            <a:r>
              <a:rPr lang="en-US" dirty="0" smtClean="0"/>
              <a:t>.*;</a:t>
            </a:r>
          </a:p>
          <a:p>
            <a:endParaRPr lang="en-US" dirty="0" smtClean="0"/>
          </a:p>
          <a:p>
            <a:r>
              <a:rPr lang="en-US" dirty="0" smtClean="0"/>
              <a:t>public class </a:t>
            </a:r>
            <a:r>
              <a:rPr lang="en-US" dirty="0" err="1" smtClean="0"/>
              <a:t>ReadCookieServlet</a:t>
            </a:r>
            <a:r>
              <a:rPr lang="en-US" dirty="0" smtClean="0"/>
              <a:t> extends </a:t>
            </a:r>
            <a:r>
              <a:rPr lang="en-US" dirty="0" err="1" smtClean="0"/>
              <a:t>HttpServlet</a:t>
            </a:r>
            <a:r>
              <a:rPr lang="en-US" dirty="0" smtClean="0"/>
              <a:t> {</a:t>
            </a:r>
          </a:p>
          <a:p>
            <a:endParaRPr lang="en-US" dirty="0" smtClean="0"/>
          </a:p>
          <a:p>
            <a:r>
              <a:rPr lang="en-US" dirty="0" smtClean="0"/>
              <a:t>    @Override</a:t>
            </a:r>
          </a:p>
          <a:p>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r>
              <a:rPr lang="en-US" dirty="0" smtClean="0"/>
              <a:t>            throws </a:t>
            </a:r>
            <a:r>
              <a:rPr lang="en-US" dirty="0" err="1" smtClean="0"/>
              <a:t>ServletException</a:t>
            </a:r>
            <a:r>
              <a:rPr lang="en-US" dirty="0" smtClean="0"/>
              <a:t>, </a:t>
            </a:r>
            <a:r>
              <a:rPr lang="en-US" dirty="0" err="1" smtClean="0"/>
              <a:t>IOException</a:t>
            </a:r>
            <a:r>
              <a:rPr lang="en-US" dirty="0" smtClean="0"/>
              <a:t> {</a:t>
            </a:r>
          </a:p>
          <a:p>
            <a:r>
              <a:rPr lang="en-US" dirty="0" smtClean="0"/>
              <a:t>        </a:t>
            </a:r>
          </a:p>
          <a:p>
            <a:r>
              <a:rPr lang="en-US" dirty="0" smtClean="0"/>
              <a:t>        Cookie[] cookies = </a:t>
            </a:r>
            <a:r>
              <a:rPr lang="en-US" dirty="0" err="1" smtClean="0"/>
              <a:t>request.getCookies</a:t>
            </a:r>
            <a:r>
              <a:rPr lang="en-US" dirty="0" smtClean="0"/>
              <a:t>();</a:t>
            </a:r>
          </a:p>
          <a:p>
            <a:endParaRPr lang="en-US" dirty="0" smtClean="0"/>
          </a:p>
          <a:p>
            <a:r>
              <a:rPr lang="en-US" dirty="0" smtClean="0"/>
              <a:t>        </a:t>
            </a:r>
            <a:r>
              <a:rPr lang="en-US" dirty="0" err="1" smtClean="0"/>
              <a:t>response.setContentType</a:t>
            </a:r>
            <a:r>
              <a:rPr lang="en-US" dirty="0" smtClean="0"/>
              <a:t>("text/html");</a:t>
            </a:r>
          </a:p>
          <a:p>
            <a:r>
              <a:rPr lang="en-US" dirty="0" smtClean="0"/>
              <a:t>        </a:t>
            </a:r>
            <a:r>
              <a:rPr lang="en-US" dirty="0" err="1" smtClean="0"/>
              <a:t>PrintWriter</a:t>
            </a:r>
            <a:r>
              <a:rPr lang="en-US" dirty="0" smtClean="0"/>
              <a:t> out = </a:t>
            </a:r>
            <a:r>
              <a:rPr lang="en-US" dirty="0" err="1" smtClean="0"/>
              <a:t>response.getWriter</a:t>
            </a:r>
            <a:r>
              <a:rPr lang="en-US" dirty="0" smtClean="0"/>
              <a:t>();</a:t>
            </a:r>
          </a:p>
          <a:p>
            <a:endParaRPr lang="en-US" dirty="0" smtClean="0"/>
          </a:p>
          <a:p>
            <a:r>
              <a:rPr lang="en-US" dirty="0" smtClean="0"/>
              <a:t>        if (cookies != null) {</a:t>
            </a:r>
          </a:p>
          <a:p>
            <a:r>
              <a:rPr lang="en-US" dirty="0" smtClean="0"/>
              <a:t>            for (Cookie </a:t>
            </a:r>
            <a:r>
              <a:rPr lang="en-US" dirty="0" err="1" smtClean="0"/>
              <a:t>cookie</a:t>
            </a:r>
            <a:r>
              <a:rPr lang="en-US" dirty="0" smtClean="0"/>
              <a:t> : cookies) {</a:t>
            </a:r>
          </a:p>
          <a:p>
            <a:r>
              <a:rPr lang="en-US" dirty="0" smtClean="0"/>
              <a:t>                </a:t>
            </a:r>
            <a:r>
              <a:rPr lang="en-US" dirty="0" err="1" smtClean="0"/>
              <a:t>out.println</a:t>
            </a:r>
            <a:r>
              <a:rPr lang="en-US" dirty="0" smtClean="0"/>
              <a:t>("&lt;p&gt;" + </a:t>
            </a:r>
            <a:r>
              <a:rPr lang="en-US" dirty="0" err="1" smtClean="0"/>
              <a:t>cookie.getName</a:t>
            </a:r>
            <a:r>
              <a:rPr lang="en-US" dirty="0" smtClean="0"/>
              <a:t>() + " = " + </a:t>
            </a:r>
            <a:r>
              <a:rPr lang="en-US" dirty="0" err="1" smtClean="0"/>
              <a:t>cookie.getValue</a:t>
            </a:r>
            <a:r>
              <a:rPr lang="en-US" dirty="0" smtClean="0"/>
              <a:t>() + "&lt;/p&gt;");</a:t>
            </a:r>
          </a:p>
          <a:p>
            <a:r>
              <a:rPr lang="en-US" dirty="0" smtClean="0"/>
              <a:t>            }</a:t>
            </a:r>
          </a:p>
          <a:p>
            <a:r>
              <a:rPr lang="en-US" dirty="0" smtClean="0"/>
              <a:t>        } else {</a:t>
            </a:r>
          </a:p>
          <a:p>
            <a:r>
              <a:rPr lang="en-US" dirty="0" smtClean="0"/>
              <a:t>            </a:t>
            </a:r>
            <a:r>
              <a:rPr lang="en-US" dirty="0" err="1" smtClean="0"/>
              <a:t>out.println</a:t>
            </a:r>
            <a:r>
              <a:rPr lang="en-US" dirty="0" smtClean="0"/>
              <a:t>("&lt;p&gt;No cookies found&lt;/p&gt;");</a:t>
            </a:r>
          </a:p>
          <a:p>
            <a:r>
              <a:rPr lang="en-US" dirty="0" smtClean="0"/>
              <a:t>        }</a:t>
            </a:r>
          </a:p>
          <a:p>
            <a:r>
              <a:rPr lang="en-US" dirty="0" smtClean="0"/>
              <a:t>    }</a:t>
            </a:r>
          </a:p>
          <a:p>
            <a:r>
              <a:rPr lang="en-US" dirty="0" smtClean="0"/>
              <a:t>}</a:t>
            </a:r>
          </a:p>
          <a:p>
            <a:endParaRPr lang="en-US" dirty="0"/>
          </a:p>
        </p:txBody>
      </p:sp>
    </p:spTree>
    <p:extLst>
      <p:ext uri="{BB962C8B-B14F-4D97-AF65-F5344CB8AC3E}">
        <p14:creationId xmlns:p14="http://schemas.microsoft.com/office/powerpoint/2010/main" val="3127305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a:normAutofit/>
          </a:bodyPr>
          <a:lstStyle/>
          <a:p>
            <a:r>
              <a:rPr lang="en-US" b="1" dirty="0" smtClean="0"/>
              <a:t>How it Works:</a:t>
            </a:r>
          </a:p>
          <a:p>
            <a:r>
              <a:rPr lang="en-US" dirty="0" err="1" smtClean="0"/>
              <a:t>request.getCookies</a:t>
            </a:r>
            <a:r>
              <a:rPr lang="en-US" dirty="0" smtClean="0"/>
              <a:t>() → Retrieves all cookies from the client request.</a:t>
            </a:r>
          </a:p>
          <a:p>
            <a:r>
              <a:rPr lang="en-US" dirty="0" smtClean="0"/>
              <a:t>Cookies are printed using </a:t>
            </a:r>
            <a:r>
              <a:rPr lang="en-US" dirty="0" err="1" smtClean="0"/>
              <a:t>getName</a:t>
            </a:r>
            <a:r>
              <a:rPr lang="en-US" dirty="0" smtClean="0"/>
              <a:t>() and </a:t>
            </a:r>
            <a:r>
              <a:rPr lang="en-US" dirty="0" err="1" smtClean="0"/>
              <a:t>getValue</a:t>
            </a:r>
            <a:r>
              <a:rPr lang="en-US" dirty="0" smtClean="0"/>
              <a:t>() methods.</a:t>
            </a:r>
          </a:p>
          <a:p>
            <a:endParaRPr lang="en-US" dirty="0" smtClean="0"/>
          </a:p>
          <a:p>
            <a:r>
              <a:rPr lang="en-US" b="1" dirty="0" smtClean="0"/>
              <a:t>3. Modifying a Cookie</a:t>
            </a:r>
          </a:p>
          <a:p>
            <a:r>
              <a:rPr lang="en-US" dirty="0" smtClean="0"/>
              <a:t>A cookie's value or expiry time can be updated by creating a new cookie with the same name.</a:t>
            </a:r>
          </a:p>
          <a:p>
            <a:r>
              <a:rPr lang="en-US" dirty="0" smtClean="0"/>
              <a:t>The new cookie will overwrite the existing one.</a:t>
            </a:r>
          </a:p>
          <a:p>
            <a:endParaRPr lang="en-US" dirty="0"/>
          </a:p>
        </p:txBody>
      </p:sp>
    </p:spTree>
    <p:extLst>
      <p:ext uri="{BB962C8B-B14F-4D97-AF65-F5344CB8AC3E}">
        <p14:creationId xmlns:p14="http://schemas.microsoft.com/office/powerpoint/2010/main" val="3776695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Example: ModifyCookieServlet.java</a:t>
            </a:r>
            <a:endParaRPr lang="en-US" dirty="0"/>
          </a:p>
        </p:txBody>
      </p:sp>
      <p:sp>
        <p:nvSpPr>
          <p:cNvPr id="3" name="Content Placeholder 2"/>
          <p:cNvSpPr>
            <a:spLocks noGrp="1"/>
          </p:cNvSpPr>
          <p:nvPr>
            <p:ph idx="1"/>
          </p:nvPr>
        </p:nvSpPr>
        <p:spPr>
          <a:xfrm>
            <a:off x="228600" y="762000"/>
            <a:ext cx="8458200" cy="6248400"/>
          </a:xfrm>
        </p:spPr>
        <p:txBody>
          <a:bodyPr>
            <a:normAutofit fontScale="55000" lnSpcReduction="20000"/>
          </a:bodyPr>
          <a:lstStyle/>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ModifyCookieServlet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endParaRPr lang="en-US" dirty="0" smtClean="0"/>
          </a:p>
          <a:p>
            <a:pPr marL="0" indent="0">
              <a:buNone/>
            </a:pPr>
            <a:r>
              <a:rPr lang="en-US" dirty="0" smtClean="0"/>
              <a:t>        // Create a new cookie with the same name to overwrite the old one</a:t>
            </a:r>
          </a:p>
          <a:p>
            <a:pPr marL="0" indent="0">
              <a:buNone/>
            </a:pPr>
            <a:r>
              <a:rPr lang="en-US" dirty="0" smtClean="0"/>
              <a:t>        Cookie </a:t>
            </a:r>
            <a:r>
              <a:rPr lang="en-US" dirty="0" err="1" smtClean="0"/>
              <a:t>cookie</a:t>
            </a:r>
            <a:r>
              <a:rPr lang="en-US" dirty="0" smtClean="0"/>
              <a:t> = new Cookie("username", "</a:t>
            </a:r>
            <a:r>
              <a:rPr lang="en-US" dirty="0" err="1" smtClean="0"/>
              <a:t>JaneDoe</a:t>
            </a:r>
            <a:r>
              <a:rPr lang="en-US" dirty="0" smtClean="0"/>
              <a:t>");</a:t>
            </a:r>
          </a:p>
          <a:p>
            <a:pPr marL="0" indent="0">
              <a:buNone/>
            </a:pPr>
            <a:r>
              <a:rPr lang="en-US" dirty="0" smtClean="0"/>
              <a:t>        </a:t>
            </a:r>
            <a:r>
              <a:rPr lang="en-US" dirty="0" err="1" smtClean="0"/>
              <a:t>cookie.setMaxAge</a:t>
            </a:r>
            <a:r>
              <a:rPr lang="en-US" dirty="0" smtClean="0"/>
              <a:t>(48 * 60 * 60); // 48 hours</a:t>
            </a:r>
          </a:p>
          <a:p>
            <a:pPr marL="0" indent="0">
              <a:buNone/>
            </a:pPr>
            <a:r>
              <a:rPr lang="en-US" dirty="0" smtClean="0"/>
              <a:t>        </a:t>
            </a:r>
          </a:p>
          <a:p>
            <a:pPr marL="0" indent="0">
              <a:buNone/>
            </a:pPr>
            <a:r>
              <a:rPr lang="en-US" dirty="0" smtClean="0"/>
              <a:t>        // Add cookie to response (will overwrite old value)</a:t>
            </a:r>
          </a:p>
          <a:p>
            <a:pPr marL="0" indent="0">
              <a:buNone/>
            </a:pPr>
            <a:r>
              <a:rPr lang="en-US" dirty="0" smtClean="0"/>
              <a:t>        </a:t>
            </a:r>
            <a:r>
              <a:rPr lang="en-US" dirty="0" err="1" smtClean="0"/>
              <a:t>response.addCookie</a:t>
            </a:r>
            <a:r>
              <a:rPr lang="en-US" dirty="0" smtClean="0"/>
              <a:t>(cookie);</a:t>
            </a:r>
          </a:p>
          <a:p>
            <a:pPr marL="0" indent="0">
              <a:buNone/>
            </a:pPr>
            <a:endParaRPr lang="en-US" dirty="0" smtClean="0"/>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("&lt;h1&gt;Cookie Modified: username = </a:t>
            </a:r>
            <a:r>
              <a:rPr lang="en-US" dirty="0" err="1" smtClean="0"/>
              <a:t>JaneDoe</a:t>
            </a:r>
            <a:r>
              <a:rPr lang="en-US" dirty="0" smtClean="0"/>
              <a:t>&lt;/h1&gt;");</a:t>
            </a:r>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1049223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b="1" dirty="0" smtClean="0"/>
              <a:t>How it Works:</a:t>
            </a:r>
          </a:p>
          <a:p>
            <a:r>
              <a:rPr lang="en-US" dirty="0" smtClean="0"/>
              <a:t>A new cookie with the same name (username) is created.</a:t>
            </a:r>
          </a:p>
          <a:p>
            <a:r>
              <a:rPr lang="en-US" dirty="0" smtClean="0"/>
              <a:t>New value (</a:t>
            </a:r>
            <a:r>
              <a:rPr lang="en-US" dirty="0" err="1" smtClean="0"/>
              <a:t>JaneDoe</a:t>
            </a:r>
            <a:r>
              <a:rPr lang="en-US" dirty="0" smtClean="0"/>
              <a:t>) is assigned.</a:t>
            </a:r>
          </a:p>
          <a:p>
            <a:r>
              <a:rPr lang="en-US" dirty="0" smtClean="0"/>
              <a:t>Old cookie is overwritten.</a:t>
            </a:r>
          </a:p>
          <a:p>
            <a:endParaRPr lang="en-US" dirty="0" smtClean="0"/>
          </a:p>
          <a:p>
            <a:r>
              <a:rPr lang="en-US" b="1" dirty="0" smtClean="0"/>
              <a:t>4. Deleting a Cookie</a:t>
            </a:r>
          </a:p>
          <a:p>
            <a:r>
              <a:rPr lang="en-US" dirty="0" smtClean="0"/>
              <a:t>To delete a cookie: </a:t>
            </a:r>
          </a:p>
          <a:p>
            <a:pPr lvl="1"/>
            <a:r>
              <a:rPr lang="en-US" dirty="0" smtClean="0"/>
              <a:t>Create a new cookie with the </a:t>
            </a:r>
            <a:r>
              <a:rPr lang="en-US" b="1" dirty="0" smtClean="0"/>
              <a:t>same name</a:t>
            </a:r>
            <a:r>
              <a:rPr lang="en-US" dirty="0" smtClean="0"/>
              <a:t>.</a:t>
            </a:r>
          </a:p>
          <a:p>
            <a:pPr lvl="1"/>
            <a:r>
              <a:rPr lang="en-US" dirty="0" smtClean="0"/>
              <a:t>Set its expiration to 0 using </a:t>
            </a:r>
            <a:r>
              <a:rPr lang="en-US" dirty="0" err="1" smtClean="0"/>
              <a:t>setMaxAge</a:t>
            </a:r>
            <a:r>
              <a:rPr lang="en-US" dirty="0" smtClean="0"/>
              <a:t>(0).</a:t>
            </a:r>
          </a:p>
          <a:p>
            <a:endParaRPr lang="en-US" dirty="0"/>
          </a:p>
        </p:txBody>
      </p:sp>
    </p:spTree>
    <p:extLst>
      <p:ext uri="{BB962C8B-B14F-4D97-AF65-F5344CB8AC3E}">
        <p14:creationId xmlns:p14="http://schemas.microsoft.com/office/powerpoint/2010/main" val="3979598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915400" cy="350838"/>
          </a:xfrm>
        </p:spPr>
        <p:txBody>
          <a:bodyPr>
            <a:normAutofit fontScale="90000"/>
          </a:bodyPr>
          <a:lstStyle/>
          <a:p>
            <a:r>
              <a:rPr lang="en-US" b="1" dirty="0" smtClean="0"/>
              <a:t>Example: DeleteCookieServlet.java</a:t>
            </a:r>
            <a:br>
              <a:rPr lang="en-US" b="1" dirty="0" smtClean="0"/>
            </a:b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381000" y="762000"/>
            <a:ext cx="8305800" cy="5867400"/>
          </a:xfrm>
        </p:spPr>
        <p:txBody>
          <a:bodyPr>
            <a:normAutofit fontScale="55000" lnSpcReduction="20000"/>
          </a:bodyPr>
          <a:lstStyle/>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DeleteCookieServlet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endParaRPr lang="en-US" dirty="0" smtClean="0"/>
          </a:p>
          <a:p>
            <a:pPr marL="0" indent="0">
              <a:buNone/>
            </a:pPr>
            <a:r>
              <a:rPr lang="en-US" dirty="0" smtClean="0"/>
              <a:t>        Cookie </a:t>
            </a:r>
            <a:r>
              <a:rPr lang="en-US" dirty="0" err="1" smtClean="0"/>
              <a:t>cookie</a:t>
            </a:r>
            <a:r>
              <a:rPr lang="en-US" dirty="0" smtClean="0"/>
              <a:t> = new Cookie("username", "");</a:t>
            </a:r>
          </a:p>
          <a:p>
            <a:pPr marL="0" indent="0">
              <a:buNone/>
            </a:pPr>
            <a:r>
              <a:rPr lang="en-US" dirty="0" smtClean="0"/>
              <a:t>        </a:t>
            </a:r>
            <a:r>
              <a:rPr lang="en-US" dirty="0" err="1" smtClean="0"/>
              <a:t>cookie.setMaxAge</a:t>
            </a:r>
            <a:r>
              <a:rPr lang="en-US" dirty="0" smtClean="0"/>
              <a:t>(0); // Delete the cookie</a:t>
            </a:r>
          </a:p>
          <a:p>
            <a:pPr marL="0" indent="0">
              <a:buNone/>
            </a:pPr>
            <a:r>
              <a:rPr lang="en-US" dirty="0" smtClean="0"/>
              <a:t>        </a:t>
            </a:r>
          </a:p>
          <a:p>
            <a:pPr marL="0" indent="0">
              <a:buNone/>
            </a:pPr>
            <a:r>
              <a:rPr lang="en-US" dirty="0" smtClean="0"/>
              <a:t>        // Add to response to remove from browser</a:t>
            </a:r>
          </a:p>
          <a:p>
            <a:pPr marL="0" indent="0">
              <a:buNone/>
            </a:pPr>
            <a:r>
              <a:rPr lang="en-US" dirty="0" smtClean="0"/>
              <a:t>        </a:t>
            </a:r>
            <a:r>
              <a:rPr lang="en-US" dirty="0" err="1" smtClean="0"/>
              <a:t>response.addCookie</a:t>
            </a:r>
            <a:r>
              <a:rPr lang="en-US" dirty="0" smtClean="0"/>
              <a:t>(cookie);</a:t>
            </a:r>
          </a:p>
          <a:p>
            <a:pPr marL="0" indent="0">
              <a:buNone/>
            </a:pPr>
            <a:endParaRPr lang="en-US" dirty="0" smtClean="0"/>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("&lt;h1&gt;Cookie Deleted&lt;/h1&gt;");</a:t>
            </a:r>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1537978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b="1" dirty="0" smtClean="0"/>
              <a:t>How it Works:</a:t>
            </a:r>
          </a:p>
          <a:p>
            <a:r>
              <a:rPr lang="en-US" dirty="0" err="1" smtClean="0"/>
              <a:t>setMaxAge</a:t>
            </a:r>
            <a:r>
              <a:rPr lang="en-US" dirty="0" smtClean="0"/>
              <a:t>(0) → Sets expiry to 0 to delete the cookie.</a:t>
            </a:r>
          </a:p>
          <a:p>
            <a:r>
              <a:rPr lang="en-US" dirty="0" err="1" smtClean="0"/>
              <a:t>response.addCookie</a:t>
            </a:r>
            <a:r>
              <a:rPr lang="en-US" dirty="0" smtClean="0"/>
              <a:t>() sends the deletion command to the client.</a:t>
            </a:r>
          </a:p>
          <a:p>
            <a:endParaRPr lang="en-US" dirty="0" smtClean="0"/>
          </a:p>
          <a:p>
            <a:r>
              <a:rPr lang="en-US" b="1" dirty="0" smtClean="0"/>
              <a:t>5. </a:t>
            </a:r>
            <a:r>
              <a:rPr lang="en-US" b="1" dirty="0" err="1" smtClean="0"/>
              <a:t>HttpOnly</a:t>
            </a:r>
            <a:r>
              <a:rPr lang="en-US" b="1" dirty="0" smtClean="0"/>
              <a:t> and Secure Cookies</a:t>
            </a:r>
          </a:p>
          <a:p>
            <a:r>
              <a:rPr lang="en-US" dirty="0" err="1" smtClean="0"/>
              <a:t>setHttpOnly</a:t>
            </a:r>
            <a:r>
              <a:rPr lang="en-US" dirty="0" smtClean="0"/>
              <a:t>(true) – Prevents JavaScript from accessing cookies.</a:t>
            </a:r>
          </a:p>
          <a:p>
            <a:r>
              <a:rPr lang="en-US" dirty="0" err="1" smtClean="0"/>
              <a:t>setSecure</a:t>
            </a:r>
            <a:r>
              <a:rPr lang="en-US" dirty="0" smtClean="0"/>
              <a:t>(true) – Sends cookies only over HTTPS.</a:t>
            </a:r>
          </a:p>
          <a:p>
            <a:endParaRPr lang="en-US" dirty="0"/>
          </a:p>
        </p:txBody>
      </p:sp>
    </p:spTree>
    <p:extLst>
      <p:ext uri="{BB962C8B-B14F-4D97-AF65-F5344CB8AC3E}">
        <p14:creationId xmlns:p14="http://schemas.microsoft.com/office/powerpoint/2010/main" val="590229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t>Example: SecureCookieServlet.java</a:t>
            </a:r>
            <a:endParaRPr lang="en-US" dirty="0"/>
          </a:p>
        </p:txBody>
      </p:sp>
      <p:sp>
        <p:nvSpPr>
          <p:cNvPr id="3" name="Content Placeholder 2"/>
          <p:cNvSpPr>
            <a:spLocks noGrp="1"/>
          </p:cNvSpPr>
          <p:nvPr>
            <p:ph idx="1"/>
          </p:nvPr>
        </p:nvSpPr>
        <p:spPr>
          <a:xfrm>
            <a:off x="152400" y="838200"/>
            <a:ext cx="8534400" cy="6324600"/>
          </a:xfrm>
        </p:spPr>
        <p:txBody>
          <a:bodyPr>
            <a:normAutofit fontScale="47500" lnSpcReduction="20000"/>
          </a:bodyPr>
          <a:lstStyle/>
          <a:p>
            <a:pPr marL="0" indent="0">
              <a:buNone/>
            </a:pPr>
            <a:r>
              <a:rPr lang="en-US" dirty="0" smtClean="0"/>
              <a:t>import java.io.*;</a:t>
            </a:r>
          </a:p>
          <a:p>
            <a:pPr marL="0" indent="0">
              <a:buNone/>
            </a:pPr>
            <a:r>
              <a:rPr lang="en-US" dirty="0" smtClean="0"/>
              <a:t>import </a:t>
            </a:r>
            <a:r>
              <a:rPr lang="en-US" dirty="0" err="1" smtClean="0"/>
              <a:t>javax.servlet</a:t>
            </a:r>
            <a:r>
              <a:rPr lang="en-US" dirty="0" smtClean="0"/>
              <a:t>.*;</a:t>
            </a:r>
          </a:p>
          <a:p>
            <a:pPr marL="0" indent="0">
              <a:buNone/>
            </a:pPr>
            <a:r>
              <a:rPr lang="en-US" dirty="0" smtClean="0"/>
              <a:t>import </a:t>
            </a:r>
            <a:r>
              <a:rPr lang="en-US" dirty="0" err="1" smtClean="0"/>
              <a:t>javax.servlet.http</a:t>
            </a:r>
            <a:r>
              <a:rPr lang="en-US" dirty="0" smtClean="0"/>
              <a:t>.*;</a:t>
            </a:r>
          </a:p>
          <a:p>
            <a:pPr marL="0" indent="0">
              <a:buNone/>
            </a:pPr>
            <a:endParaRPr lang="en-US" dirty="0" smtClean="0"/>
          </a:p>
          <a:p>
            <a:pPr marL="0" indent="0">
              <a:buNone/>
            </a:pPr>
            <a:r>
              <a:rPr lang="en-US" dirty="0" smtClean="0"/>
              <a:t>public class </a:t>
            </a:r>
            <a:r>
              <a:rPr lang="en-US" dirty="0" err="1" smtClean="0"/>
              <a:t>SecureCookieServlet</a:t>
            </a:r>
            <a:r>
              <a:rPr lang="en-US" dirty="0" smtClean="0"/>
              <a:t> extends </a:t>
            </a:r>
            <a:r>
              <a:rPr lang="en-US" dirty="0" err="1" smtClean="0"/>
              <a:t>HttpServlet</a:t>
            </a:r>
            <a:r>
              <a:rPr lang="en-US" dirty="0" smtClean="0"/>
              <a:t> {</a:t>
            </a:r>
          </a:p>
          <a:p>
            <a:pPr marL="0" indent="0">
              <a:buNone/>
            </a:pPr>
            <a:endParaRPr lang="en-US" dirty="0" smtClean="0"/>
          </a:p>
          <a:p>
            <a:pPr marL="0" indent="0">
              <a:buNone/>
            </a:pPr>
            <a:r>
              <a:rPr lang="en-US" dirty="0" smtClean="0"/>
              <a:t>    @Override</a:t>
            </a:r>
          </a:p>
          <a:p>
            <a:pPr marL="0" indent="0">
              <a:buNone/>
            </a:pPr>
            <a:r>
              <a:rPr lang="en-US" dirty="0" smtClean="0"/>
              <a:t>    protected void </a:t>
            </a:r>
            <a:r>
              <a:rPr lang="en-US" dirty="0" err="1" smtClean="0"/>
              <a:t>doGet</a:t>
            </a:r>
            <a:r>
              <a:rPr lang="en-US" dirty="0" smtClean="0"/>
              <a:t>(</a:t>
            </a:r>
            <a:r>
              <a:rPr lang="en-US" dirty="0" err="1" smtClean="0"/>
              <a:t>HttpServletRequest</a:t>
            </a:r>
            <a:r>
              <a:rPr lang="en-US" dirty="0" smtClean="0"/>
              <a:t> request, </a:t>
            </a:r>
            <a:r>
              <a:rPr lang="en-US" dirty="0" err="1" smtClean="0"/>
              <a:t>HttpServletResponse</a:t>
            </a:r>
            <a:r>
              <a:rPr lang="en-US" dirty="0" smtClean="0"/>
              <a:t> response) </a:t>
            </a:r>
          </a:p>
          <a:p>
            <a:pPr marL="0" indent="0">
              <a:buNone/>
            </a:pPr>
            <a:r>
              <a:rPr lang="en-US" dirty="0" smtClean="0"/>
              <a:t>            throws </a:t>
            </a:r>
            <a:r>
              <a:rPr lang="en-US" dirty="0" err="1" smtClean="0"/>
              <a:t>ServletException</a:t>
            </a:r>
            <a:r>
              <a:rPr lang="en-US" dirty="0" smtClean="0"/>
              <a:t>, </a:t>
            </a:r>
            <a:r>
              <a:rPr lang="en-US" dirty="0" err="1" smtClean="0"/>
              <a:t>IOException</a:t>
            </a:r>
            <a:r>
              <a:rPr lang="en-US" dirty="0" smtClean="0"/>
              <a:t> {</a:t>
            </a:r>
          </a:p>
          <a:p>
            <a:pPr marL="0" indent="0">
              <a:buNone/>
            </a:pPr>
            <a:endParaRPr lang="en-US" dirty="0" smtClean="0"/>
          </a:p>
          <a:p>
            <a:pPr marL="0" indent="0">
              <a:buNone/>
            </a:pPr>
            <a:r>
              <a:rPr lang="en-US" dirty="0" smtClean="0"/>
              <a:t>        Cookie </a:t>
            </a:r>
            <a:r>
              <a:rPr lang="en-US" dirty="0" err="1" smtClean="0"/>
              <a:t>cookie</a:t>
            </a:r>
            <a:r>
              <a:rPr lang="en-US" dirty="0" smtClean="0"/>
              <a:t> = new Cookie("</a:t>
            </a:r>
            <a:r>
              <a:rPr lang="en-US" dirty="0" err="1" smtClean="0"/>
              <a:t>sessionId</a:t>
            </a:r>
            <a:r>
              <a:rPr lang="en-US" dirty="0" smtClean="0"/>
              <a:t>", "12345");</a:t>
            </a:r>
          </a:p>
          <a:p>
            <a:pPr marL="0" indent="0">
              <a:buNone/>
            </a:pPr>
            <a:r>
              <a:rPr lang="en-US" dirty="0" smtClean="0"/>
              <a:t>        </a:t>
            </a:r>
          </a:p>
          <a:p>
            <a:pPr marL="0" indent="0">
              <a:buNone/>
            </a:pPr>
            <a:r>
              <a:rPr lang="en-US" dirty="0" smtClean="0"/>
              <a:t>        </a:t>
            </a:r>
            <a:r>
              <a:rPr lang="en-US" dirty="0" err="1" smtClean="0"/>
              <a:t>cookie.setHttpOnly</a:t>
            </a:r>
            <a:r>
              <a:rPr lang="en-US" dirty="0" smtClean="0"/>
              <a:t>(true);  // JavaScript cannot access</a:t>
            </a:r>
          </a:p>
          <a:p>
            <a:pPr marL="0" indent="0">
              <a:buNone/>
            </a:pPr>
            <a:r>
              <a:rPr lang="en-US" dirty="0" smtClean="0"/>
              <a:t>        </a:t>
            </a:r>
            <a:r>
              <a:rPr lang="en-US" dirty="0" err="1" smtClean="0"/>
              <a:t>cookie.setSecure</a:t>
            </a:r>
            <a:r>
              <a:rPr lang="en-US" dirty="0" smtClean="0"/>
              <a:t>(true);    // Only sent over HTTPS</a:t>
            </a:r>
          </a:p>
          <a:p>
            <a:pPr marL="0" indent="0">
              <a:buNone/>
            </a:pPr>
            <a:r>
              <a:rPr lang="en-US" dirty="0" smtClean="0"/>
              <a:t>        </a:t>
            </a:r>
            <a:r>
              <a:rPr lang="en-US" dirty="0" err="1" smtClean="0"/>
              <a:t>cookie.setMaxAge</a:t>
            </a:r>
            <a:r>
              <a:rPr lang="en-US" dirty="0" smtClean="0"/>
              <a:t>(3600);    // 1 hour</a:t>
            </a:r>
          </a:p>
          <a:p>
            <a:pPr marL="0" indent="0">
              <a:buNone/>
            </a:pPr>
            <a:r>
              <a:rPr lang="en-US" dirty="0" smtClean="0"/>
              <a:t>        </a:t>
            </a:r>
          </a:p>
          <a:p>
            <a:pPr marL="0" indent="0">
              <a:buNone/>
            </a:pPr>
            <a:r>
              <a:rPr lang="en-US" dirty="0" smtClean="0"/>
              <a:t>        </a:t>
            </a:r>
            <a:r>
              <a:rPr lang="en-US" dirty="0" err="1" smtClean="0"/>
              <a:t>response.addCookie</a:t>
            </a:r>
            <a:r>
              <a:rPr lang="en-US" dirty="0" smtClean="0"/>
              <a:t>(cookie);</a:t>
            </a:r>
          </a:p>
          <a:p>
            <a:pPr marL="0" indent="0">
              <a:buNone/>
            </a:pPr>
            <a:endParaRPr lang="en-US" dirty="0" smtClean="0"/>
          </a:p>
          <a:p>
            <a:pPr marL="0" indent="0">
              <a:buNone/>
            </a:pPr>
            <a:r>
              <a:rPr lang="en-US" dirty="0" smtClean="0"/>
              <a:t>        </a:t>
            </a:r>
            <a:r>
              <a:rPr lang="en-US" dirty="0" err="1" smtClean="0"/>
              <a:t>response.setContentType</a:t>
            </a:r>
            <a:r>
              <a:rPr lang="en-US" dirty="0" smtClean="0"/>
              <a:t>("text/html");</a:t>
            </a:r>
          </a:p>
          <a:p>
            <a:pPr marL="0" indent="0">
              <a:buNone/>
            </a:pPr>
            <a:r>
              <a:rPr lang="en-US" dirty="0" smtClean="0"/>
              <a:t>        </a:t>
            </a:r>
            <a:r>
              <a:rPr lang="en-US" dirty="0" err="1" smtClean="0"/>
              <a:t>PrintWriter</a:t>
            </a:r>
            <a:r>
              <a:rPr lang="en-US" dirty="0" smtClean="0"/>
              <a:t> out = </a:t>
            </a:r>
            <a:r>
              <a:rPr lang="en-US" dirty="0" err="1" smtClean="0"/>
              <a:t>response.getWriter</a:t>
            </a:r>
            <a:r>
              <a:rPr lang="en-US" dirty="0" smtClean="0"/>
              <a:t>();</a:t>
            </a:r>
          </a:p>
          <a:p>
            <a:pPr marL="0" indent="0">
              <a:buNone/>
            </a:pPr>
            <a:r>
              <a:rPr lang="en-US" dirty="0" smtClean="0"/>
              <a:t>        </a:t>
            </a:r>
            <a:r>
              <a:rPr lang="en-US" dirty="0" err="1" smtClean="0"/>
              <a:t>out.println</a:t>
            </a:r>
            <a:r>
              <a:rPr lang="en-US" dirty="0" smtClean="0"/>
              <a:t>("&lt;h1&gt;Secure Cookie Created&lt;/h1&gt;");</a:t>
            </a:r>
          </a:p>
          <a:p>
            <a:pPr marL="0" indent="0">
              <a:buNone/>
            </a:pPr>
            <a:r>
              <a:rPr lang="en-US" dirty="0" smtClean="0"/>
              <a:t>    }</a:t>
            </a:r>
          </a:p>
          <a:p>
            <a:pPr marL="0" indent="0">
              <a:buNone/>
            </a:pPr>
            <a:r>
              <a:rPr lang="en-US" dirty="0" smtClean="0"/>
              <a:t>}</a:t>
            </a:r>
          </a:p>
          <a:p>
            <a:r>
              <a:rPr lang="en-US" b="1" dirty="0" smtClean="0"/>
              <a:t>How it Works:</a:t>
            </a:r>
          </a:p>
          <a:p>
            <a:r>
              <a:rPr lang="en-US" dirty="0" err="1" smtClean="0"/>
              <a:t>setHttpOnly</a:t>
            </a:r>
            <a:r>
              <a:rPr lang="en-US" dirty="0" smtClean="0"/>
              <a:t>(true) → Prevents XSS attacks.</a:t>
            </a:r>
          </a:p>
          <a:p>
            <a:r>
              <a:rPr lang="en-US" dirty="0" err="1" smtClean="0"/>
              <a:t>setSecure</a:t>
            </a:r>
            <a:r>
              <a:rPr lang="en-US" dirty="0" smtClean="0"/>
              <a:t>(true) → Cookie is only sent over HTTPS.</a:t>
            </a:r>
          </a:p>
          <a:p>
            <a:pPr marL="0" indent="0">
              <a:buNone/>
            </a:pPr>
            <a:endParaRPr lang="en-US" dirty="0"/>
          </a:p>
        </p:txBody>
      </p:sp>
    </p:spTree>
    <p:extLst>
      <p:ext uri="{BB962C8B-B14F-4D97-AF65-F5344CB8AC3E}">
        <p14:creationId xmlns:p14="http://schemas.microsoft.com/office/powerpoint/2010/main" val="1336069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2332</Words>
  <Application>Microsoft Office PowerPoint</Application>
  <PresentationFormat>On-screen Show (4:3)</PresentationFormat>
  <Paragraphs>521</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Unit 3 Servlet</vt:lpstr>
      <vt:lpstr>PowerPoint Presentation</vt:lpstr>
      <vt:lpstr>PowerPoint Presentation</vt:lpstr>
      <vt:lpstr>Java Servlets Architecture </vt:lpstr>
      <vt:lpstr>Starting with first Servlet Application </vt:lpstr>
      <vt:lpstr>PowerPoint Presentation</vt:lpstr>
      <vt:lpstr>PowerPoint Presentation</vt:lpstr>
      <vt:lpstr>PowerPoint Presentation</vt:lpstr>
      <vt:lpstr>PowerPoint Presentation</vt:lpstr>
      <vt:lpstr>PowerPoint Presentation</vt:lpstr>
      <vt:lpstr>PowerPoint Presentation</vt:lpstr>
      <vt:lpstr>Servlet Life cycle</vt:lpstr>
      <vt:lpstr>PowerPoint Presentation</vt:lpstr>
      <vt:lpstr>PowerPoint Presentation</vt:lpstr>
      <vt:lpstr>PowerPoint Presentation</vt:lpstr>
      <vt:lpstr>PowerPoint Presentation</vt:lpstr>
      <vt:lpstr>PowerPoint Presentation</vt:lpstr>
      <vt:lpstr>Complete Example- </vt:lpstr>
      <vt:lpstr>PowerPoint Presentation</vt:lpstr>
      <vt:lpstr>web.xml (Servlet Configuration)</vt:lpstr>
      <vt:lpstr>PowerPoint Presentation</vt:lpstr>
      <vt:lpstr>Servlet Life Cycle Flow Summary</vt:lpstr>
      <vt:lpstr>Steps to Develop and Deploy a Servlet</vt:lpstr>
      <vt:lpstr>PowerPoint Presentation</vt:lpstr>
      <vt:lpstr>PowerPoint Presentation</vt:lpstr>
      <vt:lpstr>PowerPoint Presentation</vt:lpstr>
      <vt:lpstr>PowerPoint Presentation</vt:lpstr>
      <vt:lpstr>PowerPoint Presentation</vt:lpstr>
      <vt:lpstr>Working with Cookies in Java Servlets</vt:lpstr>
      <vt:lpstr>PowerPoint Presentation</vt:lpstr>
      <vt:lpstr>PowerPoint Presentation</vt:lpstr>
      <vt:lpstr>PowerPoint Presentation</vt:lpstr>
      <vt:lpstr>PowerPoint Presentation</vt:lpstr>
      <vt:lpstr>PowerPoint Presentation</vt:lpstr>
      <vt:lpstr>PowerPoint Presentation</vt:lpstr>
      <vt:lpstr>Example: ModifyCookieServlet.java</vt:lpstr>
      <vt:lpstr>PowerPoint Presentation</vt:lpstr>
      <vt:lpstr>Example: DeleteCookieServlet.java   </vt:lpstr>
      <vt:lpstr>PowerPoint Presentation</vt:lpstr>
      <vt:lpstr>Example: SecureCookieServlet.java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Servlet</dc:title>
  <dc:creator>admin</dc:creator>
  <cp:lastModifiedBy>admin</cp:lastModifiedBy>
  <cp:revision>15</cp:revision>
  <dcterms:created xsi:type="dcterms:W3CDTF">2025-03-13T08:45:16Z</dcterms:created>
  <dcterms:modified xsi:type="dcterms:W3CDTF">2025-03-13T10:25:23Z</dcterms:modified>
</cp:coreProperties>
</file>